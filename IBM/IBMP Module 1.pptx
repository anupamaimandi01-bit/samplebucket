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docProps/core1.xml" ContentType="application/vnd.openxmlformats-package.core-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1.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7" r:id="rId3"/>
    <p:sldId id="258" r:id="rId4"/>
    <p:sldId id="259" r:id="rId5"/>
    <p:sldId id="266" r:id="rId6"/>
    <p:sldId id="260" r:id="rId7"/>
    <p:sldId id="270" r:id="rId8"/>
    <p:sldId id="271" r:id="rId9"/>
    <p:sldId id="272" r:id="rId10"/>
    <p:sldId id="273" r:id="rId11"/>
    <p:sldId id="274" r:id="rId12"/>
    <p:sldId id="261" r:id="rId13"/>
    <p:sldId id="262" r:id="rId14"/>
    <p:sldId id="263" r:id="rId15"/>
    <p:sldId id="264" r:id="rId16"/>
    <p:sldId id="268" r:id="rId17"/>
    <p:sldId id="269" r:id="rId18"/>
    <p:sldId id="265" r:id="rId1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368" autoAdjust="0"/>
    <p:restoredTop sz="94660"/>
  </p:normalViewPr>
  <p:slideViewPr>
    <p:cSldViewPr>
      <p:cViewPr varScale="1">
        <p:scale>
          <a:sx n="91" d="100"/>
          <a:sy n="91" d="100"/>
        </p:scale>
        <p:origin x="-792" y="-96"/>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114840" y="115200"/>
            <a:ext cx="8914320" cy="49129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 name="PlaceHolder 2"/>
          <p:cNvSpPr>
            <a:spLocks noGrp="1"/>
          </p:cNvSpPr>
          <p:nvPr>
            <p:ph type="title"/>
          </p:nvPr>
        </p:nvSpPr>
        <p:spPr>
          <a:xfrm>
            <a:off x="713160" y="1420560"/>
            <a:ext cx="6509520" cy="3183120"/>
          </a:xfrm>
          <a:prstGeom prst="rect">
            <a:avLst/>
          </a:prstGeom>
          <a:noFill/>
          <a:ln w="0">
            <a:noFill/>
          </a:ln>
          <a:effectLst>
            <a:outerShdw blurRad="71280" rotWithShape="0">
              <a:srgbClr val="000000">
                <a:alpha val="40000"/>
              </a:srgbClr>
            </a:outerShdw>
          </a:effectLst>
        </p:spPr>
        <p:txBody>
          <a:bodyPr lIns="91440" tIns="91440" rIns="91440" bIns="91440" anchor="b">
            <a:noAutofit/>
          </a:bodyPr>
          <a:lstStyle/>
          <a:p>
            <a:pPr indent="0">
              <a:buNone/>
            </a:pPr>
            <a:r>
              <a:rPr lang="fr-FR" sz="6500" b="0" u="none" strike="noStrike">
                <a:solidFill>
                  <a:schemeClr val="dk1"/>
                </a:solidFill>
                <a:effectLst/>
                <a:uFillTx/>
                <a:latin typeface="Arial"/>
              </a:rPr>
              <a:t>Click to edit the title text format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057680"/>
            <a:ext cx="6575760" cy="1716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2"/>
                </a:solidFill>
                <a:effectLst/>
                <a:uFillTx/>
                <a:latin typeface="Ysabeau Office"/>
                <a:ea typeface="Ysabeau Office"/>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20000" y="444960"/>
            <a:ext cx="2402280" cy="126684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4" name="PlaceHolder 2"/>
          <p:cNvSpPr>
            <a:spLocks noGrp="1"/>
          </p:cNvSpPr>
          <p:nvPr>
            <p:ph type="title"/>
          </p:nvPr>
        </p:nvSpPr>
        <p:spPr>
          <a:xfrm>
            <a:off x="3488400" y="444960"/>
            <a:ext cx="920160" cy="980280"/>
          </a:xfrm>
          <a:prstGeom prst="rect">
            <a:avLst/>
          </a:prstGeom>
          <a:noFill/>
          <a:ln w="0">
            <a:noFill/>
          </a:ln>
        </p:spPr>
        <p:txBody>
          <a:bodyPr lIns="91440" tIns="91440" rIns="91440" bIns="91440" anchor="t">
            <a:noAutofit/>
          </a:bodyPr>
          <a:lstStyle/>
          <a:p>
            <a:pPr indent="0" algn="ctr">
              <a:lnSpc>
                <a:spcPct val="100000"/>
              </a:lnSpc>
              <a:buNone/>
            </a:pPr>
            <a:r>
              <a:rPr lang="fr-FR" sz="4000" b="0" u="none" strike="noStrike">
                <a:solidFill>
                  <a:schemeClr val="dk2"/>
                </a:solidFill>
                <a:effectLst/>
                <a:uFillTx/>
                <a:latin typeface="Ysabeau Office"/>
                <a:ea typeface="Ysabeau Office"/>
              </a:rPr>
              <a:t>xx%</a:t>
            </a:r>
            <a:endParaRPr lang="fr-FR" sz="4000" b="0" u="none" strike="noStrike">
              <a:solidFill>
                <a:schemeClr val="dk1"/>
              </a:solidFill>
              <a:effectLst/>
              <a:uFillTx/>
              <a:latin typeface="Arial"/>
            </a:endParaRPr>
          </a:p>
        </p:txBody>
      </p:sp>
      <p:sp>
        <p:nvSpPr>
          <p:cNvPr id="5" name="PlaceHolder 3"/>
          <p:cNvSpPr>
            <a:spLocks noGrp="1"/>
          </p:cNvSpPr>
          <p:nvPr>
            <p:ph type="title"/>
          </p:nvPr>
        </p:nvSpPr>
        <p:spPr>
          <a:xfrm>
            <a:off x="3488400" y="1500480"/>
            <a:ext cx="920160" cy="980280"/>
          </a:xfrm>
          <a:prstGeom prst="rect">
            <a:avLst/>
          </a:prstGeom>
          <a:noFill/>
          <a:ln w="0">
            <a:noFill/>
          </a:ln>
        </p:spPr>
        <p:txBody>
          <a:bodyPr lIns="91440" tIns="91440" rIns="91440" bIns="91440" anchor="t">
            <a:noAutofit/>
          </a:bodyPr>
          <a:lstStyle/>
          <a:p>
            <a:pPr indent="0" algn="ctr">
              <a:lnSpc>
                <a:spcPct val="100000"/>
              </a:lnSpc>
              <a:buNone/>
            </a:pPr>
            <a:r>
              <a:rPr lang="fr-FR" sz="4000" b="0" u="none" strike="noStrike">
                <a:solidFill>
                  <a:schemeClr val="dk2"/>
                </a:solidFill>
                <a:effectLst/>
                <a:uFillTx/>
                <a:latin typeface="Ysabeau Office"/>
                <a:ea typeface="Ysabeau Office"/>
              </a:rPr>
              <a:t>xx%</a:t>
            </a:r>
            <a:endParaRPr lang="fr-FR" sz="4000" b="0" u="none" strike="noStrike">
              <a:solidFill>
                <a:schemeClr val="dk1"/>
              </a:solidFill>
              <a:effectLst/>
              <a:uFillTx/>
              <a:latin typeface="Arial"/>
            </a:endParaRPr>
          </a:p>
        </p:txBody>
      </p:sp>
      <p:sp>
        <p:nvSpPr>
          <p:cNvPr id="6" name="PlaceHolder 4"/>
          <p:cNvSpPr>
            <a:spLocks noGrp="1"/>
          </p:cNvSpPr>
          <p:nvPr>
            <p:ph type="title"/>
          </p:nvPr>
        </p:nvSpPr>
        <p:spPr>
          <a:xfrm>
            <a:off x="3488400" y="2556000"/>
            <a:ext cx="920160" cy="980280"/>
          </a:xfrm>
          <a:prstGeom prst="rect">
            <a:avLst/>
          </a:prstGeom>
          <a:noFill/>
          <a:ln w="0">
            <a:noFill/>
          </a:ln>
        </p:spPr>
        <p:txBody>
          <a:bodyPr lIns="91440" tIns="91440" rIns="91440" bIns="91440" anchor="t">
            <a:noAutofit/>
          </a:bodyPr>
          <a:lstStyle/>
          <a:p>
            <a:pPr indent="0" algn="ctr">
              <a:lnSpc>
                <a:spcPct val="100000"/>
              </a:lnSpc>
              <a:buNone/>
            </a:pPr>
            <a:r>
              <a:rPr lang="fr-FR" sz="4000" b="0" u="none" strike="noStrike">
                <a:solidFill>
                  <a:schemeClr val="dk2"/>
                </a:solidFill>
                <a:effectLst/>
                <a:uFillTx/>
                <a:latin typeface="Ysabeau Office"/>
                <a:ea typeface="Ysabeau Office"/>
              </a:rPr>
              <a:t>xx%</a:t>
            </a:r>
            <a:endParaRPr lang="fr-FR" sz="4000" b="0" u="none" strike="noStrike">
              <a:solidFill>
                <a:schemeClr val="dk1"/>
              </a:solidFill>
              <a:effectLst/>
              <a:uFillTx/>
              <a:latin typeface="Arial"/>
            </a:endParaRPr>
          </a:p>
        </p:txBody>
      </p:sp>
      <p:sp>
        <p:nvSpPr>
          <p:cNvPr id="7" name="PlaceHolder 5"/>
          <p:cNvSpPr>
            <a:spLocks noGrp="1"/>
          </p:cNvSpPr>
          <p:nvPr>
            <p:ph type="title"/>
          </p:nvPr>
        </p:nvSpPr>
        <p:spPr>
          <a:xfrm>
            <a:off x="3488400" y="3611160"/>
            <a:ext cx="920160" cy="980280"/>
          </a:xfrm>
          <a:prstGeom prst="rect">
            <a:avLst/>
          </a:prstGeom>
          <a:noFill/>
          <a:ln w="0">
            <a:noFill/>
          </a:ln>
        </p:spPr>
        <p:txBody>
          <a:bodyPr lIns="91440" tIns="91440" rIns="91440" bIns="91440" anchor="t">
            <a:noAutofit/>
          </a:bodyPr>
          <a:lstStyle/>
          <a:p>
            <a:pPr indent="0" algn="ctr">
              <a:lnSpc>
                <a:spcPct val="100000"/>
              </a:lnSpc>
              <a:buNone/>
            </a:pPr>
            <a:r>
              <a:rPr lang="fr-FR" sz="4000" b="0" u="none" strike="noStrike">
                <a:solidFill>
                  <a:schemeClr val="dk2"/>
                </a:solidFill>
                <a:effectLst/>
                <a:uFillTx/>
                <a:latin typeface="Ysabeau Office"/>
                <a:ea typeface="Ysabeau Office"/>
              </a:rPr>
              <a:t>xx%</a:t>
            </a:r>
            <a:endParaRPr lang="fr-FR" sz="4000" b="0" u="none" strike="noStrike">
              <a:solidFill>
                <a:schemeClr val="dk1"/>
              </a:solidFill>
              <a:effectLst/>
              <a:uFillTx/>
              <a:latin typeface="Arial"/>
            </a:endParaRPr>
          </a:p>
        </p:txBody>
      </p:sp>
      <p:sp>
        <p:nvSpPr>
          <p:cNvPr id="8" name="PlaceHolder 6"/>
          <p:cNvSpPr>
            <a:spLocks noGrp="1"/>
          </p:cNvSpPr>
          <p:nvPr>
            <p:ph type="body"/>
          </p:nvPr>
        </p:nvSpPr>
        <p:spPr>
          <a:xfrm>
            <a:off x="115200" y="115200"/>
            <a:ext cx="3167640" cy="4923000"/>
          </a:xfrm>
          <a:prstGeom prst="rect">
            <a:avLst/>
          </a:prstGeom>
          <a:noFill/>
          <a:ln w="0">
            <a:noFill/>
          </a:ln>
        </p:spPr>
        <p:txBody>
          <a:bodyPr lIns="90000" tIns="45000" rIns="90000" bIns="45000" anchor="t">
            <a:normAutofit fontScale="7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2847960" y="2786760"/>
            <a:ext cx="5816880" cy="181692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1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497880" y="444960"/>
            <a:ext cx="4370760" cy="125496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2" name="PlaceHolder 2"/>
          <p:cNvSpPr>
            <a:spLocks noGrp="1"/>
          </p:cNvSpPr>
          <p:nvPr>
            <p:ph type="body"/>
          </p:nvPr>
        </p:nvSpPr>
        <p:spPr>
          <a:xfrm>
            <a:off x="5432760" y="115200"/>
            <a:ext cx="3596040" cy="49129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4599360" y="444960"/>
            <a:ext cx="4122720" cy="100152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4" name="PlaceHolder 2"/>
          <p:cNvSpPr>
            <a:spLocks noGrp="1"/>
          </p:cNvSpPr>
          <p:nvPr>
            <p:ph type="body"/>
          </p:nvPr>
        </p:nvSpPr>
        <p:spPr>
          <a:xfrm>
            <a:off x="115200" y="539640"/>
            <a:ext cx="4248720" cy="448848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6" name="PlaceHolder 2"/>
          <p:cNvSpPr>
            <a:spLocks noGrp="1"/>
          </p:cNvSpPr>
          <p:nvPr>
            <p:ph type="title"/>
          </p:nvPr>
        </p:nvSpPr>
        <p:spPr>
          <a:xfrm>
            <a:off x="1305720" y="1490400"/>
            <a:ext cx="920160" cy="1055880"/>
          </a:xfrm>
          <a:prstGeom prst="rect">
            <a:avLst/>
          </a:prstGeom>
          <a:noFill/>
          <a:ln w="0">
            <a:noFill/>
          </a:ln>
        </p:spPr>
        <p:txBody>
          <a:bodyPr lIns="91440" tIns="91440" rIns="91440" bIns="91440" anchor="t">
            <a:noAutofit/>
          </a:bodyPr>
          <a:lstStyle/>
          <a:p>
            <a:pPr indent="0" algn="ctr">
              <a:lnSpc>
                <a:spcPct val="100000"/>
              </a:lnSpc>
              <a:buNone/>
            </a:pPr>
            <a:r>
              <a:rPr lang="fr-FR" sz="4000" b="0" u="none" strike="noStrike">
                <a:solidFill>
                  <a:schemeClr val="dk2"/>
                </a:solidFill>
                <a:effectLst/>
                <a:uFillTx/>
                <a:latin typeface="Ysabeau Office"/>
                <a:ea typeface="Ysabeau Office"/>
              </a:rPr>
              <a:t>xx%</a:t>
            </a:r>
            <a:endParaRPr lang="fr-FR" sz="4000" b="0" u="none" strike="noStrike">
              <a:solidFill>
                <a:schemeClr val="dk1"/>
              </a:solidFill>
              <a:effectLst/>
              <a:uFillTx/>
              <a:latin typeface="Arial"/>
            </a:endParaRPr>
          </a:p>
        </p:txBody>
      </p:sp>
      <p:sp>
        <p:nvSpPr>
          <p:cNvPr id="17" name="PlaceHolder 3"/>
          <p:cNvSpPr>
            <a:spLocks noGrp="1"/>
          </p:cNvSpPr>
          <p:nvPr>
            <p:ph type="title"/>
          </p:nvPr>
        </p:nvSpPr>
        <p:spPr>
          <a:xfrm>
            <a:off x="1305720" y="3133440"/>
            <a:ext cx="920160" cy="1055880"/>
          </a:xfrm>
          <a:prstGeom prst="rect">
            <a:avLst/>
          </a:prstGeom>
          <a:noFill/>
          <a:ln w="0">
            <a:noFill/>
          </a:ln>
        </p:spPr>
        <p:txBody>
          <a:bodyPr lIns="91440" tIns="91440" rIns="91440" bIns="91440" anchor="t">
            <a:noAutofit/>
          </a:bodyPr>
          <a:lstStyle/>
          <a:p>
            <a:pPr indent="0" algn="ctr">
              <a:lnSpc>
                <a:spcPct val="100000"/>
              </a:lnSpc>
              <a:buNone/>
            </a:pPr>
            <a:r>
              <a:rPr lang="fr-FR" sz="4000" b="0" u="none" strike="noStrike">
                <a:solidFill>
                  <a:schemeClr val="dk2"/>
                </a:solidFill>
                <a:effectLst/>
                <a:uFillTx/>
                <a:latin typeface="Ysabeau Office"/>
                <a:ea typeface="Ysabeau Office"/>
              </a:rPr>
              <a:t>xx%</a:t>
            </a:r>
            <a:endParaRPr lang="fr-FR" sz="4000" b="0" u="none" strike="noStrike">
              <a:solidFill>
                <a:schemeClr val="dk1"/>
              </a:solidFill>
              <a:effectLst/>
              <a:uFillTx/>
              <a:latin typeface="Arial"/>
            </a:endParaRPr>
          </a:p>
        </p:txBody>
      </p:sp>
      <p:sp>
        <p:nvSpPr>
          <p:cNvPr id="18" name="PlaceHolder 4"/>
          <p:cNvSpPr>
            <a:spLocks noGrp="1"/>
          </p:cNvSpPr>
          <p:nvPr>
            <p:ph type="title"/>
          </p:nvPr>
        </p:nvSpPr>
        <p:spPr>
          <a:xfrm>
            <a:off x="4939560" y="1490400"/>
            <a:ext cx="920160" cy="1055880"/>
          </a:xfrm>
          <a:prstGeom prst="rect">
            <a:avLst/>
          </a:prstGeom>
          <a:noFill/>
          <a:ln w="0">
            <a:noFill/>
          </a:ln>
        </p:spPr>
        <p:txBody>
          <a:bodyPr lIns="91440" tIns="91440" rIns="91440" bIns="91440" anchor="t">
            <a:noAutofit/>
          </a:bodyPr>
          <a:lstStyle/>
          <a:p>
            <a:pPr indent="0" algn="ctr">
              <a:lnSpc>
                <a:spcPct val="100000"/>
              </a:lnSpc>
              <a:buNone/>
            </a:pPr>
            <a:r>
              <a:rPr lang="fr-FR" sz="4000" b="0" u="none" strike="noStrike">
                <a:solidFill>
                  <a:schemeClr val="dk2"/>
                </a:solidFill>
                <a:effectLst/>
                <a:uFillTx/>
                <a:latin typeface="Ysabeau Office"/>
                <a:ea typeface="Ysabeau Office"/>
              </a:rPr>
              <a:t>xx%</a:t>
            </a:r>
            <a:endParaRPr lang="fr-FR" sz="4000" b="0" u="none" strike="noStrike">
              <a:solidFill>
                <a:schemeClr val="dk1"/>
              </a:solidFill>
              <a:effectLst/>
              <a:uFillTx/>
              <a:latin typeface="Arial"/>
            </a:endParaRPr>
          </a:p>
        </p:txBody>
      </p:sp>
      <p:sp>
        <p:nvSpPr>
          <p:cNvPr id="19" name="PlaceHolder 5"/>
          <p:cNvSpPr>
            <a:spLocks noGrp="1"/>
          </p:cNvSpPr>
          <p:nvPr>
            <p:ph type="title"/>
          </p:nvPr>
        </p:nvSpPr>
        <p:spPr>
          <a:xfrm>
            <a:off x="4939560" y="3133440"/>
            <a:ext cx="920160" cy="1055880"/>
          </a:xfrm>
          <a:prstGeom prst="rect">
            <a:avLst/>
          </a:prstGeom>
          <a:noFill/>
          <a:ln w="0">
            <a:noFill/>
          </a:ln>
        </p:spPr>
        <p:txBody>
          <a:bodyPr lIns="91440" tIns="91440" rIns="91440" bIns="91440" anchor="t">
            <a:noAutofit/>
          </a:bodyPr>
          <a:lstStyle/>
          <a:p>
            <a:pPr indent="0" algn="ctr">
              <a:lnSpc>
                <a:spcPct val="100000"/>
              </a:lnSpc>
              <a:buNone/>
            </a:pPr>
            <a:r>
              <a:rPr lang="fr-FR" sz="4000" b="0" u="none" strike="noStrike">
                <a:solidFill>
                  <a:schemeClr val="dk2"/>
                </a:solidFill>
                <a:effectLst/>
                <a:uFillTx/>
                <a:latin typeface="Ysabeau Office"/>
                <a:ea typeface="Ysabeau Office"/>
              </a:rPr>
              <a:t>xx%</a:t>
            </a:r>
            <a:endParaRPr lang="fr-FR" sz="4000" b="0" u="none" strike="noStrike">
              <a:solidFill>
                <a:schemeClr val="dk1"/>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497880" y="371880"/>
            <a:ext cx="81482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626360" y="444960"/>
            <a:ext cx="4057560" cy="148176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97880" y="539640"/>
            <a:ext cx="4660560" cy="1058400"/>
          </a:xfrm>
          <a:prstGeom prst="rect">
            <a:avLst/>
          </a:prstGeom>
          <a:noFill/>
          <a:ln w="0">
            <a:noFill/>
          </a:ln>
        </p:spPr>
        <p:txBody>
          <a:bodyPr lIns="91440" tIns="91440" rIns="91440" bIns="91440" anchor="b">
            <a:noAutofit/>
          </a:bodyPr>
          <a:lstStyle/>
          <a:p>
            <a:pPr indent="0">
              <a:buNone/>
            </a:pPr>
            <a:r>
              <a:rPr lang="fr-FR" sz="5500" b="0" u="none" strike="noStrike">
                <a:solidFill>
                  <a:schemeClr val="dk1"/>
                </a:solidFill>
                <a:effectLst/>
                <a:uFillTx/>
                <a:latin typeface="Arial"/>
              </a:rPr>
              <a:t>Click to edit the title text format</a:t>
            </a:r>
          </a:p>
        </p:txBody>
      </p:sp>
      <p:sp>
        <p:nvSpPr>
          <p:cNvPr id="24" name="Google Shape;97;p20"/>
          <p:cNvSpPr/>
          <p:nvPr/>
        </p:nvSpPr>
        <p:spPr>
          <a:xfrm>
            <a:off x="5432040" y="3583800"/>
            <a:ext cx="3213720" cy="8017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200" b="1" u="none" strike="noStrike">
                <a:solidFill>
                  <a:schemeClr val="dk2"/>
                </a:solidFill>
                <a:effectLst/>
                <a:uFillTx/>
                <a:latin typeface="Manjari"/>
                <a:ea typeface="Manjari"/>
              </a:rPr>
              <a:t>CREDITS:</a:t>
            </a:r>
            <a:r>
              <a:rPr lang="en" sz="1200" b="0" u="none" strike="noStrike">
                <a:solidFill>
                  <a:schemeClr val="dk2"/>
                </a:solidFill>
                <a:effectLst/>
                <a:uFillTx/>
                <a:latin typeface="Manjari"/>
                <a:ea typeface="Manjari"/>
              </a:rPr>
              <a:t> This presentation template was created by </a:t>
            </a:r>
            <a:r>
              <a:rPr lang="en" sz="1200" b="1" u="sng" strike="noStrike">
                <a:solidFill>
                  <a:schemeClr val="dk2"/>
                </a:solidFill>
                <a:effectLst/>
                <a:uFillTx/>
                <a:latin typeface="Manjari"/>
                <a:ea typeface="Manjari"/>
                <a:hlinkClick r:id="rId2"/>
              </a:rPr>
              <a:t>Slidesgo</a:t>
            </a:r>
            <a:r>
              <a:rPr lang="en" sz="1200" b="0" u="none" strike="noStrike">
                <a:solidFill>
                  <a:schemeClr val="dk2"/>
                </a:solidFill>
                <a:effectLst/>
                <a:uFillTx/>
                <a:latin typeface="Manjari"/>
                <a:ea typeface="Manjari"/>
              </a:rPr>
              <a:t>, and includes icons, infographics &amp; images by </a:t>
            </a:r>
            <a:r>
              <a:rPr lang="en" sz="1200" b="1" u="sng" strike="noStrike">
                <a:solidFill>
                  <a:schemeClr val="dk2"/>
                </a:solidFill>
                <a:effectLst/>
                <a:uFillTx/>
                <a:latin typeface="Manjari"/>
                <a:ea typeface="Manjari"/>
                <a:hlinkClick r:id="rId3"/>
              </a:rPr>
              <a:t>Freepik</a:t>
            </a:r>
            <a:r>
              <a:rPr lang="en" sz="1200" b="0" u="none" strike="noStrike">
                <a:solidFill>
                  <a:schemeClr val="dk2"/>
                </a:solidFill>
                <a:effectLst/>
                <a:uFillTx/>
                <a:latin typeface="Manjari"/>
                <a:ea typeface="Manjari"/>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body"/>
          </p:nvPr>
        </p:nvSpPr>
        <p:spPr>
          <a:xfrm>
            <a:off x="115200" y="115200"/>
            <a:ext cx="8913600" cy="49129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6" name="PlaceHolder 2"/>
          <p:cNvSpPr>
            <a:spLocks noGrp="1"/>
          </p:cNvSpPr>
          <p:nvPr>
            <p:ph type="title"/>
          </p:nvPr>
        </p:nvSpPr>
        <p:spPr>
          <a:xfrm>
            <a:off x="713160" y="539640"/>
            <a:ext cx="6249240" cy="2279880"/>
          </a:xfrm>
          <a:prstGeom prst="rect">
            <a:avLst/>
          </a:prstGeom>
          <a:noFill/>
          <a:ln w="0">
            <a:noFill/>
          </a:ln>
          <a:effectLst>
            <a:outerShdw blurRad="71280" rotWithShape="0">
              <a:srgbClr val="000000">
                <a:alpha val="40000"/>
              </a:srgbClr>
            </a:outerShdw>
          </a:effectLst>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27" name="PlaceHolder 3"/>
          <p:cNvSpPr>
            <a:spLocks noGrp="1"/>
          </p:cNvSpPr>
          <p:nvPr>
            <p:ph type="title"/>
          </p:nvPr>
        </p:nvSpPr>
        <p:spPr>
          <a:xfrm>
            <a:off x="6778800" y="539640"/>
            <a:ext cx="1651680" cy="1435320"/>
          </a:xfrm>
          <a:prstGeom prst="rect">
            <a:avLst/>
          </a:prstGeom>
          <a:noFill/>
          <a:ln w="0">
            <a:noFill/>
          </a:ln>
          <a:effectLst>
            <a:outerShdw blurRad="71280" rotWithShape="0">
              <a:srgbClr val="000000">
                <a:alpha val="40000"/>
              </a:srgbClr>
            </a:outerShdw>
          </a:effectLst>
        </p:spPr>
        <p:txBody>
          <a:bodyPr lIns="91440" tIns="91440" rIns="91440" bIns="91440" anchor="t">
            <a:noAutofit/>
          </a:bodyPr>
          <a:lstStyle/>
          <a:p>
            <a:pPr indent="0" algn="r">
              <a:lnSpc>
                <a:spcPct val="100000"/>
              </a:lnSpc>
              <a:buNone/>
            </a:pPr>
            <a:r>
              <a:rPr lang="fr-FR" sz="8000" b="0" u="none" strike="noStrike">
                <a:solidFill>
                  <a:schemeClr val="dk1"/>
                </a:solidFill>
                <a:effectLst/>
                <a:uFillTx/>
                <a:latin typeface="Ysabeau Office"/>
                <a:ea typeface="Ysabeau Office"/>
              </a:rPr>
              <a:t>xx%</a:t>
            </a:r>
            <a:endParaRPr lang="fr-FR" sz="8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9"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97880" y="444960"/>
            <a:ext cx="81482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31" name="PlaceHolder 2"/>
          <p:cNvSpPr>
            <a:spLocks noGrp="1"/>
          </p:cNvSpPr>
          <p:nvPr>
            <p:ph type="body"/>
          </p:nvPr>
        </p:nvSpPr>
        <p:spPr>
          <a:xfrm>
            <a:off x="115200" y="2819880"/>
            <a:ext cx="8914320" cy="220824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591480" y="444960"/>
            <a:ext cx="2925360" cy="148176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4" name="PlaceHolder 2"/>
          <p:cNvSpPr>
            <a:spLocks noGrp="1"/>
          </p:cNvSpPr>
          <p:nvPr>
            <p:ph type="body"/>
          </p:nvPr>
        </p:nvSpPr>
        <p:spPr>
          <a:xfrm>
            <a:off x="5175720" y="1336320"/>
            <a:ext cx="3255120" cy="2982240"/>
          </a:xfrm>
          <a:prstGeom prst="rect">
            <a:avLst/>
          </a:prstGeom>
          <a:noFill/>
          <a:ln w="0">
            <a:noFill/>
          </a:ln>
        </p:spPr>
        <p:txBody>
          <a:bodyPr lIns="90000" tIns="45000" rIns="90000" bIns="45000" anchor="t">
            <a:normAutofit fontScale="5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2135520" y="1655640"/>
            <a:ext cx="4872600" cy="1161000"/>
          </a:xfrm>
          <a:prstGeom prst="rect">
            <a:avLst/>
          </a:prstGeom>
          <a:noFill/>
          <a:ln w="0">
            <a:noFill/>
          </a:ln>
        </p:spPr>
        <p:txBody>
          <a:bodyPr lIns="91440" tIns="91440" rIns="91440" bIns="91440" anchor="b">
            <a:noAutofit/>
          </a:bodyPr>
          <a:lstStyle/>
          <a:p>
            <a:pPr indent="0">
              <a:buNone/>
            </a:pPr>
            <a:r>
              <a:rPr lang="fr-FR" sz="65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37"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8" name="PlaceHolder 2"/>
          <p:cNvSpPr>
            <a:spLocks noGrp="1"/>
          </p:cNvSpPr>
          <p:nvPr>
            <p:ph type="title"/>
          </p:nvPr>
        </p:nvSpPr>
        <p:spPr>
          <a:xfrm>
            <a:off x="720000" y="4014360"/>
            <a:ext cx="7703640" cy="572400"/>
          </a:xfrm>
          <a:prstGeom prst="rect">
            <a:avLst/>
          </a:prstGeom>
          <a:solidFill>
            <a:schemeClr val="lt1"/>
          </a:solid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39" name="Google Shape;105;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41" name="Google Shape;108;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43"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p:nvPr>
        </p:nvSpPr>
        <p:spPr/>
        <p:txBody>
          <a:bodyPr/>
          <a:lstStyle/>
          <a:p>
            <a:endParaRPr lang="en-US" dirty="0"/>
          </a:p>
        </p:txBody>
      </p:sp>
      <p:sp>
        <p:nvSpPr>
          <p:cNvPr id="3" name="Title 2"/>
          <p:cNvSpPr>
            <a:spLocks noGrp="1"/>
          </p:cNvSpPr>
          <p:nvPr>
            <p:ph type="title"/>
          </p:nvPr>
        </p:nvSpPr>
        <p:spPr>
          <a:xfrm>
            <a:off x="713160" y="1420560"/>
            <a:ext cx="6509520" cy="1074990"/>
          </a:xfrm>
        </p:spPr>
        <p:txBody>
          <a:bodyPr/>
          <a:lstStyle/>
          <a:p>
            <a:pPr algn="ctr"/>
            <a:r>
              <a:rPr lang="en-US" sz="5400" dirty="0" smtClean="0">
                <a:latin typeface="Algerian" pitchFamily="82" charset="0"/>
              </a:rPr>
              <a:t>     MODULE-1</a:t>
            </a:r>
            <a:endParaRPr lang="en-US" sz="5400" dirty="0">
              <a:latin typeface="Algerian"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55"/>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2"/>
                </a:solidFill>
                <a:effectLst/>
                <a:uFillTx/>
                <a:latin typeface="Calibri"/>
              </a:rPr>
              <a:t>01</a:t>
            </a:r>
            <a:endParaRPr lang="en-US" sz="5000" b="0" u="none" strike="noStrike">
              <a:solidFill>
                <a:srgbClr val="000000"/>
              </a:solidFill>
              <a:effectLst/>
              <a:uFillTx/>
              <a:latin typeface="OpenSymbol"/>
            </a:endParaRPr>
          </a:p>
        </p:txBody>
      </p:sp>
      <p:sp>
        <p:nvSpPr>
          <p:cNvPr id="57" name="Rectangle 56"/>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4000" b="0" u="none" strike="noStrike">
                <a:solidFill>
                  <a:schemeClr val="dk2"/>
                </a:solidFill>
                <a:effectLst/>
                <a:uFillTx/>
                <a:latin typeface="Ysabeau Office"/>
              </a:rPr>
              <a:t>Introduction to International Business</a:t>
            </a:r>
            <a:endParaRPr lang="en-US" sz="4000" b="0" u="none" strike="noStrike">
              <a:solidFill>
                <a:srgbClr val="000000"/>
              </a:solidFill>
              <a:effectLst/>
              <a:uFillTx/>
              <a:latin typeface="OpenSymbol"/>
            </a:endParaRPr>
          </a:p>
        </p:txBody>
      </p:sp>
      <p:pic>
        <p:nvPicPr>
          <p:cNvPr id="58" name="image69a917c98eafa" descr="image69a917c98eaff"/>
          <p:cNvPicPr/>
          <p:nvPr/>
        </p:nvPicPr>
        <p:blipFill>
          <a:blip r:embed="rId2"/>
          <a:stretch/>
        </p:blipFill>
        <p:spPr>
          <a:xfrm>
            <a:off x="0" y="0"/>
            <a:ext cx="4571640" cy="5143320"/>
          </a:xfrm>
          <a:prstGeom prst="rect">
            <a:avLst/>
          </a:prstGeom>
          <a:noFill/>
          <a:ln w="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0" u="none" strike="noStrike">
                <a:solidFill>
                  <a:schemeClr val="dk2"/>
                </a:solidFill>
                <a:effectLst/>
                <a:uFillTx/>
                <a:latin typeface="Ysabeau Office"/>
              </a:rPr>
              <a:t>Definition and Scope of International Business</a:t>
            </a:r>
            <a:endParaRPr lang="en-US" sz="3000" b="0" u="none" strike="noStrike">
              <a:solidFill>
                <a:srgbClr val="000000"/>
              </a:solidFill>
              <a:effectLst/>
              <a:uFillTx/>
              <a:latin typeface="OpenSymbol"/>
            </a:endParaRPr>
          </a:p>
        </p:txBody>
      </p:sp>
      <p:sp>
        <p:nvSpPr>
          <p:cNvPr id="60" name="Rectangle 59"/>
          <p:cNvSpPr/>
          <p:nvPr/>
        </p:nvSpPr>
        <p:spPr>
          <a:xfrm>
            <a:off x="476280" y="1905120"/>
            <a:ext cx="8191080" cy="2761920"/>
          </a:xfrm>
          <a:prstGeom prst="rect">
            <a:avLst/>
          </a:prstGeom>
          <a:solidFill>
            <a:schemeClr val="bg2">
              <a:lumMod val="25000"/>
              <a:lumOff val="75000"/>
            </a:schemeClr>
          </a:solid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buFont typeface="Arial" pitchFamily="34" charset="0"/>
              <a:buChar char="•"/>
              <a:tabLst>
                <a:tab pos="0" algn="l"/>
              </a:tabLst>
            </a:pPr>
            <a:r>
              <a:rPr lang="en-US" b="0" u="none" strike="noStrike" dirty="0">
                <a:solidFill>
                  <a:schemeClr val="dk2"/>
                </a:solidFill>
                <a:effectLst/>
                <a:uFillTx/>
                <a:latin typeface="Manjari"/>
              </a:rPr>
              <a:t>International business encompasses all cross-border trade and investment activities. </a:t>
            </a:r>
            <a:endParaRPr lang="en-US" b="0" u="none" strike="noStrike" dirty="0" smtClean="0">
              <a:solidFill>
                <a:schemeClr val="dk2"/>
              </a:solidFill>
              <a:effectLst/>
              <a:uFillTx/>
              <a:latin typeface="Manjari"/>
            </a:endParaRPr>
          </a:p>
          <a:p>
            <a:pPr defTabSz="914400">
              <a:lnSpc>
                <a:spcPct val="150000"/>
              </a:lnSpc>
              <a:buFont typeface="Arial" pitchFamily="34" charset="0"/>
              <a:buChar char="•"/>
              <a:tabLst>
                <a:tab pos="0" algn="l"/>
              </a:tabLst>
            </a:pPr>
            <a:r>
              <a:rPr lang="en-US" b="0" u="none" strike="noStrike" dirty="0" smtClean="0">
                <a:solidFill>
                  <a:schemeClr val="dk2"/>
                </a:solidFill>
                <a:effectLst/>
                <a:uFillTx/>
                <a:latin typeface="Manjari"/>
              </a:rPr>
              <a:t>It </a:t>
            </a:r>
            <a:r>
              <a:rPr lang="en-US" b="0" u="none" strike="noStrike" dirty="0">
                <a:solidFill>
                  <a:schemeClr val="dk2"/>
                </a:solidFill>
                <a:effectLst/>
                <a:uFillTx/>
                <a:latin typeface="Manjari"/>
              </a:rPr>
              <a:t>includes exporting, importing, foreign direct investment, licensing, franchising, and joint ventures. </a:t>
            </a:r>
            <a:endParaRPr lang="en-US" b="0" u="none" strike="noStrike" dirty="0" smtClean="0">
              <a:solidFill>
                <a:schemeClr val="dk2"/>
              </a:solidFill>
              <a:effectLst/>
              <a:uFillTx/>
              <a:latin typeface="Manjari"/>
            </a:endParaRPr>
          </a:p>
          <a:p>
            <a:pPr defTabSz="914400">
              <a:lnSpc>
                <a:spcPct val="150000"/>
              </a:lnSpc>
              <a:buFont typeface="Arial" pitchFamily="34" charset="0"/>
              <a:buChar char="•"/>
              <a:tabLst>
                <a:tab pos="0" algn="l"/>
              </a:tabLst>
            </a:pPr>
            <a:r>
              <a:rPr lang="en-US" b="0" u="none" strike="noStrike" dirty="0" smtClean="0">
                <a:solidFill>
                  <a:schemeClr val="dk2"/>
                </a:solidFill>
                <a:effectLst/>
                <a:uFillTx/>
                <a:latin typeface="Manjari"/>
              </a:rPr>
              <a:t>The </a:t>
            </a:r>
            <a:r>
              <a:rPr lang="en-US" b="0" u="none" strike="noStrike" dirty="0">
                <a:solidFill>
                  <a:schemeClr val="dk2"/>
                </a:solidFill>
                <a:effectLst/>
                <a:uFillTx/>
                <a:latin typeface="Manjari"/>
              </a:rPr>
              <a:t>scope is broad, covering diverse industries and the complex interplay of global markets, regulations, and cultural variations.</a:t>
            </a:r>
            <a:endParaRPr lang="en-US" b="0" u="none" strike="noStrike" dirty="0">
              <a:solidFill>
                <a:srgbClr val="000000"/>
              </a:solidFill>
              <a:effectLst/>
              <a:uFillTx/>
              <a:latin typeface="OpenSymbo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0" u="none" strike="noStrike">
                <a:solidFill>
                  <a:schemeClr val="dk2"/>
                </a:solidFill>
                <a:effectLst/>
                <a:uFillTx/>
                <a:latin typeface="Ysabeau Office"/>
              </a:rPr>
              <a:t>Definition and Scope of International Business</a:t>
            </a:r>
            <a:endParaRPr lang="en-US" sz="3000" b="0" u="none" strike="noStrike">
              <a:solidFill>
                <a:srgbClr val="000000"/>
              </a:solidFill>
              <a:effectLst/>
              <a:uFillTx/>
              <a:latin typeface="OpenSymbol"/>
            </a:endParaRPr>
          </a:p>
        </p:txBody>
      </p:sp>
      <p:sp>
        <p:nvSpPr>
          <p:cNvPr id="60" name="Rectangle 59"/>
          <p:cNvSpPr/>
          <p:nvPr/>
        </p:nvSpPr>
        <p:spPr>
          <a:xfrm>
            <a:off x="476280" y="1905120"/>
            <a:ext cx="8191080" cy="2761920"/>
          </a:xfrm>
          <a:prstGeom prst="rect">
            <a:avLst/>
          </a:prstGeom>
          <a:solidFill>
            <a:schemeClr val="bg2">
              <a:lumMod val="25000"/>
              <a:lumOff val="75000"/>
            </a:schemeClr>
          </a:solidFill>
          <a:ln w="0">
            <a:noFill/>
          </a:ln>
        </p:spPr>
        <p:style>
          <a:lnRef idx="0">
            <a:scrgbClr r="0" g="0" b="0"/>
          </a:lnRef>
          <a:fillRef idx="0">
            <a:scrgbClr r="0" g="0" b="0"/>
          </a:fillRef>
          <a:effectRef idx="0">
            <a:scrgbClr r="0" g="0" b="0"/>
          </a:effectRef>
          <a:fontRef idx="minor"/>
        </p:style>
        <p:txBody>
          <a:bodyPr anchor="t">
            <a:normAutofit/>
          </a:bodyPr>
          <a:lstStyle/>
          <a:p>
            <a:pPr algn="just">
              <a:lnSpc>
                <a:spcPct val="150000"/>
              </a:lnSpc>
              <a:spcAft>
                <a:spcPts val="800"/>
              </a:spcAft>
            </a:pPr>
            <a:r>
              <a:rPr lang="en-IN" kern="100" dirty="0" smtClean="0">
                <a:solidFill>
                  <a:schemeClr val="bg2"/>
                </a:solidFill>
                <a:latin typeface="Times New Roman"/>
                <a:ea typeface="Calibri"/>
                <a:cs typeface="Times New Roman"/>
              </a:rPr>
              <a:t>According to </a:t>
            </a:r>
            <a:r>
              <a:rPr lang="en-IN" kern="100" dirty="0" err="1" smtClean="0">
                <a:solidFill>
                  <a:schemeClr val="bg2"/>
                </a:solidFill>
                <a:latin typeface="Times New Roman"/>
                <a:ea typeface="Calibri"/>
                <a:cs typeface="Times New Roman"/>
              </a:rPr>
              <a:t>Czinkota</a:t>
            </a:r>
            <a:r>
              <a:rPr lang="en-IN" kern="100" dirty="0" smtClean="0">
                <a:solidFill>
                  <a:schemeClr val="bg2"/>
                </a:solidFill>
                <a:latin typeface="Times New Roman"/>
                <a:ea typeface="Calibri"/>
                <a:cs typeface="Times New Roman"/>
              </a:rPr>
              <a:t> &amp; </a:t>
            </a:r>
            <a:r>
              <a:rPr lang="en-IN" kern="100" dirty="0" err="1" smtClean="0">
                <a:solidFill>
                  <a:schemeClr val="bg2"/>
                </a:solidFill>
                <a:latin typeface="Times New Roman"/>
                <a:ea typeface="Calibri"/>
                <a:cs typeface="Times New Roman"/>
              </a:rPr>
              <a:t>Ronkainen</a:t>
            </a:r>
            <a:r>
              <a:rPr lang="en-IN" kern="100" dirty="0" smtClean="0">
                <a:solidFill>
                  <a:schemeClr val="bg2"/>
                </a:solidFill>
                <a:latin typeface="Times New Roman"/>
                <a:ea typeface="Calibri"/>
                <a:cs typeface="Times New Roman"/>
              </a:rPr>
              <a:t>, International business involves “transactions designed and carried out across national borders to satisfy the objectives of individuals and organizations.”</a:t>
            </a:r>
            <a:endParaRPr lang="en-US" sz="1600" kern="100" dirty="0" smtClean="0">
              <a:solidFill>
                <a:schemeClr val="bg2"/>
              </a:solidFill>
              <a:latin typeface="Calibri"/>
              <a:ea typeface="Calibri"/>
              <a:cs typeface="Times New Roman"/>
            </a:endParaRPr>
          </a:p>
          <a:p>
            <a:pPr algn="just">
              <a:lnSpc>
                <a:spcPct val="150000"/>
              </a:lnSpc>
              <a:spcAft>
                <a:spcPts val="800"/>
              </a:spcAft>
            </a:pPr>
            <a:r>
              <a:rPr lang="en-IN" kern="100" dirty="0" smtClean="0">
                <a:solidFill>
                  <a:schemeClr val="bg2"/>
                </a:solidFill>
                <a:latin typeface="Times New Roman"/>
                <a:ea typeface="Calibri"/>
                <a:cs typeface="Times New Roman"/>
              </a:rPr>
              <a:t>Mark </a:t>
            </a:r>
            <a:r>
              <a:rPr lang="en-IN" kern="100" dirty="0" err="1" smtClean="0">
                <a:solidFill>
                  <a:schemeClr val="bg2"/>
                </a:solidFill>
                <a:latin typeface="Times New Roman"/>
                <a:ea typeface="Calibri"/>
                <a:cs typeface="Times New Roman"/>
              </a:rPr>
              <a:t>Casson</a:t>
            </a:r>
            <a:r>
              <a:rPr lang="en-IN" kern="100" dirty="0" smtClean="0">
                <a:solidFill>
                  <a:schemeClr val="bg2"/>
                </a:solidFill>
                <a:latin typeface="Times New Roman"/>
                <a:ea typeface="Calibri"/>
                <a:cs typeface="Times New Roman"/>
              </a:rPr>
              <a:t> defines international business as “the study of multinational enterprises, their activities, and the institutional context in which they operate.”</a:t>
            </a:r>
            <a:endParaRPr lang="en-US" sz="1600" kern="100" dirty="0">
              <a:solidFill>
                <a:schemeClr val="bg2"/>
              </a:solidFill>
              <a:latin typeface="Calibri"/>
              <a:ea typeface="Calibri"/>
              <a:cs typeface="Times New Roman"/>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5029200" y="0"/>
            <a:ext cx="3619080" cy="838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00000"/>
              </a:lnSpc>
              <a:tabLst>
                <a:tab pos="0" algn="l"/>
              </a:tabLst>
            </a:pPr>
            <a:r>
              <a:rPr lang="en-US" b="0" u="none" strike="noStrike" dirty="0">
                <a:solidFill>
                  <a:schemeClr val="dk2"/>
                </a:solidFill>
                <a:effectLst/>
                <a:uFillTx/>
                <a:latin typeface="Ysabeau Office"/>
              </a:rPr>
              <a:t>Importance of International Business</a:t>
            </a:r>
            <a:endParaRPr lang="en-US" b="0" u="none" strike="noStrike" dirty="0">
              <a:solidFill>
                <a:srgbClr val="000000"/>
              </a:solidFill>
              <a:effectLst/>
              <a:uFillTx/>
              <a:latin typeface="OpenSymbol"/>
            </a:endParaRPr>
          </a:p>
        </p:txBody>
      </p:sp>
      <p:sp>
        <p:nvSpPr>
          <p:cNvPr id="62" name="Rectangle 61"/>
          <p:cNvSpPr/>
          <p:nvPr/>
        </p:nvSpPr>
        <p:spPr>
          <a:xfrm>
            <a:off x="5048280" y="666750"/>
            <a:ext cx="3619080" cy="400029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just" defTabSz="914400">
              <a:lnSpc>
                <a:spcPct val="150000"/>
              </a:lnSpc>
              <a:buFont typeface="Arial" pitchFamily="34" charset="0"/>
              <a:buChar char="•"/>
              <a:tabLst>
                <a:tab pos="0" algn="l"/>
              </a:tabLst>
            </a:pPr>
            <a:r>
              <a:rPr lang="en-US" sz="1600" b="0" u="none" strike="noStrike" dirty="0">
                <a:solidFill>
                  <a:schemeClr val="dk2"/>
                </a:solidFill>
                <a:effectLst/>
                <a:uFillTx/>
                <a:latin typeface="Manjari"/>
              </a:rPr>
              <a:t>International business promotes economic growth by opening new markets and enabling resource sharing</a:t>
            </a:r>
            <a:r>
              <a:rPr lang="en-US" sz="1600" b="0" u="none" strike="noStrike" dirty="0" smtClean="0">
                <a:solidFill>
                  <a:schemeClr val="dk2"/>
                </a:solidFill>
                <a:effectLst/>
                <a:uFillTx/>
                <a:latin typeface="Manjari"/>
              </a:rPr>
              <a:t>.</a:t>
            </a:r>
          </a:p>
          <a:p>
            <a:pPr algn="just" defTabSz="914400">
              <a:lnSpc>
                <a:spcPct val="150000"/>
              </a:lnSpc>
              <a:buFont typeface="Arial" pitchFamily="34" charset="0"/>
              <a:buChar char="•"/>
              <a:tabLst>
                <a:tab pos="0" algn="l"/>
              </a:tabLst>
            </a:pPr>
            <a:r>
              <a:rPr lang="en-US" sz="1600" b="0" u="none" strike="noStrike" dirty="0" smtClean="0">
                <a:solidFill>
                  <a:schemeClr val="dk2"/>
                </a:solidFill>
                <a:effectLst/>
                <a:uFillTx/>
                <a:latin typeface="Manjari"/>
              </a:rPr>
              <a:t> </a:t>
            </a:r>
            <a:r>
              <a:rPr lang="en-US" sz="1600" b="0" u="none" strike="noStrike" dirty="0">
                <a:solidFill>
                  <a:schemeClr val="dk2"/>
                </a:solidFill>
                <a:effectLst/>
                <a:uFillTx/>
                <a:latin typeface="Manjari"/>
              </a:rPr>
              <a:t>It enhances competitiveness through innovation and economies of scale. </a:t>
            </a:r>
            <a:endParaRPr lang="en-US" sz="1600" dirty="0">
              <a:solidFill>
                <a:schemeClr val="dk2"/>
              </a:solidFill>
              <a:latin typeface="Manjari"/>
            </a:endParaRPr>
          </a:p>
          <a:p>
            <a:pPr algn="just" defTabSz="914400">
              <a:lnSpc>
                <a:spcPct val="150000"/>
              </a:lnSpc>
              <a:buFont typeface="Arial" pitchFamily="34" charset="0"/>
              <a:buChar char="•"/>
              <a:tabLst>
                <a:tab pos="0" algn="l"/>
              </a:tabLst>
            </a:pPr>
            <a:r>
              <a:rPr lang="en-US" sz="1600" dirty="0">
                <a:solidFill>
                  <a:schemeClr val="dk2"/>
                </a:solidFill>
                <a:latin typeface="Manjari"/>
              </a:rPr>
              <a:t>I</a:t>
            </a:r>
            <a:r>
              <a:rPr lang="en-US" sz="1600" b="0" u="none" strike="noStrike" dirty="0" smtClean="0">
                <a:solidFill>
                  <a:schemeClr val="dk2"/>
                </a:solidFill>
                <a:effectLst/>
                <a:uFillTx/>
                <a:latin typeface="Manjari"/>
              </a:rPr>
              <a:t>t </a:t>
            </a:r>
            <a:r>
              <a:rPr lang="en-US" sz="1600" b="0" u="none" strike="noStrike" dirty="0">
                <a:solidFill>
                  <a:schemeClr val="dk2"/>
                </a:solidFill>
                <a:effectLst/>
                <a:uFillTx/>
                <a:latin typeface="Manjari"/>
              </a:rPr>
              <a:t>fosters cultural exchange, creates employment, and helps companies diversify risks in the global marketplace.</a:t>
            </a:r>
            <a:endParaRPr lang="en-US" sz="1600" b="0" u="none" strike="noStrike" dirty="0">
              <a:solidFill>
                <a:srgbClr val="000000"/>
              </a:solidFill>
              <a:effectLst/>
              <a:uFillTx/>
              <a:latin typeface="OpenSymbol"/>
            </a:endParaRPr>
          </a:p>
        </p:txBody>
      </p:sp>
      <p:pic>
        <p:nvPicPr>
          <p:cNvPr id="63" name="image69a917c9a13ef" descr="image69a917c9a13f4"/>
          <p:cNvPicPr/>
          <p:nvPr/>
        </p:nvPicPr>
        <p:blipFill>
          <a:blip r:embed="rId2"/>
          <a:stretch/>
        </p:blipFill>
        <p:spPr>
          <a:xfrm>
            <a:off x="0" y="0"/>
            <a:ext cx="4571640" cy="5143320"/>
          </a:xfrm>
          <a:prstGeom prst="rect">
            <a:avLst/>
          </a:prstGeom>
          <a:noFill/>
          <a:ln w="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pPr algn="ctr"/>
            <a:r>
              <a:rPr lang="en-US" dirty="0" smtClean="0"/>
              <a:t>Importance of International Business</a:t>
            </a:r>
            <a:endParaRPr lang="en-US" dirty="0"/>
          </a:p>
        </p:txBody>
      </p:sp>
      <p:sp>
        <p:nvSpPr>
          <p:cNvPr id="3" name="Text Placeholder 2"/>
          <p:cNvSpPr>
            <a:spLocks noGrp="1"/>
          </p:cNvSpPr>
          <p:nvPr>
            <p:ph type="body"/>
          </p:nvPr>
        </p:nvSpPr>
        <p:spPr>
          <a:xfrm>
            <a:off x="457200" y="1203480"/>
            <a:ext cx="8229240" cy="3425670"/>
          </a:xfrm>
          <a:solidFill>
            <a:srgbClr val="FFC000"/>
          </a:solidFill>
        </p:spPr>
        <p:txBody>
          <a:bodyPr>
            <a:normAutofit/>
          </a:bodyPr>
          <a:lstStyle/>
          <a:p>
            <a:pPr marL="342900" indent="-342900">
              <a:buAutoNum type="arabicPeriod"/>
            </a:pPr>
            <a:r>
              <a:rPr lang="en-IN" dirty="0" smtClean="0">
                <a:solidFill>
                  <a:srgbClr val="FF0000"/>
                </a:solidFill>
              </a:rPr>
              <a:t>Market </a:t>
            </a:r>
            <a:r>
              <a:rPr lang="en-IN" dirty="0">
                <a:solidFill>
                  <a:srgbClr val="FF0000"/>
                </a:solidFill>
              </a:rPr>
              <a:t>Expansion</a:t>
            </a:r>
            <a:endParaRPr lang="en-US" dirty="0">
              <a:solidFill>
                <a:srgbClr val="FF0000"/>
              </a:solidFill>
            </a:endParaRPr>
          </a:p>
          <a:p>
            <a:pPr marL="342900" indent="-342900"/>
            <a:r>
              <a:rPr lang="en-IN" dirty="0" smtClean="0"/>
              <a:t> </a:t>
            </a:r>
            <a:r>
              <a:rPr lang="en-IN" b="1" dirty="0">
                <a:solidFill>
                  <a:schemeClr val="bg2"/>
                </a:solidFill>
              </a:rPr>
              <a:t>By selling products and services globally, firms can increase sales, </a:t>
            </a:r>
            <a:r>
              <a:rPr lang="en-IN" b="1" dirty="0" smtClean="0">
                <a:solidFill>
                  <a:schemeClr val="bg2"/>
                </a:solidFill>
              </a:rPr>
              <a:t>achieve economies </a:t>
            </a:r>
            <a:r>
              <a:rPr lang="en-IN" b="1" dirty="0">
                <a:solidFill>
                  <a:schemeClr val="bg2"/>
                </a:solidFill>
              </a:rPr>
              <a:t>of scale, and strengthen their brand presence</a:t>
            </a:r>
            <a:r>
              <a:rPr lang="en-IN" b="1" dirty="0" smtClean="0">
                <a:solidFill>
                  <a:schemeClr val="bg2"/>
                </a:solidFill>
              </a:rPr>
              <a:t>.</a:t>
            </a:r>
          </a:p>
          <a:p>
            <a:pPr marL="342900" indent="-342900"/>
            <a:r>
              <a:rPr lang="en-IN" dirty="0" smtClean="0"/>
              <a:t> </a:t>
            </a:r>
            <a:r>
              <a:rPr lang="en-IN" b="1" dirty="0">
                <a:solidFill>
                  <a:srgbClr val="7030A0"/>
                </a:solidFill>
              </a:rPr>
              <a:t>Example: </a:t>
            </a:r>
            <a:r>
              <a:rPr lang="en-IN" b="1" dirty="0">
                <a:solidFill>
                  <a:schemeClr val="bg2"/>
                </a:solidFill>
              </a:rPr>
              <a:t>Samsung sells smart phones in over 100 countries, making it one of the world’s largest electronics brands</a:t>
            </a:r>
            <a:r>
              <a:rPr lang="en-IN" dirty="0"/>
              <a:t>.</a:t>
            </a:r>
            <a:endParaRPr lang="en-US" dirty="0"/>
          </a:p>
          <a:p>
            <a:r>
              <a:rPr lang="en-IN" dirty="0">
                <a:solidFill>
                  <a:srgbClr val="FF0000"/>
                </a:solidFill>
              </a:rPr>
              <a:t>2. Resource Access</a:t>
            </a:r>
            <a:endParaRPr lang="en-US" dirty="0">
              <a:solidFill>
                <a:srgbClr val="FF0000"/>
              </a:solidFill>
            </a:endParaRPr>
          </a:p>
          <a:p>
            <a:r>
              <a:rPr lang="en-IN" b="1" dirty="0">
                <a:solidFill>
                  <a:schemeClr val="bg2"/>
                </a:solidFill>
              </a:rPr>
              <a:t>Countries and companies can obtain resources that are scarce or unavailable domestically. This includes raw materials, advanced technology, and skilled labour. </a:t>
            </a:r>
            <a:endParaRPr lang="en-IN" b="1" dirty="0" smtClean="0">
              <a:solidFill>
                <a:schemeClr val="bg2"/>
              </a:solidFill>
            </a:endParaRPr>
          </a:p>
          <a:p>
            <a:r>
              <a:rPr lang="en-IN" b="1" dirty="0" smtClean="0">
                <a:solidFill>
                  <a:srgbClr val="7030A0"/>
                </a:solidFill>
              </a:rPr>
              <a:t>Example</a:t>
            </a:r>
            <a:r>
              <a:rPr lang="en-IN" b="1" dirty="0">
                <a:solidFill>
                  <a:srgbClr val="7030A0"/>
                </a:solidFill>
              </a:rPr>
              <a:t>:</a:t>
            </a:r>
            <a:r>
              <a:rPr lang="en-IN" dirty="0"/>
              <a:t> </a:t>
            </a:r>
            <a:r>
              <a:rPr lang="en-IN" b="1" dirty="0">
                <a:solidFill>
                  <a:schemeClr val="bg2"/>
                </a:solidFill>
              </a:rPr>
              <a:t>Japan imports crude oil and minerals, while exporting high-tech products like cars and electronics.</a:t>
            </a:r>
            <a:endParaRPr lang="en-US" b="1" dirty="0">
              <a:solidFill>
                <a:schemeClr val="bg2"/>
              </a:solidFill>
            </a:endParaRP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pPr algn="ctr"/>
            <a:r>
              <a:rPr lang="en-US" dirty="0" smtClean="0"/>
              <a:t>Importance of International Business</a:t>
            </a:r>
            <a:endParaRPr lang="en-US" dirty="0"/>
          </a:p>
        </p:txBody>
      </p:sp>
      <p:sp>
        <p:nvSpPr>
          <p:cNvPr id="3" name="Text Placeholder 2"/>
          <p:cNvSpPr>
            <a:spLocks noGrp="1"/>
          </p:cNvSpPr>
          <p:nvPr>
            <p:ph type="body"/>
          </p:nvPr>
        </p:nvSpPr>
        <p:spPr>
          <a:xfrm>
            <a:off x="457200" y="1203480"/>
            <a:ext cx="8229240" cy="3425670"/>
          </a:xfrm>
          <a:solidFill>
            <a:srgbClr val="FFC000"/>
          </a:solidFill>
        </p:spPr>
        <p:txBody>
          <a:bodyPr>
            <a:normAutofit/>
          </a:bodyPr>
          <a:lstStyle/>
          <a:p>
            <a:r>
              <a:rPr lang="en-IN" dirty="0">
                <a:solidFill>
                  <a:srgbClr val="FF0000"/>
                </a:solidFill>
              </a:rPr>
              <a:t>3. Risk Diversification</a:t>
            </a:r>
            <a:endParaRPr lang="en-US" dirty="0">
              <a:solidFill>
                <a:srgbClr val="FF0000"/>
              </a:solidFill>
            </a:endParaRPr>
          </a:p>
          <a:p>
            <a:r>
              <a:rPr lang="en-IN" b="1" dirty="0">
                <a:solidFill>
                  <a:schemeClr val="bg2"/>
                </a:solidFill>
              </a:rPr>
              <a:t>Operating in multiple countries reduces dependence on a single market. If one economy faces recession, firms can rely on other markets to sustain growth. </a:t>
            </a:r>
            <a:r>
              <a:rPr lang="en-IN" b="1" dirty="0">
                <a:solidFill>
                  <a:srgbClr val="7030A0"/>
                </a:solidFill>
              </a:rPr>
              <a:t>Example</a:t>
            </a:r>
            <a:r>
              <a:rPr lang="en-IN" dirty="0">
                <a:solidFill>
                  <a:schemeClr val="bg2"/>
                </a:solidFill>
              </a:rPr>
              <a:t>: </a:t>
            </a:r>
            <a:r>
              <a:rPr lang="en-IN" b="1" dirty="0">
                <a:solidFill>
                  <a:schemeClr val="bg2"/>
                </a:solidFill>
              </a:rPr>
              <a:t>Coca-Cola earns revenue from diverse regions, so downturns in one market don’t cripple the company.</a:t>
            </a:r>
            <a:endParaRPr lang="en-US" b="1" dirty="0">
              <a:solidFill>
                <a:schemeClr val="bg2"/>
              </a:solidFill>
            </a:endParaRPr>
          </a:p>
          <a:p>
            <a:r>
              <a:rPr lang="en-IN" dirty="0">
                <a:solidFill>
                  <a:srgbClr val="FF0000"/>
                </a:solidFill>
              </a:rPr>
              <a:t>4. Cost Efficiency</a:t>
            </a:r>
            <a:endParaRPr lang="en-US" dirty="0">
              <a:solidFill>
                <a:srgbClr val="FF0000"/>
              </a:solidFill>
            </a:endParaRPr>
          </a:p>
          <a:p>
            <a:r>
              <a:rPr lang="en-IN" b="1" dirty="0">
                <a:solidFill>
                  <a:schemeClr val="bg2"/>
                </a:solidFill>
              </a:rPr>
              <a:t>International production, outsourcing, and off-shoring help firms reduce costs by locating operations where labour or raw materials are cheaper. </a:t>
            </a:r>
            <a:endParaRPr lang="en-IN" b="1" dirty="0" smtClean="0">
              <a:solidFill>
                <a:schemeClr val="bg2"/>
              </a:solidFill>
            </a:endParaRPr>
          </a:p>
          <a:p>
            <a:r>
              <a:rPr lang="en-IN" b="1" dirty="0" smtClean="0">
                <a:solidFill>
                  <a:srgbClr val="7030A0"/>
                </a:solidFill>
              </a:rPr>
              <a:t>Example</a:t>
            </a:r>
            <a:r>
              <a:rPr lang="en-IN" b="1" dirty="0">
                <a:solidFill>
                  <a:srgbClr val="7030A0"/>
                </a:solidFill>
              </a:rPr>
              <a:t>: </a:t>
            </a:r>
            <a:r>
              <a:rPr lang="en-IN" b="1" dirty="0">
                <a:solidFill>
                  <a:schemeClr val="bg2"/>
                </a:solidFill>
              </a:rPr>
              <a:t>Nike manufactures shoes in Asia to lower production costs while selling them globally.</a:t>
            </a:r>
            <a:endParaRPr lang="en-US" b="1" dirty="0">
              <a:solidFill>
                <a:schemeClr val="bg2"/>
              </a:solidFill>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pPr algn="ctr"/>
            <a:r>
              <a:rPr lang="en-US" dirty="0" smtClean="0"/>
              <a:t>Importance of International Business</a:t>
            </a:r>
            <a:endParaRPr lang="en-US" dirty="0"/>
          </a:p>
        </p:txBody>
      </p:sp>
      <p:sp>
        <p:nvSpPr>
          <p:cNvPr id="3" name="Text Placeholder 2"/>
          <p:cNvSpPr>
            <a:spLocks noGrp="1"/>
          </p:cNvSpPr>
          <p:nvPr>
            <p:ph type="body"/>
          </p:nvPr>
        </p:nvSpPr>
        <p:spPr>
          <a:xfrm>
            <a:off x="457200" y="1203480"/>
            <a:ext cx="8229240" cy="3425670"/>
          </a:xfrm>
          <a:solidFill>
            <a:srgbClr val="FFC000"/>
          </a:solidFill>
        </p:spPr>
        <p:txBody>
          <a:bodyPr>
            <a:normAutofit/>
          </a:bodyPr>
          <a:lstStyle/>
          <a:p>
            <a:pPr algn="just"/>
            <a:r>
              <a:rPr lang="en-IN" dirty="0">
                <a:solidFill>
                  <a:srgbClr val="FF0000"/>
                </a:solidFill>
              </a:rPr>
              <a:t>5. Innovation and Knowledge Sharing</a:t>
            </a:r>
            <a:endParaRPr lang="en-US" dirty="0">
              <a:solidFill>
                <a:srgbClr val="FF0000"/>
              </a:solidFill>
            </a:endParaRPr>
          </a:p>
          <a:p>
            <a:pPr algn="just"/>
            <a:r>
              <a:rPr lang="en-IN" b="1" dirty="0">
                <a:solidFill>
                  <a:schemeClr val="bg2"/>
                </a:solidFill>
              </a:rPr>
              <a:t>Exposure to global markets fosters innovation, as firms learn from diverse consumer preferences and technological advancements. </a:t>
            </a:r>
            <a:endParaRPr lang="en-IN" b="1" dirty="0" smtClean="0">
              <a:solidFill>
                <a:schemeClr val="bg2"/>
              </a:solidFill>
            </a:endParaRPr>
          </a:p>
          <a:p>
            <a:pPr algn="just"/>
            <a:r>
              <a:rPr lang="en-IN" b="1" dirty="0" smtClean="0">
                <a:solidFill>
                  <a:srgbClr val="7030A0"/>
                </a:solidFill>
              </a:rPr>
              <a:t>Example</a:t>
            </a:r>
            <a:r>
              <a:rPr lang="en-IN" b="1" dirty="0">
                <a:solidFill>
                  <a:srgbClr val="7030A0"/>
                </a:solidFill>
              </a:rPr>
              <a:t>: </a:t>
            </a:r>
            <a:r>
              <a:rPr lang="en-IN" b="1" dirty="0">
                <a:solidFill>
                  <a:schemeClr val="bg2"/>
                </a:solidFill>
              </a:rPr>
              <a:t>Apple integrates design expertise from the U.S. with manufacturing efficiency in China, creating cutting edge products.</a:t>
            </a:r>
            <a:endParaRPr lang="en-US" b="1" dirty="0">
              <a:solidFill>
                <a:schemeClr val="bg2"/>
              </a:solidFill>
            </a:endParaRPr>
          </a:p>
          <a:p>
            <a:pPr algn="just"/>
            <a:r>
              <a:rPr lang="en-IN" dirty="0">
                <a:solidFill>
                  <a:srgbClr val="FF0000"/>
                </a:solidFill>
              </a:rPr>
              <a:t>6. Improved Relations between Nations</a:t>
            </a:r>
            <a:endParaRPr lang="en-US" dirty="0">
              <a:solidFill>
                <a:srgbClr val="FF0000"/>
              </a:solidFill>
            </a:endParaRPr>
          </a:p>
          <a:p>
            <a:pPr algn="just"/>
            <a:r>
              <a:rPr lang="en-IN" b="1" dirty="0">
                <a:solidFill>
                  <a:schemeClr val="bg2"/>
                </a:solidFill>
              </a:rPr>
              <a:t>Trade and investment create interdependence among countries, reducing the likelihood of conflict and promoting cooperation</a:t>
            </a:r>
            <a:r>
              <a:rPr lang="en-IN" b="1" dirty="0" smtClean="0">
                <a:solidFill>
                  <a:schemeClr val="bg2"/>
                </a:solidFill>
              </a:rPr>
              <a:t>.</a:t>
            </a:r>
          </a:p>
          <a:p>
            <a:pPr algn="just"/>
            <a:r>
              <a:rPr lang="en-IN" b="1" dirty="0" smtClean="0">
                <a:solidFill>
                  <a:srgbClr val="7030A0"/>
                </a:solidFill>
              </a:rPr>
              <a:t>Example</a:t>
            </a:r>
            <a:r>
              <a:rPr lang="en-IN" b="1" dirty="0">
                <a:solidFill>
                  <a:srgbClr val="7030A0"/>
                </a:solidFill>
              </a:rPr>
              <a:t>:</a:t>
            </a:r>
            <a:r>
              <a:rPr lang="en-IN" dirty="0"/>
              <a:t> </a:t>
            </a:r>
            <a:r>
              <a:rPr lang="en-IN" b="1" dirty="0">
                <a:solidFill>
                  <a:schemeClr val="bg2"/>
                </a:solidFill>
              </a:rPr>
              <a:t>The European Union encourages economic integration, strengthening political and social ties among member nations.</a:t>
            </a:r>
            <a:endParaRPr lang="en-US" b="1" dirty="0">
              <a:solidFill>
                <a:schemeClr val="bg2"/>
              </a:solidFill>
            </a:endParaRPr>
          </a:p>
          <a:p>
            <a:endParaRPr lang="en-US" b="1" dirty="0">
              <a:solidFill>
                <a:schemeClr val="bg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pPr algn="ctr"/>
            <a:r>
              <a:rPr lang="en-US" dirty="0" smtClean="0"/>
              <a:t>Importance of International Business</a:t>
            </a:r>
            <a:endParaRPr lang="en-US" dirty="0"/>
          </a:p>
        </p:txBody>
      </p:sp>
      <p:sp>
        <p:nvSpPr>
          <p:cNvPr id="3" name="Text Placeholder 2"/>
          <p:cNvSpPr>
            <a:spLocks noGrp="1"/>
          </p:cNvSpPr>
          <p:nvPr>
            <p:ph type="body"/>
          </p:nvPr>
        </p:nvSpPr>
        <p:spPr>
          <a:xfrm>
            <a:off x="457200" y="1203480"/>
            <a:ext cx="8229240" cy="3425670"/>
          </a:xfrm>
          <a:solidFill>
            <a:srgbClr val="FFC000"/>
          </a:solidFill>
        </p:spPr>
        <p:txBody>
          <a:bodyPr>
            <a:normAutofit/>
          </a:bodyPr>
          <a:lstStyle/>
          <a:p>
            <a:r>
              <a:rPr lang="en-IN" dirty="0">
                <a:solidFill>
                  <a:srgbClr val="FF0000"/>
                </a:solidFill>
              </a:rPr>
              <a:t>7. Employment Generation</a:t>
            </a:r>
            <a:endParaRPr lang="en-US" dirty="0">
              <a:solidFill>
                <a:srgbClr val="FF0000"/>
              </a:solidFill>
            </a:endParaRPr>
          </a:p>
          <a:p>
            <a:r>
              <a:rPr lang="en-IN" b="1" dirty="0">
                <a:solidFill>
                  <a:schemeClr val="bg2"/>
                </a:solidFill>
              </a:rPr>
              <a:t>International business creates jobs both directly (through multinational corporations) and indirectly (through supply chains and service industries). </a:t>
            </a:r>
            <a:r>
              <a:rPr lang="en-IN" b="1" dirty="0">
                <a:solidFill>
                  <a:srgbClr val="7030A0"/>
                </a:solidFill>
              </a:rPr>
              <a:t>Example:</a:t>
            </a:r>
            <a:r>
              <a:rPr lang="en-IN" dirty="0"/>
              <a:t> </a:t>
            </a:r>
            <a:r>
              <a:rPr lang="en-IN" b="1" dirty="0">
                <a:solidFill>
                  <a:schemeClr val="bg2"/>
                </a:solidFill>
              </a:rPr>
              <a:t>Amazon’s global operations employ millions worldwide, from logistics workers to software engineers.</a:t>
            </a:r>
            <a:endParaRPr lang="en-US" b="1" dirty="0">
              <a:solidFill>
                <a:schemeClr val="bg2"/>
              </a:solidFill>
            </a:endParaRPr>
          </a:p>
          <a:p>
            <a:r>
              <a:rPr lang="en-IN" dirty="0">
                <a:solidFill>
                  <a:srgbClr val="FF0000"/>
                </a:solidFill>
              </a:rPr>
              <a:t>8. Consumer Benefits</a:t>
            </a:r>
            <a:endParaRPr lang="en-US" dirty="0">
              <a:solidFill>
                <a:srgbClr val="FF0000"/>
              </a:solidFill>
            </a:endParaRPr>
          </a:p>
          <a:p>
            <a:r>
              <a:rPr lang="en-IN" b="1" dirty="0">
                <a:solidFill>
                  <a:schemeClr val="bg2"/>
                </a:solidFill>
              </a:rPr>
              <a:t>Consumers gain access to a wider variety of products, often at lower prices due to global competition. </a:t>
            </a:r>
            <a:endParaRPr lang="en-IN" b="1" dirty="0" smtClean="0">
              <a:solidFill>
                <a:schemeClr val="bg2"/>
              </a:solidFill>
            </a:endParaRPr>
          </a:p>
          <a:p>
            <a:r>
              <a:rPr lang="en-IN" b="1" dirty="0" smtClean="0">
                <a:solidFill>
                  <a:srgbClr val="7030A0"/>
                </a:solidFill>
              </a:rPr>
              <a:t>Example</a:t>
            </a:r>
            <a:r>
              <a:rPr lang="en-IN" b="1" dirty="0">
                <a:solidFill>
                  <a:srgbClr val="7030A0"/>
                </a:solidFill>
              </a:rPr>
              <a:t>:</a:t>
            </a:r>
            <a:r>
              <a:rPr lang="en-IN" dirty="0"/>
              <a:t> </a:t>
            </a:r>
            <a:r>
              <a:rPr lang="en-IN" b="1" dirty="0">
                <a:solidFill>
                  <a:schemeClr val="bg2"/>
                </a:solidFill>
              </a:rPr>
              <a:t>Indian consumers enjoy affordable smart phones from Chinese brands like </a:t>
            </a:r>
            <a:r>
              <a:rPr lang="en-IN" b="1" dirty="0" err="1">
                <a:solidFill>
                  <a:schemeClr val="bg2"/>
                </a:solidFill>
              </a:rPr>
              <a:t>Xiaomi</a:t>
            </a:r>
            <a:r>
              <a:rPr lang="en-IN" b="1" dirty="0">
                <a:solidFill>
                  <a:schemeClr val="bg2"/>
                </a:solidFill>
              </a:rPr>
              <a:t>, which compete with global giants.</a:t>
            </a:r>
            <a:endParaRPr lang="en-US" b="1" dirty="0">
              <a:solidFill>
                <a:schemeClr val="bg2"/>
              </a:solidFill>
            </a:endParaRP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pPr algn="ctr"/>
            <a:r>
              <a:rPr lang="en-US" dirty="0" smtClean="0"/>
              <a:t>Importance of International Business</a:t>
            </a:r>
            <a:endParaRPr lang="en-US" dirty="0"/>
          </a:p>
        </p:txBody>
      </p:sp>
      <p:sp>
        <p:nvSpPr>
          <p:cNvPr id="3" name="Text Placeholder 2"/>
          <p:cNvSpPr>
            <a:spLocks noGrp="1"/>
          </p:cNvSpPr>
          <p:nvPr>
            <p:ph type="body"/>
          </p:nvPr>
        </p:nvSpPr>
        <p:spPr>
          <a:xfrm>
            <a:off x="457200" y="1203480"/>
            <a:ext cx="8229240" cy="3425670"/>
          </a:xfrm>
          <a:solidFill>
            <a:srgbClr val="FFC000"/>
          </a:solidFill>
        </p:spPr>
        <p:txBody>
          <a:bodyPr>
            <a:normAutofit/>
          </a:bodyPr>
          <a:lstStyle/>
          <a:p>
            <a:r>
              <a:rPr lang="en-IN" dirty="0">
                <a:solidFill>
                  <a:srgbClr val="FF0000"/>
                </a:solidFill>
              </a:rPr>
              <a:t>9. Economic Growth</a:t>
            </a:r>
            <a:endParaRPr lang="en-US" dirty="0">
              <a:solidFill>
                <a:srgbClr val="FF0000"/>
              </a:solidFill>
            </a:endParaRPr>
          </a:p>
          <a:p>
            <a:r>
              <a:rPr lang="en-IN" b="1" dirty="0"/>
              <a:t>International business boosts GDP by increasing exports, attracting foreign investment, and stimulating industrial growth</a:t>
            </a:r>
            <a:r>
              <a:rPr lang="en-IN" b="1" dirty="0" smtClean="0"/>
              <a:t>.</a:t>
            </a:r>
          </a:p>
          <a:p>
            <a:r>
              <a:rPr lang="en-IN" b="1" dirty="0" smtClean="0">
                <a:solidFill>
                  <a:srgbClr val="7030A0"/>
                </a:solidFill>
              </a:rPr>
              <a:t>Example</a:t>
            </a:r>
            <a:r>
              <a:rPr lang="en-IN" b="1" dirty="0">
                <a:solidFill>
                  <a:srgbClr val="7030A0"/>
                </a:solidFill>
              </a:rPr>
              <a:t>: </a:t>
            </a:r>
            <a:r>
              <a:rPr lang="en-IN" b="1" dirty="0">
                <a:solidFill>
                  <a:schemeClr val="bg2"/>
                </a:solidFill>
              </a:rPr>
              <a:t>China’s rapid economic rise is largely due to its integration into global trade and investment networks.</a:t>
            </a:r>
            <a:endParaRPr lang="en-US" b="1" dirty="0">
              <a:solidFill>
                <a:schemeClr val="bg2"/>
              </a:solidFill>
            </a:endParaRPr>
          </a:p>
          <a:p>
            <a:r>
              <a:rPr lang="en-IN" dirty="0">
                <a:solidFill>
                  <a:srgbClr val="FF0000"/>
                </a:solidFill>
              </a:rPr>
              <a:t>10. Cultural Exchange</a:t>
            </a:r>
            <a:endParaRPr lang="en-US" dirty="0">
              <a:solidFill>
                <a:srgbClr val="FF0000"/>
              </a:solidFill>
            </a:endParaRPr>
          </a:p>
          <a:p>
            <a:r>
              <a:rPr lang="en-IN" b="1" dirty="0">
                <a:solidFill>
                  <a:schemeClr val="bg2"/>
                </a:solidFill>
              </a:rPr>
              <a:t>Cross border business promotes cultural understanding and diversity, enriching societies with new ideas, lifestyles, and practices</a:t>
            </a:r>
            <a:r>
              <a:rPr lang="en-IN" b="1" dirty="0" smtClean="0">
                <a:solidFill>
                  <a:schemeClr val="bg2"/>
                </a:solidFill>
              </a:rPr>
              <a:t>.</a:t>
            </a:r>
          </a:p>
          <a:p>
            <a:r>
              <a:rPr lang="en-IN" b="1" dirty="0" smtClean="0">
                <a:solidFill>
                  <a:srgbClr val="7030A0"/>
                </a:solidFill>
              </a:rPr>
              <a:t>Example</a:t>
            </a:r>
            <a:r>
              <a:rPr lang="en-IN" b="1" dirty="0">
                <a:solidFill>
                  <a:srgbClr val="7030A0"/>
                </a:solidFill>
              </a:rPr>
              <a:t>: </a:t>
            </a:r>
            <a:r>
              <a:rPr lang="en-IN" b="1" dirty="0">
                <a:solidFill>
                  <a:schemeClr val="bg2"/>
                </a:solidFill>
              </a:rPr>
              <a:t>McDonald’s adapts menus to local cultures — offering </a:t>
            </a:r>
            <a:r>
              <a:rPr lang="en-IN" b="1" dirty="0" err="1">
                <a:solidFill>
                  <a:schemeClr val="bg2"/>
                </a:solidFill>
              </a:rPr>
              <a:t>McAloo</a:t>
            </a:r>
            <a:r>
              <a:rPr lang="en-IN" b="1" dirty="0">
                <a:solidFill>
                  <a:schemeClr val="bg2"/>
                </a:solidFill>
              </a:rPr>
              <a:t> </a:t>
            </a:r>
            <a:r>
              <a:rPr lang="en-IN" b="1" dirty="0" err="1">
                <a:solidFill>
                  <a:schemeClr val="bg2"/>
                </a:solidFill>
              </a:rPr>
              <a:t>Tikki</a:t>
            </a:r>
            <a:r>
              <a:rPr lang="en-IN" b="1" dirty="0">
                <a:solidFill>
                  <a:schemeClr val="bg2"/>
                </a:solidFill>
              </a:rPr>
              <a:t> in India — blending global and local traditions.</a:t>
            </a:r>
            <a:endParaRPr lang="en-US" b="1" dirty="0">
              <a:solidFill>
                <a:schemeClr val="bg2"/>
              </a:solidFill>
            </a:endParaRPr>
          </a:p>
          <a:p>
            <a:endParaRPr lang="en-US" b="1" dirty="0">
              <a:solidFill>
                <a:schemeClr val="bg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2847960" y="3486150"/>
            <a:ext cx="5819400" cy="1123650"/>
          </a:xfrm>
          <a:prstGeom prst="rect">
            <a:avLst/>
          </a:prstGeom>
          <a:noFill/>
          <a:ln w="0">
            <a:noFill/>
          </a:ln>
        </p:spPr>
        <p:txBody>
          <a:bodyPr lIns="91440" tIns="91440" rIns="91440" bIns="91440" anchor="b">
            <a:normAutofit fontScale="90000"/>
          </a:bodyPr>
          <a:lstStyle/>
          <a:p>
            <a:pPr indent="0" algn="r">
              <a:lnSpc>
                <a:spcPct val="100000"/>
              </a:lnSpc>
              <a:buNone/>
              <a:tabLst>
                <a:tab pos="0" algn="l"/>
              </a:tabLst>
            </a:pPr>
            <a:r>
              <a:rPr lang="en-US" sz="3500" b="1" u="none" strike="noStrike" dirty="0">
                <a:solidFill>
                  <a:schemeClr val="dk2"/>
                </a:solidFill>
                <a:effectLst/>
                <a:uFillTx/>
                <a:latin typeface="Ysabeau Office"/>
                <a:ea typeface="Ysabeau Office"/>
              </a:rPr>
              <a:t>Examples of International Business Activities</a:t>
            </a:r>
            <a:endParaRPr lang="fr-FR" sz="3500" b="1" u="none" strike="noStrike" dirty="0">
              <a:solidFill>
                <a:schemeClr val="dk1"/>
              </a:solidFill>
              <a:effectLst/>
              <a:uFillTx/>
              <a:latin typeface="Arial"/>
            </a:endParaRPr>
          </a:p>
        </p:txBody>
      </p:sp>
      <p:sp>
        <p:nvSpPr>
          <p:cNvPr id="65" name="PlaceHolder 2"/>
          <p:cNvSpPr>
            <a:spLocks noGrp="1"/>
          </p:cNvSpPr>
          <p:nvPr>
            <p:ph type="subTitle"/>
          </p:nvPr>
        </p:nvSpPr>
        <p:spPr>
          <a:xfrm>
            <a:off x="495360" y="542880"/>
            <a:ext cx="7629120" cy="2161800"/>
          </a:xfrm>
          <a:prstGeom prst="rect">
            <a:avLst/>
          </a:prstGeom>
          <a:noFill/>
          <a:ln w="0">
            <a:noFill/>
          </a:ln>
        </p:spPr>
        <p:txBody>
          <a:bodyPr lIns="91440" tIns="91440" rIns="91440" bIns="91440" anchor="t">
            <a:noAutofit/>
          </a:bodyPr>
          <a:lstStyle/>
          <a:p>
            <a:pPr indent="0">
              <a:lnSpc>
                <a:spcPct val="150000"/>
              </a:lnSpc>
              <a:buNone/>
              <a:tabLst>
                <a:tab pos="0" algn="l"/>
              </a:tabLst>
            </a:pPr>
            <a:r>
              <a:rPr lang="en-US" b="0" u="none" strike="noStrike" dirty="0">
                <a:solidFill>
                  <a:schemeClr val="dk2"/>
                </a:solidFill>
                <a:effectLst/>
                <a:uFillTx/>
                <a:latin typeface="Manjari"/>
                <a:ea typeface="Manjari"/>
              </a:rPr>
              <a:t>International business activities include exporting and importing goods and services between countries. Companies also engage in foreign direct investment, establishing subsidiaries or joint ventures abroad. Licensing and franchising are common for brand expansion. For example, McDonalds operates globally through franchising, while Toyota exports vehicles worldwide. These activities enable firms to tap into new markets and leverage global resources.</a:t>
            </a:r>
            <a:endParaRPr lang="en-US" b="0" u="none" strike="noStrike" dirty="0">
              <a:solidFill>
                <a:srgbClr val="000000"/>
              </a:solidFill>
              <a:effectLst/>
              <a:uFillTx/>
              <a:latin typeface="OpenSymbo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2"/>
                </a:solidFill>
                <a:effectLst/>
                <a:uFillTx/>
                <a:latin typeface="Calibri"/>
              </a:rPr>
              <a:t>01</a:t>
            </a:r>
            <a:endParaRPr lang="en-US" sz="5000" b="0" u="none" strike="noStrike">
              <a:solidFill>
                <a:srgbClr val="000000"/>
              </a:solidFill>
              <a:effectLst/>
              <a:uFillTx/>
              <a:latin typeface="OpenSymbol"/>
            </a:endParaRPr>
          </a:p>
        </p:txBody>
      </p:sp>
      <p:sp>
        <p:nvSpPr>
          <p:cNvPr id="67" name="Rectangle 66"/>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2"/>
                </a:solidFill>
                <a:effectLst/>
                <a:uFillTx/>
                <a:latin typeface="Ysabeau Office"/>
              </a:rPr>
              <a:t>Globalization and Business</a:t>
            </a:r>
            <a:endParaRPr lang="en-US" sz="4000" b="0" u="none" strike="noStrike">
              <a:solidFill>
                <a:srgbClr val="000000"/>
              </a:solidFill>
              <a:effectLst/>
              <a:uFillTx/>
              <a:latin typeface="OpenSymbol"/>
            </a:endParaRPr>
          </a:p>
        </p:txBody>
      </p:sp>
      <p:pic>
        <p:nvPicPr>
          <p:cNvPr id="68" name="image69a917c9b1332" descr="image69a917c9b1336"/>
          <p:cNvPicPr/>
          <p:nvPr/>
        </p:nvPicPr>
        <p:blipFill>
          <a:blip r:embed="rId2"/>
          <a:stretch/>
        </p:blipFill>
        <p:spPr>
          <a:xfrm>
            <a:off x="4572000" y="0"/>
            <a:ext cx="4571640" cy="5143320"/>
          </a:xfrm>
          <a:prstGeom prst="rect">
            <a:avLst/>
          </a:prstGeom>
          <a:noFill/>
          <a:ln w="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p:cNvSpPr/>
          <p:nvPr/>
        </p:nvSpPr>
        <p:spPr>
          <a:xfrm>
            <a:off x="476280" y="476280"/>
            <a:ext cx="8191080" cy="72387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0" u="none" strike="noStrike" dirty="0">
                <a:solidFill>
                  <a:srgbClr val="C00000"/>
                </a:solidFill>
                <a:effectLst/>
                <a:uFillTx/>
                <a:latin typeface="Ysabeau Office"/>
              </a:rPr>
              <a:t>Drivers of Globalization</a:t>
            </a:r>
            <a:endParaRPr lang="en-US" sz="3000" b="0" u="none" strike="noStrike" dirty="0">
              <a:solidFill>
                <a:srgbClr val="C00000"/>
              </a:solidFill>
              <a:effectLst/>
              <a:uFillTx/>
              <a:latin typeface="OpenSymbol"/>
            </a:endParaRPr>
          </a:p>
        </p:txBody>
      </p:sp>
      <p:sp>
        <p:nvSpPr>
          <p:cNvPr id="70" name="Rectangle 69"/>
          <p:cNvSpPr/>
          <p:nvPr/>
        </p:nvSpPr>
        <p:spPr>
          <a:xfrm>
            <a:off x="476280" y="1276350"/>
            <a:ext cx="8191080" cy="3390690"/>
          </a:xfrm>
          <a:prstGeom prst="rect">
            <a:avLst/>
          </a:prstGeom>
          <a:solidFill>
            <a:schemeClr val="accent5">
              <a:lumMod val="75000"/>
            </a:schemeClr>
          </a:solidFill>
          <a:ln w="0">
            <a:noFill/>
          </a:ln>
        </p:spPr>
        <p:style>
          <a:lnRef idx="0">
            <a:scrgbClr r="0" g="0" b="0"/>
          </a:lnRef>
          <a:fillRef idx="0">
            <a:scrgbClr r="0" g="0" b="0"/>
          </a:fillRef>
          <a:effectRef idx="0">
            <a:scrgbClr r="0" g="0" b="0"/>
          </a:effectRef>
          <a:fontRef idx="minor"/>
        </p:style>
        <p:txBody>
          <a:bodyPr anchor="t">
            <a:normAutofit fontScale="92500" lnSpcReduction="10000"/>
          </a:bodyPr>
          <a:lstStyle/>
          <a:p>
            <a:pPr marL="342900" marR="0" lvl="0" indent="-342900" algn="just">
              <a:lnSpc>
                <a:spcPct val="150000"/>
              </a:lnSpc>
              <a:buSzPts val="1000"/>
              <a:buFont typeface="Symbol"/>
              <a:buChar char=""/>
              <a:tabLst>
                <a:tab pos="457200" algn="l"/>
              </a:tabLst>
            </a:pPr>
            <a:r>
              <a:rPr lang="en-IN" sz="2000" b="1" dirty="0" smtClean="0">
                <a:solidFill>
                  <a:schemeClr val="bg2"/>
                </a:solidFill>
                <a:latin typeface="Times New Roman"/>
                <a:ea typeface="Times New Roman"/>
              </a:rPr>
              <a:t>Advances in Technology</a:t>
            </a:r>
            <a:r>
              <a:rPr lang="en-IN" sz="2000" dirty="0" smtClean="0">
                <a:solidFill>
                  <a:schemeClr val="bg2"/>
                </a:solidFill>
                <a:latin typeface="Times New Roman"/>
                <a:ea typeface="Times New Roman"/>
              </a:rPr>
              <a:t>: Faster communication, cheaper transport, and digital platforms.</a:t>
            </a:r>
            <a:endParaRPr lang="en-US" sz="2000" dirty="0" smtClean="0">
              <a:solidFill>
                <a:schemeClr val="bg2"/>
              </a:solidFill>
              <a:latin typeface="Times New Roman"/>
              <a:ea typeface="Times New Roman"/>
            </a:endParaRPr>
          </a:p>
          <a:p>
            <a:pPr marL="342900" marR="0" lvl="0" indent="-342900" algn="just">
              <a:lnSpc>
                <a:spcPct val="150000"/>
              </a:lnSpc>
              <a:buSzPts val="1000"/>
              <a:buFont typeface="Symbol"/>
              <a:buChar char=""/>
              <a:tabLst>
                <a:tab pos="457200" algn="l"/>
              </a:tabLst>
            </a:pPr>
            <a:r>
              <a:rPr lang="en-IN" sz="2000" b="1" dirty="0" smtClean="0">
                <a:solidFill>
                  <a:schemeClr val="bg2"/>
                </a:solidFill>
                <a:latin typeface="Times New Roman"/>
                <a:ea typeface="Times New Roman"/>
              </a:rPr>
              <a:t>Trade Liberalization</a:t>
            </a:r>
            <a:r>
              <a:rPr lang="en-IN" sz="2000" dirty="0" smtClean="0">
                <a:solidFill>
                  <a:schemeClr val="bg2"/>
                </a:solidFill>
                <a:latin typeface="Times New Roman"/>
                <a:ea typeface="Times New Roman"/>
              </a:rPr>
              <a:t>: Reduction of tariffs and barriers by WTO and regional agreements.</a:t>
            </a:r>
            <a:endParaRPr lang="en-US" sz="2000" dirty="0" smtClean="0">
              <a:solidFill>
                <a:schemeClr val="bg2"/>
              </a:solidFill>
              <a:latin typeface="Times New Roman"/>
              <a:ea typeface="Times New Roman"/>
            </a:endParaRPr>
          </a:p>
          <a:p>
            <a:pPr marL="342900" marR="0" lvl="0" indent="-342900" algn="just">
              <a:lnSpc>
                <a:spcPct val="150000"/>
              </a:lnSpc>
              <a:buSzPts val="1000"/>
              <a:buFont typeface="Symbol"/>
              <a:buChar char=""/>
              <a:tabLst>
                <a:tab pos="457200" algn="l"/>
              </a:tabLst>
            </a:pPr>
            <a:r>
              <a:rPr lang="en-IN" sz="2000" b="1" dirty="0" smtClean="0">
                <a:solidFill>
                  <a:schemeClr val="bg2"/>
                </a:solidFill>
                <a:latin typeface="Times New Roman"/>
                <a:ea typeface="Times New Roman"/>
              </a:rPr>
              <a:t>Capital Mobility</a:t>
            </a:r>
            <a:r>
              <a:rPr lang="en-IN" sz="2000" dirty="0" smtClean="0">
                <a:solidFill>
                  <a:schemeClr val="bg2"/>
                </a:solidFill>
                <a:latin typeface="Times New Roman"/>
                <a:ea typeface="Times New Roman"/>
              </a:rPr>
              <a:t>: Ease of cross-border investments and financial flows.</a:t>
            </a:r>
            <a:endParaRPr lang="en-US" sz="2000" dirty="0" smtClean="0">
              <a:solidFill>
                <a:schemeClr val="bg2"/>
              </a:solidFill>
              <a:latin typeface="Times New Roman"/>
              <a:ea typeface="Times New Roman"/>
            </a:endParaRPr>
          </a:p>
          <a:p>
            <a:pPr marL="342900" marR="0" lvl="0" indent="-342900" algn="just">
              <a:lnSpc>
                <a:spcPct val="150000"/>
              </a:lnSpc>
              <a:buSzPts val="1000"/>
              <a:buFont typeface="Symbol"/>
              <a:buChar char=""/>
              <a:tabLst>
                <a:tab pos="457200" algn="l"/>
              </a:tabLst>
            </a:pPr>
            <a:r>
              <a:rPr lang="en-IN" sz="2000" b="1" dirty="0" smtClean="0">
                <a:solidFill>
                  <a:schemeClr val="bg2"/>
                </a:solidFill>
                <a:latin typeface="Times New Roman"/>
                <a:ea typeface="Times New Roman"/>
              </a:rPr>
              <a:t>Global Institutions</a:t>
            </a:r>
            <a:r>
              <a:rPr lang="en-IN" sz="2000" dirty="0" smtClean="0">
                <a:solidFill>
                  <a:schemeClr val="bg2"/>
                </a:solidFill>
                <a:latin typeface="Times New Roman"/>
                <a:ea typeface="Times New Roman"/>
              </a:rPr>
              <a:t>: IMF, World Bank, WTO promoting cooperation.</a:t>
            </a:r>
            <a:endParaRPr lang="en-US" sz="2000" dirty="0" smtClean="0">
              <a:solidFill>
                <a:schemeClr val="bg2"/>
              </a:solidFill>
              <a:latin typeface="Times New Roman"/>
              <a:ea typeface="Times New Roman"/>
            </a:endParaRPr>
          </a:p>
          <a:p>
            <a:pPr marL="342900" marR="0" lvl="0" indent="-342900" algn="just">
              <a:lnSpc>
                <a:spcPct val="150000"/>
              </a:lnSpc>
              <a:buSzPts val="1000"/>
              <a:buFont typeface="Symbol"/>
              <a:buChar char=""/>
              <a:tabLst>
                <a:tab pos="457200" algn="l"/>
              </a:tabLst>
            </a:pPr>
            <a:r>
              <a:rPr lang="en-IN" sz="2000" b="1" dirty="0" smtClean="0">
                <a:solidFill>
                  <a:schemeClr val="bg2"/>
                </a:solidFill>
                <a:latin typeface="Times New Roman"/>
                <a:ea typeface="Times New Roman"/>
              </a:rPr>
              <a:t>Consumer Demand</a:t>
            </a:r>
            <a:r>
              <a:rPr lang="en-IN" sz="2000" dirty="0" smtClean="0">
                <a:solidFill>
                  <a:schemeClr val="bg2"/>
                </a:solidFill>
                <a:latin typeface="Times New Roman"/>
                <a:ea typeface="Times New Roman"/>
              </a:rPr>
              <a:t>: Rising middle classes worldwide seeking diverse products.</a:t>
            </a:r>
            <a:endParaRPr lang="en-US" sz="2000" dirty="0">
              <a:solidFill>
                <a:schemeClr val="bg2"/>
              </a:solidFill>
              <a:latin typeface="Times New Roman"/>
              <a:ea typeface="Times New Roman"/>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743200" y="3714750"/>
            <a:ext cx="5819400" cy="12856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3500" b="0" u="none" strike="noStrike" dirty="0">
                <a:solidFill>
                  <a:srgbClr val="7030A0"/>
                </a:solidFill>
                <a:effectLst/>
                <a:uFillTx/>
                <a:latin typeface="Ysabeau Office"/>
                <a:ea typeface="Ysabeau Office"/>
              </a:rPr>
              <a:t>Dimensions of Globalization</a:t>
            </a:r>
            <a:endParaRPr lang="fr-FR" sz="3500" b="0" u="none" strike="noStrike" dirty="0">
              <a:solidFill>
                <a:srgbClr val="7030A0"/>
              </a:solidFill>
              <a:effectLst/>
              <a:uFillTx/>
              <a:latin typeface="Arial"/>
            </a:endParaRPr>
          </a:p>
        </p:txBody>
      </p:sp>
      <p:sp>
        <p:nvSpPr>
          <p:cNvPr id="72" name="PlaceHolder 2"/>
          <p:cNvSpPr>
            <a:spLocks noGrp="1"/>
          </p:cNvSpPr>
          <p:nvPr>
            <p:ph type="subTitle"/>
          </p:nvPr>
        </p:nvSpPr>
        <p:spPr>
          <a:xfrm>
            <a:off x="495360" y="542880"/>
            <a:ext cx="7629120" cy="2867070"/>
          </a:xfrm>
          <a:prstGeom prst="rect">
            <a:avLst/>
          </a:prstGeom>
          <a:solidFill>
            <a:srgbClr val="00B0F0"/>
          </a:solidFill>
          <a:ln w="0">
            <a:noFill/>
          </a:ln>
        </p:spPr>
        <p:txBody>
          <a:bodyPr lIns="91440" tIns="91440" rIns="91440" bIns="91440" anchor="t">
            <a:noAutofit/>
          </a:bodyPr>
          <a:lstStyle/>
          <a:p>
            <a:pPr indent="0" algn="just">
              <a:lnSpc>
                <a:spcPct val="150000"/>
              </a:lnSpc>
              <a:buNone/>
              <a:tabLst>
                <a:tab pos="0" algn="l"/>
              </a:tabLst>
            </a:pPr>
            <a:r>
              <a:rPr lang="en-US" b="0" u="none" strike="noStrike" dirty="0">
                <a:solidFill>
                  <a:schemeClr val="dk2"/>
                </a:solidFill>
                <a:effectLst/>
                <a:uFillTx/>
                <a:latin typeface="Manjari"/>
                <a:ea typeface="Manjari"/>
              </a:rPr>
              <a:t>Globalization encompasses economic, cultural, political, and technological dimensions. Economic globalization involves trade and capital flow increases. Cultural globalization spreads ideas and lifestyles. Political globalization includes international agreements and organizations. Technological globalization drives innovation and connectivity, collectively transforming how businesses operate globally.</a:t>
            </a:r>
            <a:endParaRPr lang="en-US" b="0" u="none" strike="noStrike" dirty="0">
              <a:solidFill>
                <a:srgbClr val="000000"/>
              </a:solidFill>
              <a:effectLst/>
              <a:uFillTx/>
              <a:latin typeface="OpenSymbo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743200" y="4248150"/>
            <a:ext cx="5819400" cy="7522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3500" b="0" u="none" strike="noStrike" dirty="0">
                <a:solidFill>
                  <a:srgbClr val="7030A0"/>
                </a:solidFill>
                <a:effectLst/>
                <a:uFillTx/>
                <a:latin typeface="Ysabeau Office"/>
                <a:ea typeface="Ysabeau Office"/>
              </a:rPr>
              <a:t>Dimensions of Globalization</a:t>
            </a:r>
            <a:endParaRPr lang="fr-FR" sz="3500" b="0" u="none" strike="noStrike" dirty="0">
              <a:solidFill>
                <a:srgbClr val="7030A0"/>
              </a:solidFill>
              <a:effectLst/>
              <a:uFillTx/>
              <a:latin typeface="Arial"/>
            </a:endParaRPr>
          </a:p>
        </p:txBody>
      </p:sp>
      <p:sp>
        <p:nvSpPr>
          <p:cNvPr id="72" name="PlaceHolder 2"/>
          <p:cNvSpPr>
            <a:spLocks noGrp="1"/>
          </p:cNvSpPr>
          <p:nvPr>
            <p:ph type="subTitle"/>
          </p:nvPr>
        </p:nvSpPr>
        <p:spPr>
          <a:xfrm>
            <a:off x="495360" y="542880"/>
            <a:ext cx="7629120" cy="3476670"/>
          </a:xfrm>
          <a:prstGeom prst="rect">
            <a:avLst/>
          </a:prstGeom>
          <a:solidFill>
            <a:schemeClr val="tx2">
              <a:lumMod val="40000"/>
              <a:lumOff val="60000"/>
            </a:schemeClr>
          </a:solidFill>
          <a:ln w="0">
            <a:noFill/>
          </a:ln>
        </p:spPr>
        <p:txBody>
          <a:bodyPr lIns="91440" tIns="91440" rIns="91440" bIns="91440" anchor="t">
            <a:noAutofit/>
          </a:bodyPr>
          <a:lstStyle/>
          <a:p>
            <a:pPr lvl="0"/>
            <a:r>
              <a:rPr lang="en-IN" b="1" dirty="0"/>
              <a:t>Economic Globalization</a:t>
            </a:r>
            <a:r>
              <a:rPr lang="en-IN" dirty="0"/>
              <a:t>: Expansion of international trade, foreign direct investment, and global supply chains. </a:t>
            </a:r>
            <a:endParaRPr lang="en-US" dirty="0"/>
          </a:p>
          <a:p>
            <a:r>
              <a:rPr lang="en-IN" dirty="0"/>
              <a:t>Example: Apple designs in the U.S., manufactures in China, and sells worldwide.</a:t>
            </a:r>
            <a:endParaRPr lang="en-US" dirty="0"/>
          </a:p>
          <a:p>
            <a:pPr lvl="0"/>
            <a:r>
              <a:rPr lang="en-IN" b="1" dirty="0"/>
              <a:t>Cultural Globalization</a:t>
            </a:r>
            <a:r>
              <a:rPr lang="en-IN" dirty="0"/>
              <a:t>: Exchange of ideas, values, lifestyles, and cultural practices across nations.</a:t>
            </a:r>
            <a:endParaRPr lang="en-US" dirty="0"/>
          </a:p>
          <a:p>
            <a:r>
              <a:rPr lang="en-IN" dirty="0"/>
              <a:t> Example: </a:t>
            </a:r>
            <a:r>
              <a:rPr lang="en-IN" dirty="0" err="1"/>
              <a:t>Bollywood</a:t>
            </a:r>
            <a:r>
              <a:rPr lang="en-IN" dirty="0"/>
              <a:t> movies gaining popularity in Western countries.</a:t>
            </a:r>
            <a:endParaRPr lang="en-US" dirty="0"/>
          </a:p>
          <a:p>
            <a:pPr lvl="0"/>
            <a:endParaRPr lang="en-US" dirty="0"/>
          </a:p>
          <a:p>
            <a:pPr indent="0" algn="just">
              <a:lnSpc>
                <a:spcPct val="150000"/>
              </a:lnSpc>
              <a:buNone/>
              <a:tabLst>
                <a:tab pos="0" algn="l"/>
              </a:tabLst>
            </a:pPr>
            <a:endParaRPr lang="en-US" b="0" u="none" strike="noStrike" dirty="0">
              <a:solidFill>
                <a:srgbClr val="000000"/>
              </a:solidFill>
              <a:effectLst/>
              <a:uFillTx/>
              <a:latin typeface="OpenSymbo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743200" y="4248150"/>
            <a:ext cx="5819400" cy="7522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3500" b="0" u="none" strike="noStrike" dirty="0">
                <a:solidFill>
                  <a:srgbClr val="7030A0"/>
                </a:solidFill>
                <a:effectLst/>
                <a:uFillTx/>
                <a:latin typeface="Ysabeau Office"/>
                <a:ea typeface="Ysabeau Office"/>
              </a:rPr>
              <a:t>Dimensions of Globalization</a:t>
            </a:r>
            <a:endParaRPr lang="fr-FR" sz="3500" b="0" u="none" strike="noStrike" dirty="0">
              <a:solidFill>
                <a:srgbClr val="7030A0"/>
              </a:solidFill>
              <a:effectLst/>
              <a:uFillTx/>
              <a:latin typeface="Arial"/>
            </a:endParaRPr>
          </a:p>
        </p:txBody>
      </p:sp>
      <p:sp>
        <p:nvSpPr>
          <p:cNvPr id="72" name="PlaceHolder 2"/>
          <p:cNvSpPr>
            <a:spLocks noGrp="1"/>
          </p:cNvSpPr>
          <p:nvPr>
            <p:ph type="subTitle"/>
          </p:nvPr>
        </p:nvSpPr>
        <p:spPr>
          <a:xfrm>
            <a:off x="495360" y="542880"/>
            <a:ext cx="7629120" cy="3476670"/>
          </a:xfrm>
          <a:prstGeom prst="rect">
            <a:avLst/>
          </a:prstGeom>
          <a:solidFill>
            <a:schemeClr val="tx2">
              <a:lumMod val="40000"/>
              <a:lumOff val="60000"/>
            </a:schemeClr>
          </a:solidFill>
          <a:ln w="0">
            <a:noFill/>
          </a:ln>
        </p:spPr>
        <p:txBody>
          <a:bodyPr lIns="91440" tIns="91440" rIns="91440" bIns="91440" anchor="t">
            <a:noAutofit/>
          </a:bodyPr>
          <a:lstStyle/>
          <a:p>
            <a:pPr lvl="0" algn="just"/>
            <a:r>
              <a:rPr lang="en-IN" sz="2000" b="1" dirty="0" smtClean="0"/>
              <a:t>Technological </a:t>
            </a:r>
            <a:r>
              <a:rPr lang="en-IN" sz="2000" b="1" dirty="0"/>
              <a:t>Globalization</a:t>
            </a:r>
            <a:r>
              <a:rPr lang="en-IN" sz="2000" dirty="0"/>
              <a:t>: Spread of innovations like the internet, AI, and digital platforms.</a:t>
            </a:r>
            <a:endParaRPr lang="en-US" sz="2000" dirty="0"/>
          </a:p>
          <a:p>
            <a:pPr algn="just"/>
            <a:r>
              <a:rPr lang="en-IN" sz="2000" dirty="0"/>
              <a:t> Example: Social media platforms like </a:t>
            </a:r>
            <a:r>
              <a:rPr lang="en-IN" sz="2000" dirty="0" err="1"/>
              <a:t>Instagram</a:t>
            </a:r>
            <a:r>
              <a:rPr lang="en-IN" sz="2000" dirty="0"/>
              <a:t> and </a:t>
            </a:r>
            <a:r>
              <a:rPr lang="en-IN" sz="2000" dirty="0" err="1"/>
              <a:t>TikTok</a:t>
            </a:r>
            <a:r>
              <a:rPr lang="en-IN" sz="2000" dirty="0"/>
              <a:t> connecting billions globally.</a:t>
            </a:r>
            <a:endParaRPr lang="en-US" sz="2000" dirty="0"/>
          </a:p>
          <a:p>
            <a:pPr lvl="0" algn="just"/>
            <a:r>
              <a:rPr lang="en-IN" sz="2000" b="1" dirty="0"/>
              <a:t>Political Globalization</a:t>
            </a:r>
            <a:r>
              <a:rPr lang="en-IN" sz="2000" dirty="0"/>
              <a:t>: Cooperation among nations through institutions like the UN, WTO, and IMF. </a:t>
            </a:r>
            <a:endParaRPr lang="en-US" sz="2000" dirty="0"/>
          </a:p>
          <a:p>
            <a:pPr algn="just"/>
            <a:r>
              <a:rPr lang="en-IN" sz="2000" dirty="0"/>
              <a:t>Example: The Paris Climate Agreement bringing countries together to address global warming.</a:t>
            </a:r>
            <a:endParaRPr lang="en-US" sz="2000" dirty="0"/>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00000"/>
              </a:lnSpc>
              <a:tabLst>
                <a:tab pos="0" algn="l"/>
              </a:tabLst>
            </a:pPr>
            <a:r>
              <a:rPr lang="en-US" sz="3000" b="0" u="none" strike="noStrike" dirty="0">
                <a:solidFill>
                  <a:schemeClr val="dk2"/>
                </a:solidFill>
                <a:effectLst/>
                <a:uFillTx/>
                <a:latin typeface="Ysabeau Office"/>
              </a:rPr>
              <a:t>Differences Between Domestic and International Business</a:t>
            </a:r>
            <a:endParaRPr lang="en-US" sz="3000" b="0" u="none" strike="noStrike" dirty="0">
              <a:solidFill>
                <a:srgbClr val="000000"/>
              </a:solidFill>
              <a:effectLst/>
              <a:uFillTx/>
              <a:latin typeface="OpenSymbol"/>
            </a:endParaRPr>
          </a:p>
        </p:txBody>
      </p:sp>
      <p:sp>
        <p:nvSpPr>
          <p:cNvPr id="74" name="Rectangle 73"/>
          <p:cNvSpPr/>
          <p:nvPr/>
        </p:nvSpPr>
        <p:spPr>
          <a:xfrm>
            <a:off x="476280" y="1581150"/>
            <a:ext cx="3619080" cy="308589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just" defTabSz="914400">
              <a:lnSpc>
                <a:spcPct val="150000"/>
              </a:lnSpc>
              <a:tabLst>
                <a:tab pos="0" algn="l"/>
              </a:tabLst>
            </a:pPr>
            <a:r>
              <a:rPr lang="en-US" sz="1400" b="0" u="none" strike="noStrike" dirty="0">
                <a:solidFill>
                  <a:schemeClr val="dk2"/>
                </a:solidFill>
                <a:effectLst/>
                <a:uFillTx/>
                <a:latin typeface="Manjari"/>
              </a:rPr>
              <a:t>Domestic business operates within one country, focusing on local markets and regulations. In contrast, international business deals with multiple countries, requiring navigation of diverse legal systems, currencies, and cultures. International business faces greater complexity, risks, and opportunities due to globalizations dynamic environment and cross-border challenges.</a:t>
            </a:r>
            <a:endParaRPr lang="en-US" sz="1400" b="0" u="none" strike="noStrike" dirty="0">
              <a:solidFill>
                <a:srgbClr val="000000"/>
              </a:solidFill>
              <a:effectLst/>
              <a:uFillTx/>
              <a:latin typeface="OpenSymbol"/>
            </a:endParaRPr>
          </a:p>
        </p:txBody>
      </p:sp>
      <p:pic>
        <p:nvPicPr>
          <p:cNvPr id="75" name="image69a917c9c0e44" descr="image69a917c9c0e49"/>
          <p:cNvPicPr/>
          <p:nvPr/>
        </p:nvPicPr>
        <p:blipFill>
          <a:blip r:embed="rId2"/>
          <a:stretch/>
        </p:blipFill>
        <p:spPr>
          <a:xfrm>
            <a:off x="4572000" y="0"/>
            <a:ext cx="4571640" cy="5143320"/>
          </a:xfrm>
          <a:prstGeom prst="rect">
            <a:avLst/>
          </a:prstGeom>
          <a:noFill/>
          <a:ln w="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International Organizations Overview by Slidesgo">
  <a:themeElements>
    <a:clrScheme name="Simple Light">
      <a:dk1>
        <a:srgbClr val="FCFCFC"/>
      </a:dk1>
      <a:lt1>
        <a:srgbClr val="FAF7F6"/>
      </a:lt1>
      <a:dk2>
        <a:srgbClr val="191919"/>
      </a:dk2>
      <a:lt2>
        <a:srgbClr val="6D6D6D"/>
      </a:lt2>
      <a:accent1>
        <a:srgbClr val="E2E2E2"/>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TotalTime>
  <Words>1012</Words>
  <Application>LibreOffice/25.2.4.3$Linux_X86_64 LibreOffice_project/520$Build-3</Application>
  <PresentationFormat>On-screen Show (16:9)</PresentationFormat>
  <Paragraphs>71</Paragraphs>
  <Slides>17</Slides>
  <Notes>0</Notes>
  <HiddenSlides>0</HiddenSlides>
  <MMClips>0</MMClip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International Organizations Overview by Slidesgo</vt:lpstr>
      <vt:lpstr>Slidesgo Final Pages</vt:lpstr>
      <vt:lpstr>     MODULE-1</vt:lpstr>
      <vt:lpstr>Slide 2</vt:lpstr>
      <vt:lpstr>Slide 3</vt:lpstr>
      <vt:lpstr>Slide 4</vt:lpstr>
      <vt:lpstr>Slide 5</vt:lpstr>
      <vt:lpstr>Importance of International Business</vt:lpstr>
      <vt:lpstr>Importance of International Business</vt:lpstr>
      <vt:lpstr>Importance of International Business</vt:lpstr>
      <vt:lpstr>Importance of International Business</vt:lpstr>
      <vt:lpstr>Importance of International Business</vt:lpstr>
      <vt:lpstr>Examples of International Business Activities</vt:lpstr>
      <vt:lpstr>Slide 12</vt:lpstr>
      <vt:lpstr>Slide 13</vt:lpstr>
      <vt:lpstr>Dimensions of Globalization</vt:lpstr>
      <vt:lpstr>Dimensions of Globalization</vt:lpstr>
      <vt:lpstr>Dimensions of Globalization</vt:lpstr>
      <vt:lpstr>Slide 17</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MODULE-1</dc:title>
  <cp:lastModifiedBy>Windows User</cp:lastModifiedBy>
  <cp:revision>17</cp:revision>
  <dcterms:modified xsi:type="dcterms:W3CDTF">2026-03-11T05:53:58Z</dcterms:modified>
</cp:coreProperties>
</file>

<file path=docProps/core1.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2026-03-05T05:42:25Z</dcterms:created>
  <dc:creator>Unknown Creator</dc:creator>
  <dc:description/>
  <dc:language>en-US</dc:language>
  <cp:lastModifiedBy>Unknown Creator</cp:lastModifiedBy>
  <dcterms:modified xsi:type="dcterms:W3CDTF">2026-03-05T05:42:25Z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