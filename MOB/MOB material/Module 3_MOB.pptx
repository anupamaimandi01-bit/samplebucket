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4" r:id="rId18"/>
    <p:sldId id="273" r:id="rId19"/>
    <p:sldId id="276" r:id="rId20"/>
    <p:sldId id="275" r:id="rId21"/>
    <p:sldId id="277" r:id="rId22"/>
    <p:sldId id="278" r:id="rId23"/>
    <p:sldId id="280" r:id="rId24"/>
    <p:sldId id="281" r:id="rId25"/>
    <p:sldId id="279" r:id="rId26"/>
    <p:sldId id="282" r:id="rId27"/>
    <p:sldId id="287" r:id="rId28"/>
    <p:sldId id="288" r:id="rId29"/>
    <p:sldId id="283" r:id="rId30"/>
    <p:sldId id="284" r:id="rId31"/>
    <p:sldId id="285" r:id="rId32"/>
    <p:sldId id="286" r:id="rId33"/>
    <p:sldId id="289" r:id="rId34"/>
    <p:sldId id="290" r:id="rId35"/>
    <p:sldId id="291" r:id="rId36"/>
    <p:sldId id="292" r:id="rId37"/>
    <p:sldId id="293"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76" d="100"/>
          <a:sy n="76" d="100"/>
        </p:scale>
        <p:origin x="62" y="10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4B75D5-3C34-42C2-AA33-1AFFDCB38F7A}"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0226D5-9815-45BE-A57E-1F05AAAE5617}" type="slidenum">
              <a:rPr lang="en-IN" smtClean="0"/>
              <a:t>‹#›</a:t>
            </a:fld>
            <a:endParaRPr lang="en-IN"/>
          </a:p>
        </p:txBody>
      </p:sp>
    </p:spTree>
    <p:extLst>
      <p:ext uri="{BB962C8B-B14F-4D97-AF65-F5344CB8AC3E}">
        <p14:creationId xmlns:p14="http://schemas.microsoft.com/office/powerpoint/2010/main" val="1127494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4B75D5-3C34-42C2-AA33-1AFFDCB38F7A}"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0226D5-9815-45BE-A57E-1F05AAAE5617}" type="slidenum">
              <a:rPr lang="en-IN" smtClean="0"/>
              <a:t>‹#›</a:t>
            </a:fld>
            <a:endParaRPr lang="en-IN"/>
          </a:p>
        </p:txBody>
      </p:sp>
    </p:spTree>
    <p:extLst>
      <p:ext uri="{BB962C8B-B14F-4D97-AF65-F5344CB8AC3E}">
        <p14:creationId xmlns:p14="http://schemas.microsoft.com/office/powerpoint/2010/main" val="827936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4B75D5-3C34-42C2-AA33-1AFFDCB38F7A}"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0226D5-9815-45BE-A57E-1F05AAAE5617}" type="slidenum">
              <a:rPr lang="en-IN" smtClean="0"/>
              <a:t>‹#›</a:t>
            </a:fld>
            <a:endParaRPr lang="en-IN"/>
          </a:p>
        </p:txBody>
      </p:sp>
    </p:spTree>
    <p:extLst>
      <p:ext uri="{BB962C8B-B14F-4D97-AF65-F5344CB8AC3E}">
        <p14:creationId xmlns:p14="http://schemas.microsoft.com/office/powerpoint/2010/main" val="2646231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B75D5-3C34-42C2-AA33-1AFFDCB38F7A}" type="datetimeFigureOut">
              <a:rPr lang="en-IN" smtClean="0"/>
              <a:t>15-03-2026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0226D5-9815-45BE-A57E-1F05AAAE5617}" type="slidenum">
              <a:rPr lang="en-IN" smtClean="0"/>
              <a:t>‹#›</a:t>
            </a:fld>
            <a:endParaRPr lang="en-IN"/>
          </a:p>
        </p:txBody>
      </p:sp>
    </p:spTree>
    <p:extLst>
      <p:ext uri="{BB962C8B-B14F-4D97-AF65-F5344CB8AC3E}">
        <p14:creationId xmlns:p14="http://schemas.microsoft.com/office/powerpoint/2010/main" val="265991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4B75D5-3C34-42C2-AA33-1AFFDCB38F7A}" type="datetimeFigureOut">
              <a:rPr lang="en-IN" smtClean="0"/>
              <a:t>15-03-2026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0226D5-9815-45BE-A57E-1F05AAAE5617}" type="slidenum">
              <a:rPr lang="en-IN" smtClean="0"/>
              <a:t>‹#›</a:t>
            </a:fld>
            <a:endParaRPr lang="en-IN"/>
          </a:p>
        </p:txBody>
      </p:sp>
    </p:spTree>
    <p:extLst>
      <p:ext uri="{BB962C8B-B14F-4D97-AF65-F5344CB8AC3E}">
        <p14:creationId xmlns:p14="http://schemas.microsoft.com/office/powerpoint/2010/main" val="632951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54B75D5-3C34-42C2-AA33-1AFFDCB38F7A}" type="datetimeFigureOut">
              <a:rPr lang="en-IN" smtClean="0"/>
              <a:t>15-03-2026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0226D5-9815-45BE-A57E-1F05AAAE5617}" type="slidenum">
              <a:rPr lang="en-IN" smtClean="0"/>
              <a:t>‹#›</a:t>
            </a:fld>
            <a:endParaRPr lang="en-IN"/>
          </a:p>
        </p:txBody>
      </p:sp>
    </p:spTree>
    <p:extLst>
      <p:ext uri="{BB962C8B-B14F-4D97-AF65-F5344CB8AC3E}">
        <p14:creationId xmlns:p14="http://schemas.microsoft.com/office/powerpoint/2010/main" val="3840205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4B75D5-3C34-42C2-AA33-1AFFDCB38F7A}" type="datetimeFigureOut">
              <a:rPr lang="en-IN" smtClean="0"/>
              <a:t>15-03-2026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0226D5-9815-45BE-A57E-1F05AAAE5617}" type="slidenum">
              <a:rPr lang="en-IN" smtClean="0"/>
              <a:t>‹#›</a:t>
            </a:fld>
            <a:endParaRPr lang="en-IN"/>
          </a:p>
        </p:txBody>
      </p:sp>
    </p:spTree>
    <p:extLst>
      <p:ext uri="{BB962C8B-B14F-4D97-AF65-F5344CB8AC3E}">
        <p14:creationId xmlns:p14="http://schemas.microsoft.com/office/powerpoint/2010/main" val="3849705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4B75D5-3C34-42C2-AA33-1AFFDCB38F7A}" type="datetimeFigureOut">
              <a:rPr lang="en-IN" smtClean="0"/>
              <a:t>15-03-2026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0226D5-9815-45BE-A57E-1F05AAAE5617}" type="slidenum">
              <a:rPr lang="en-IN" smtClean="0"/>
              <a:t>‹#›</a:t>
            </a:fld>
            <a:endParaRPr lang="en-IN"/>
          </a:p>
        </p:txBody>
      </p:sp>
    </p:spTree>
    <p:extLst>
      <p:ext uri="{BB962C8B-B14F-4D97-AF65-F5344CB8AC3E}">
        <p14:creationId xmlns:p14="http://schemas.microsoft.com/office/powerpoint/2010/main" val="1798335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4B75D5-3C34-42C2-AA33-1AFFDCB38F7A}" type="datetimeFigureOut">
              <a:rPr lang="en-IN" smtClean="0"/>
              <a:t>15-03-2026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0226D5-9815-45BE-A57E-1F05AAAE5617}" type="slidenum">
              <a:rPr lang="en-IN" smtClean="0"/>
              <a:t>‹#›</a:t>
            </a:fld>
            <a:endParaRPr lang="en-IN"/>
          </a:p>
        </p:txBody>
      </p:sp>
    </p:spTree>
    <p:extLst>
      <p:ext uri="{BB962C8B-B14F-4D97-AF65-F5344CB8AC3E}">
        <p14:creationId xmlns:p14="http://schemas.microsoft.com/office/powerpoint/2010/main" val="1614278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4B75D5-3C34-42C2-AA33-1AFFDCB38F7A}"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0226D5-9815-45BE-A57E-1F05AAAE5617}" type="slidenum">
              <a:rPr lang="en-IN" smtClean="0"/>
              <a:t>‹#›</a:t>
            </a:fld>
            <a:endParaRPr lang="en-IN"/>
          </a:p>
        </p:txBody>
      </p:sp>
    </p:spTree>
    <p:extLst>
      <p:ext uri="{BB962C8B-B14F-4D97-AF65-F5344CB8AC3E}">
        <p14:creationId xmlns:p14="http://schemas.microsoft.com/office/powerpoint/2010/main" val="1766332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4B75D5-3C34-42C2-AA33-1AFFDCB38F7A}"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0226D5-9815-45BE-A57E-1F05AAAE5617}"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51313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4B75D5-3C34-42C2-AA33-1AFFDCB38F7A}"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0226D5-9815-45BE-A57E-1F05AAAE5617}" type="slidenum">
              <a:rPr lang="en-IN" smtClean="0"/>
              <a:t>‹#›</a:t>
            </a:fld>
            <a:endParaRPr lang="en-IN"/>
          </a:p>
        </p:txBody>
      </p:sp>
    </p:spTree>
    <p:extLst>
      <p:ext uri="{BB962C8B-B14F-4D97-AF65-F5344CB8AC3E}">
        <p14:creationId xmlns:p14="http://schemas.microsoft.com/office/powerpoint/2010/main" val="741191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4B75D5-3C34-42C2-AA33-1AFFDCB38F7A}"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0226D5-9815-45BE-A57E-1F05AAAE5617}"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77136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4B75D5-3C34-42C2-AA33-1AFFDCB38F7A}"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0226D5-9815-45BE-A57E-1F05AAAE5617}" type="slidenum">
              <a:rPr lang="en-IN" smtClean="0"/>
              <a:t>‹#›</a:t>
            </a:fld>
            <a:endParaRPr lang="en-IN"/>
          </a:p>
        </p:txBody>
      </p:sp>
    </p:spTree>
    <p:extLst>
      <p:ext uri="{BB962C8B-B14F-4D97-AF65-F5344CB8AC3E}">
        <p14:creationId xmlns:p14="http://schemas.microsoft.com/office/powerpoint/2010/main" val="3000974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4B75D5-3C34-42C2-AA33-1AFFDCB38F7A}"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0226D5-9815-45BE-A57E-1F05AAAE5617}" type="slidenum">
              <a:rPr lang="en-IN" smtClean="0"/>
              <a:t>‹#›</a:t>
            </a:fld>
            <a:endParaRPr lang="en-IN"/>
          </a:p>
        </p:txBody>
      </p:sp>
    </p:spTree>
    <p:extLst>
      <p:ext uri="{BB962C8B-B14F-4D97-AF65-F5344CB8AC3E}">
        <p14:creationId xmlns:p14="http://schemas.microsoft.com/office/powerpoint/2010/main" val="932838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4B75D5-3C34-42C2-AA33-1AFFDCB38F7A}"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0226D5-9815-45BE-A57E-1F05AAAE5617}" type="slidenum">
              <a:rPr lang="en-IN" smtClean="0"/>
              <a:t>‹#›</a:t>
            </a:fld>
            <a:endParaRPr lang="en-IN"/>
          </a:p>
        </p:txBody>
      </p:sp>
    </p:spTree>
    <p:extLst>
      <p:ext uri="{BB962C8B-B14F-4D97-AF65-F5344CB8AC3E}">
        <p14:creationId xmlns:p14="http://schemas.microsoft.com/office/powerpoint/2010/main" val="1488743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54B75D5-3C34-42C2-AA33-1AFFDCB38F7A}" type="datetimeFigureOut">
              <a:rPr lang="en-IN" smtClean="0"/>
              <a:t>15-03-2026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60226D5-9815-45BE-A57E-1F05AAAE5617}" type="slidenum">
              <a:rPr lang="en-IN" smtClean="0"/>
              <a:t>‹#›</a:t>
            </a:fld>
            <a:endParaRPr lang="en-IN"/>
          </a:p>
        </p:txBody>
      </p:sp>
    </p:spTree>
    <p:extLst>
      <p:ext uri="{BB962C8B-B14F-4D97-AF65-F5344CB8AC3E}">
        <p14:creationId xmlns:p14="http://schemas.microsoft.com/office/powerpoint/2010/main" val="2608819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3B5EC-CBD9-483E-2DAA-E9B4532F0E50}"/>
              </a:ext>
            </a:extLst>
          </p:cNvPr>
          <p:cNvSpPr>
            <a:spLocks noGrp="1"/>
          </p:cNvSpPr>
          <p:nvPr>
            <p:ph type="ctrTitle"/>
          </p:nvPr>
        </p:nvSpPr>
        <p:spPr/>
        <p:txBody>
          <a:bodyPr>
            <a:normAutofit fontScale="90000"/>
          </a:bodyPr>
          <a:lstStyle/>
          <a:p>
            <a:pPr algn="ctr"/>
            <a:r>
              <a:rPr lang="en-US" b="1" dirty="0"/>
              <a:t>Individual Behavior and Motivation</a:t>
            </a:r>
            <a:br>
              <a:rPr lang="en-IN" dirty="0"/>
            </a:br>
            <a:endParaRPr lang="en-IN" dirty="0"/>
          </a:p>
        </p:txBody>
      </p:sp>
      <p:sp>
        <p:nvSpPr>
          <p:cNvPr id="3" name="Subtitle 2">
            <a:extLst>
              <a:ext uri="{FF2B5EF4-FFF2-40B4-BE49-F238E27FC236}">
                <a16:creationId xmlns:a16="http://schemas.microsoft.com/office/drawing/2014/main" id="{DD75978D-6DBC-2DC7-B57E-B05C907F736A}"/>
              </a:ext>
            </a:extLst>
          </p:cNvPr>
          <p:cNvSpPr>
            <a:spLocks noGrp="1"/>
          </p:cNvSpPr>
          <p:nvPr>
            <p:ph type="subTitle" idx="1"/>
          </p:nvPr>
        </p:nvSpPr>
        <p:spPr/>
        <p:txBody>
          <a:bodyPr>
            <a:normAutofit/>
          </a:bodyPr>
          <a:lstStyle/>
          <a:p>
            <a:pPr algn="ctr"/>
            <a:r>
              <a:rPr lang="en-US" sz="3000" b="1" dirty="0"/>
              <a:t>MODULE 3</a:t>
            </a:r>
            <a:endParaRPr lang="en-IN" sz="3000" b="1" dirty="0"/>
          </a:p>
        </p:txBody>
      </p:sp>
    </p:spTree>
    <p:extLst>
      <p:ext uri="{BB962C8B-B14F-4D97-AF65-F5344CB8AC3E}">
        <p14:creationId xmlns:p14="http://schemas.microsoft.com/office/powerpoint/2010/main" val="1508211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FE900-59E0-C34F-3990-5303AA3500D4}"/>
              </a:ext>
            </a:extLst>
          </p:cNvPr>
          <p:cNvSpPr>
            <a:spLocks noGrp="1"/>
          </p:cNvSpPr>
          <p:nvPr>
            <p:ph type="title"/>
          </p:nvPr>
        </p:nvSpPr>
        <p:spPr/>
        <p:txBody>
          <a:bodyPr/>
          <a:lstStyle/>
          <a:p>
            <a:r>
              <a:rPr lang="en-US" dirty="0"/>
              <a:t>Understanding individual behavior</a:t>
            </a:r>
            <a:endParaRPr lang="en-IN" dirty="0"/>
          </a:p>
        </p:txBody>
      </p:sp>
      <p:sp>
        <p:nvSpPr>
          <p:cNvPr id="3" name="Content Placeholder 2">
            <a:extLst>
              <a:ext uri="{FF2B5EF4-FFF2-40B4-BE49-F238E27FC236}">
                <a16:creationId xmlns:a16="http://schemas.microsoft.com/office/drawing/2014/main" id="{A8CC153D-FF35-E86D-20DB-B5CADF40AAE4}"/>
              </a:ext>
            </a:extLst>
          </p:cNvPr>
          <p:cNvSpPr>
            <a:spLocks noGrp="1"/>
          </p:cNvSpPr>
          <p:nvPr>
            <p:ph idx="1"/>
          </p:nvPr>
        </p:nvSpPr>
        <p:spPr/>
        <p:txBody>
          <a:bodyPr>
            <a:normAutofit/>
          </a:bodyPr>
          <a:lstStyle/>
          <a:p>
            <a:pPr algn="just"/>
            <a:r>
              <a:rPr lang="en-US" b="1" dirty="0">
                <a:latin typeface="Times New Roman" panose="02020603050405020304" pitchFamily="18" charset="0"/>
                <a:cs typeface="Times New Roman" panose="02020603050405020304" pitchFamily="18" charset="0"/>
              </a:rPr>
              <a:t>What is Perception:</a:t>
            </a:r>
          </a:p>
          <a:p>
            <a:pPr lvl="1"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Perception in organizational behaviour refers to the process through which individuals interpret and make sense of their environment, including people, events, and situations within the workplace</a:t>
            </a:r>
            <a:r>
              <a:rPr lang="en-IN" sz="1800" b="1"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It involves selecting, organizing, and interpreting sensory information to form mental representations or perceptions</a:t>
            </a:r>
          </a:p>
        </p:txBody>
      </p:sp>
    </p:spTree>
    <p:extLst>
      <p:ext uri="{BB962C8B-B14F-4D97-AF65-F5344CB8AC3E}">
        <p14:creationId xmlns:p14="http://schemas.microsoft.com/office/powerpoint/2010/main" val="2599459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CB1AE-6DF7-7FAC-0467-0EAE19DC3EED}"/>
              </a:ext>
            </a:extLst>
          </p:cNvPr>
          <p:cNvSpPr>
            <a:spLocks noGrp="1"/>
          </p:cNvSpPr>
          <p:nvPr>
            <p:ph type="title"/>
          </p:nvPr>
        </p:nvSpPr>
        <p:spPr/>
        <p:txBody>
          <a:bodyPr/>
          <a:lstStyle/>
          <a:p>
            <a:r>
              <a:rPr lang="en-US" dirty="0"/>
              <a:t>Perceptual Process</a:t>
            </a:r>
            <a:endParaRPr lang="en-IN" dirty="0"/>
          </a:p>
        </p:txBody>
      </p:sp>
      <p:pic>
        <p:nvPicPr>
          <p:cNvPr id="5" name="Content Placeholder 4">
            <a:extLst>
              <a:ext uri="{FF2B5EF4-FFF2-40B4-BE49-F238E27FC236}">
                <a16:creationId xmlns:a16="http://schemas.microsoft.com/office/drawing/2014/main" id="{0BFD44B4-36D1-2301-47E0-910A632A4202}"/>
              </a:ext>
            </a:extLst>
          </p:cNvPr>
          <p:cNvPicPr>
            <a:picLocks noGrp="1" noChangeAspect="1"/>
          </p:cNvPicPr>
          <p:nvPr>
            <p:ph idx="1"/>
          </p:nvPr>
        </p:nvPicPr>
        <p:blipFill>
          <a:blip r:embed="rId2"/>
          <a:stretch>
            <a:fillRect/>
          </a:stretch>
        </p:blipFill>
        <p:spPr>
          <a:xfrm>
            <a:off x="1691148" y="1270000"/>
            <a:ext cx="5649047" cy="5323558"/>
          </a:xfrm>
          <a:prstGeom prst="rect">
            <a:avLst/>
          </a:prstGeom>
        </p:spPr>
      </p:pic>
    </p:spTree>
    <p:extLst>
      <p:ext uri="{BB962C8B-B14F-4D97-AF65-F5344CB8AC3E}">
        <p14:creationId xmlns:p14="http://schemas.microsoft.com/office/powerpoint/2010/main" val="1618761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0088-3BF7-BC64-E27A-E3D1573548FD}"/>
              </a:ext>
            </a:extLst>
          </p:cNvPr>
          <p:cNvSpPr>
            <a:spLocks noGrp="1"/>
          </p:cNvSpPr>
          <p:nvPr>
            <p:ph type="title"/>
          </p:nvPr>
        </p:nvSpPr>
        <p:spPr/>
        <p:txBody>
          <a:bodyPr/>
          <a:lstStyle/>
          <a:p>
            <a:r>
              <a:rPr lang="en-US" dirty="0"/>
              <a:t>Perceptual Process</a:t>
            </a:r>
            <a:endParaRPr lang="en-IN" dirty="0"/>
          </a:p>
        </p:txBody>
      </p:sp>
      <p:sp>
        <p:nvSpPr>
          <p:cNvPr id="3" name="Content Placeholder 2">
            <a:extLst>
              <a:ext uri="{FF2B5EF4-FFF2-40B4-BE49-F238E27FC236}">
                <a16:creationId xmlns:a16="http://schemas.microsoft.com/office/drawing/2014/main" id="{5A09C2DA-5EA2-4902-3714-05ADC404684C}"/>
              </a:ext>
            </a:extLst>
          </p:cNvPr>
          <p:cNvSpPr>
            <a:spLocks noGrp="1"/>
          </p:cNvSpPr>
          <p:nvPr>
            <p:ph idx="1"/>
          </p:nvPr>
        </p:nvSpPr>
        <p:spPr/>
        <p:txBody>
          <a:bodyPr>
            <a:normAutofit/>
          </a:bodyPr>
          <a:lstStyle/>
          <a:p>
            <a:pPr algn="just"/>
            <a:r>
              <a:rPr lang="en-US" b="1" dirty="0">
                <a:latin typeface="Times New Roman" panose="02020603050405020304" pitchFamily="18" charset="0"/>
                <a:cs typeface="Times New Roman" panose="02020603050405020304" pitchFamily="18" charset="0"/>
              </a:rPr>
              <a:t>Selection</a:t>
            </a:r>
          </a:p>
          <a:p>
            <a:pPr lvl="1" algn="just"/>
            <a:r>
              <a:rPr lang="en-US" sz="1800" dirty="0">
                <a:latin typeface="Times New Roman" panose="02020603050405020304" pitchFamily="18" charset="0"/>
                <a:cs typeface="Times New Roman" panose="02020603050405020304" pitchFamily="18" charset="0"/>
              </a:rPr>
              <a:t>Individuals selectively attend to certain stimuli in their environment while ignoring others based on factors such as relevance, salience, and familiarity. In the workplace, employees may prioritize information related to their job responsibilities, goals, and interests.</a:t>
            </a:r>
          </a:p>
          <a:p>
            <a:pPr algn="just"/>
            <a:r>
              <a:rPr lang="en-US" b="1" dirty="0">
                <a:latin typeface="Times New Roman" panose="02020603050405020304" pitchFamily="18" charset="0"/>
                <a:cs typeface="Times New Roman" panose="02020603050405020304" pitchFamily="18" charset="0"/>
              </a:rPr>
              <a:t>Organization</a:t>
            </a:r>
          </a:p>
          <a:p>
            <a:pPr lvl="1" algn="just"/>
            <a:r>
              <a:rPr lang="en-US" sz="1800" dirty="0">
                <a:latin typeface="Times New Roman" panose="02020603050405020304" pitchFamily="18" charset="0"/>
                <a:cs typeface="Times New Roman" panose="02020603050405020304" pitchFamily="18" charset="0"/>
              </a:rPr>
              <a:t>Selected stimuli are organized and categorized into meaningful patterns or schemas based on pre-existing knowledge, experiences, and cultural norms.</a:t>
            </a:r>
          </a:p>
          <a:p>
            <a:pPr lvl="1" algn="just"/>
            <a:r>
              <a:rPr lang="en-US" sz="1800" dirty="0">
                <a:latin typeface="Times New Roman" panose="02020603050405020304" pitchFamily="18" charset="0"/>
                <a:cs typeface="Times New Roman" panose="02020603050405020304" pitchFamily="18" charset="0"/>
              </a:rPr>
              <a:t>For example, employees may categorize colleagues as friendly or competitive based on past interactions and social cues.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587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DA7F-1786-5E73-716F-1FC4798C8819}"/>
              </a:ext>
            </a:extLst>
          </p:cNvPr>
          <p:cNvSpPr>
            <a:spLocks noGrp="1"/>
          </p:cNvSpPr>
          <p:nvPr>
            <p:ph type="title"/>
          </p:nvPr>
        </p:nvSpPr>
        <p:spPr/>
        <p:txBody>
          <a:bodyPr/>
          <a:lstStyle/>
          <a:p>
            <a:r>
              <a:rPr lang="en-US" dirty="0"/>
              <a:t>Perceptual Process</a:t>
            </a:r>
            <a:endParaRPr lang="en-IN" dirty="0"/>
          </a:p>
        </p:txBody>
      </p:sp>
      <p:sp>
        <p:nvSpPr>
          <p:cNvPr id="3" name="Content Placeholder 2">
            <a:extLst>
              <a:ext uri="{FF2B5EF4-FFF2-40B4-BE49-F238E27FC236}">
                <a16:creationId xmlns:a16="http://schemas.microsoft.com/office/drawing/2014/main" id="{74461D26-BA33-3272-DE15-F30A26B0CEF1}"/>
              </a:ext>
            </a:extLst>
          </p:cNvPr>
          <p:cNvSpPr>
            <a:spLocks noGrp="1"/>
          </p:cNvSpPr>
          <p:nvPr>
            <p:ph idx="1"/>
          </p:nvPr>
        </p:nvSpPr>
        <p:spPr/>
        <p:txBody>
          <a:bodyPr>
            <a:noAutofit/>
          </a:bodyPr>
          <a:lstStyle/>
          <a:p>
            <a:pPr algn="just"/>
            <a:r>
              <a:rPr lang="en-US" b="1" dirty="0">
                <a:latin typeface="Times New Roman" panose="02020603050405020304" pitchFamily="18" charset="0"/>
                <a:cs typeface="Times New Roman" panose="02020603050405020304" pitchFamily="18" charset="0"/>
              </a:rPr>
              <a:t>Interpretation</a:t>
            </a:r>
          </a:p>
          <a:p>
            <a:pPr lvl="1" algn="just"/>
            <a:r>
              <a:rPr lang="en-US" sz="1800" dirty="0">
                <a:latin typeface="Times New Roman" panose="02020603050405020304" pitchFamily="18" charset="0"/>
                <a:cs typeface="Times New Roman" panose="02020603050405020304" pitchFamily="18" charset="0"/>
              </a:rPr>
              <a:t>Organized stimuli are interpreted or assigned meaning based on individual perceptions, attributions, and cognitive biases. Interpretations may vary depending on factors such as personality, values, beliefs, and situational context.</a:t>
            </a:r>
          </a:p>
          <a:p>
            <a:pPr lvl="1" algn="just"/>
            <a:r>
              <a:rPr lang="en-US" sz="1800" dirty="0">
                <a:latin typeface="Times New Roman" panose="02020603050405020304" pitchFamily="18" charset="0"/>
                <a:cs typeface="Times New Roman" panose="02020603050405020304" pitchFamily="18" charset="0"/>
              </a:rPr>
              <a:t>For instance, an ambiguous performance review may be perceived as constructive feedback by one employee and as criticism by another.</a:t>
            </a:r>
          </a:p>
          <a:p>
            <a:pPr algn="just"/>
            <a:r>
              <a:rPr lang="en-US" b="1" dirty="0">
                <a:latin typeface="Times New Roman" panose="02020603050405020304" pitchFamily="18" charset="0"/>
                <a:cs typeface="Times New Roman" panose="02020603050405020304" pitchFamily="18" charset="0"/>
              </a:rPr>
              <a:t>Integration</a:t>
            </a:r>
          </a:p>
          <a:p>
            <a:pPr lvl="1" algn="just"/>
            <a:r>
              <a:rPr lang="en-US" sz="1800" dirty="0">
                <a:latin typeface="Times New Roman" panose="02020603050405020304" pitchFamily="18" charset="0"/>
                <a:cs typeface="Times New Roman" panose="02020603050405020304" pitchFamily="18" charset="0"/>
              </a:rPr>
              <a:t>Finally, perceptions are integrated into cognitive structures or mental representations that guide </a:t>
            </a:r>
            <a:r>
              <a:rPr lang="en-US" sz="1800" dirty="0" err="1">
                <a:latin typeface="Times New Roman" panose="02020603050405020304" pitchFamily="18" charset="0"/>
                <a:cs typeface="Times New Roman" panose="02020603050405020304" pitchFamily="18" charset="0"/>
              </a:rPr>
              <a:t>behaviour</a:t>
            </a:r>
            <a:r>
              <a:rPr lang="en-US" sz="1800" dirty="0">
                <a:latin typeface="Times New Roman" panose="02020603050405020304" pitchFamily="18" charset="0"/>
                <a:cs typeface="Times New Roman" panose="02020603050405020304" pitchFamily="18" charset="0"/>
              </a:rPr>
              <a:t> and decision-making. Integrated perceptions influence how individuals respond to challenges, conflicts, and opportunities within the organization, shaping their attitudes, motivations, and interpersonal relationships.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3126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B48B9-AAB5-BD01-FE78-487804F4C085}"/>
              </a:ext>
            </a:extLst>
          </p:cNvPr>
          <p:cNvSpPr>
            <a:spLocks noGrp="1"/>
          </p:cNvSpPr>
          <p:nvPr>
            <p:ph type="title"/>
          </p:nvPr>
        </p:nvSpPr>
        <p:spPr/>
        <p:txBody>
          <a:bodyPr/>
          <a:lstStyle/>
          <a:p>
            <a:r>
              <a:rPr lang="en-US" dirty="0"/>
              <a:t>Perceptual Distortion and Types </a:t>
            </a:r>
            <a:endParaRPr lang="en-IN" dirty="0"/>
          </a:p>
        </p:txBody>
      </p:sp>
      <p:sp>
        <p:nvSpPr>
          <p:cNvPr id="3" name="Content Placeholder 2">
            <a:extLst>
              <a:ext uri="{FF2B5EF4-FFF2-40B4-BE49-F238E27FC236}">
                <a16:creationId xmlns:a16="http://schemas.microsoft.com/office/drawing/2014/main" id="{E4E46A27-CFCF-8B48-83F2-819A867642CF}"/>
              </a:ext>
            </a:extLst>
          </p:cNvPr>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Perceptual distortion refers to the </a:t>
            </a:r>
            <a:r>
              <a:rPr lang="en-US" b="1" dirty="0">
                <a:latin typeface="Times New Roman" panose="02020603050405020304" pitchFamily="18" charset="0"/>
                <a:cs typeface="Times New Roman" panose="02020603050405020304" pitchFamily="18" charset="0"/>
              </a:rPr>
              <a:t>errors or biases </a:t>
            </a:r>
            <a:r>
              <a:rPr lang="en-US" dirty="0">
                <a:latin typeface="Times New Roman" panose="02020603050405020304" pitchFamily="18" charset="0"/>
                <a:cs typeface="Times New Roman" panose="02020603050405020304" pitchFamily="18" charset="0"/>
              </a:rPr>
              <a:t>in perceiving and interpreting information about people, situations, or events. </a:t>
            </a:r>
          </a:p>
          <a:p>
            <a:pPr algn="just"/>
            <a:r>
              <a:rPr lang="en-US" dirty="0">
                <a:latin typeface="Times New Roman" panose="02020603050405020304" pitchFamily="18" charset="0"/>
                <a:cs typeface="Times New Roman" panose="02020603050405020304" pitchFamily="18" charset="0"/>
              </a:rPr>
              <a:t>It occurs when individuals </a:t>
            </a:r>
            <a:r>
              <a:rPr lang="en-US" b="1" dirty="0">
                <a:latin typeface="Times New Roman" panose="02020603050405020304" pitchFamily="18" charset="0"/>
                <a:cs typeface="Times New Roman" panose="02020603050405020304" pitchFamily="18" charset="0"/>
              </a:rPr>
              <a:t>misinterpret reality </a:t>
            </a:r>
            <a:r>
              <a:rPr lang="en-US" dirty="0">
                <a:latin typeface="Times New Roman" panose="02020603050405020304" pitchFamily="18" charset="0"/>
                <a:cs typeface="Times New Roman" panose="02020603050405020304" pitchFamily="18" charset="0"/>
              </a:rPr>
              <a:t>due to personal beliefs, experiences, attitudes, or expectations. In organizations, perceptual distortions can affect decision-making, communication, performance evaluation, and interpersonal relationships.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For example, a manager may assume an employee is lazy because they arrive late once, even though the employee usually performs well.</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3121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927F8-EB39-9C5D-3C5D-CF9C2C3D4BE3}"/>
              </a:ext>
            </a:extLst>
          </p:cNvPr>
          <p:cNvSpPr>
            <a:spLocks noGrp="1"/>
          </p:cNvSpPr>
          <p:nvPr>
            <p:ph type="title"/>
          </p:nvPr>
        </p:nvSpPr>
        <p:spPr/>
        <p:txBody>
          <a:bodyPr/>
          <a:lstStyle/>
          <a:p>
            <a:r>
              <a:rPr lang="en-IN" dirty="0"/>
              <a:t>Types of Perceptual Distortion</a:t>
            </a:r>
          </a:p>
        </p:txBody>
      </p:sp>
      <p:sp>
        <p:nvSpPr>
          <p:cNvPr id="3" name="Content Placeholder 2">
            <a:extLst>
              <a:ext uri="{FF2B5EF4-FFF2-40B4-BE49-F238E27FC236}">
                <a16:creationId xmlns:a16="http://schemas.microsoft.com/office/drawing/2014/main" id="{A326575E-7ABB-6EBE-B38D-986EFD35330B}"/>
              </a:ext>
            </a:extLst>
          </p:cNvPr>
          <p:cNvSpPr>
            <a:spLocks noGrp="1"/>
          </p:cNvSpPr>
          <p:nvPr>
            <p:ph idx="1"/>
          </p:nvPr>
        </p:nvSpPr>
        <p:spPr>
          <a:xfrm>
            <a:off x="677334" y="1550989"/>
            <a:ext cx="8596668" cy="4535179"/>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1. Stereotyping</a:t>
            </a:r>
          </a:p>
          <a:p>
            <a:r>
              <a:rPr lang="en-US" dirty="0">
                <a:latin typeface="Times New Roman" panose="02020603050405020304" pitchFamily="18" charset="0"/>
                <a:cs typeface="Times New Roman" panose="02020603050405020304" pitchFamily="18" charset="0"/>
              </a:rPr>
              <a:t>Stereotyping occurs when a person </a:t>
            </a:r>
            <a:r>
              <a:rPr lang="en-US" b="1" dirty="0">
                <a:latin typeface="Times New Roman" panose="02020603050405020304" pitchFamily="18" charset="0"/>
                <a:cs typeface="Times New Roman" panose="02020603050405020304" pitchFamily="18" charset="0"/>
              </a:rPr>
              <a:t>judges someone based on the group they belong to rather than their individual qualities</a:t>
            </a:r>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Assuming that younger employees are irresponsible or that older employees resist technology.</a:t>
            </a:r>
          </a:p>
          <a:p>
            <a:pPr marL="0" indent="0">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2. Halo Effect</a:t>
            </a:r>
          </a:p>
          <a:p>
            <a:pPr algn="just"/>
            <a:r>
              <a:rPr lang="en-US" dirty="0">
                <a:latin typeface="Times New Roman" panose="02020603050405020304" pitchFamily="18" charset="0"/>
                <a:cs typeface="Times New Roman" panose="02020603050405020304" pitchFamily="18" charset="0"/>
              </a:rPr>
              <a:t>The halo effect happens when </a:t>
            </a:r>
            <a:r>
              <a:rPr lang="en-US" b="1" dirty="0">
                <a:latin typeface="Times New Roman" panose="02020603050405020304" pitchFamily="18" charset="0"/>
                <a:cs typeface="Times New Roman" panose="02020603050405020304" pitchFamily="18" charset="0"/>
              </a:rPr>
              <a:t>one positive trait of a person influences the overall perception of that individual</a:t>
            </a:r>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If an employee is very polite, a manager may assume the employee is also highly competent even without evidence.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3554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09651-6325-C841-3C84-C6D82EE35419}"/>
              </a:ext>
            </a:extLst>
          </p:cNvPr>
          <p:cNvSpPr>
            <a:spLocks noGrp="1"/>
          </p:cNvSpPr>
          <p:nvPr>
            <p:ph type="title"/>
          </p:nvPr>
        </p:nvSpPr>
        <p:spPr/>
        <p:txBody>
          <a:bodyPr/>
          <a:lstStyle/>
          <a:p>
            <a:r>
              <a:rPr lang="en-IN" dirty="0"/>
              <a:t>Types of Perceptual Distortion</a:t>
            </a:r>
          </a:p>
        </p:txBody>
      </p:sp>
      <p:sp>
        <p:nvSpPr>
          <p:cNvPr id="3" name="Content Placeholder 2">
            <a:extLst>
              <a:ext uri="{FF2B5EF4-FFF2-40B4-BE49-F238E27FC236}">
                <a16:creationId xmlns:a16="http://schemas.microsoft.com/office/drawing/2014/main" id="{76E60B43-E973-9666-C2D4-6E6D3F3CC394}"/>
              </a:ext>
            </a:extLst>
          </p:cNvPr>
          <p:cNvSpPr>
            <a:spLocks noGrp="1"/>
          </p:cNvSpPr>
          <p:nvPr>
            <p:ph idx="1"/>
          </p:nvPr>
        </p:nvSpPr>
        <p:spPr>
          <a:xfrm>
            <a:off x="677334" y="1629648"/>
            <a:ext cx="8596668" cy="3880773"/>
          </a:xfrm>
        </p:spPr>
        <p:txBody>
          <a:bodyPr>
            <a:noAutofit/>
          </a:bodyPr>
          <a:lstStyle/>
          <a:p>
            <a:pPr marL="0" indent="0" algn="just">
              <a:buNone/>
            </a:pPr>
            <a:r>
              <a:rPr lang="en-IN" b="1" dirty="0">
                <a:latin typeface="Times New Roman" panose="02020603050405020304" pitchFamily="18" charset="0"/>
                <a:cs typeface="Times New Roman" panose="02020603050405020304" pitchFamily="18" charset="0"/>
              </a:rPr>
              <a:t>3. Horn Effect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horn effect is the </a:t>
            </a:r>
            <a:r>
              <a:rPr lang="en-IN" b="1" dirty="0">
                <a:latin typeface="Times New Roman" panose="02020603050405020304" pitchFamily="18" charset="0"/>
                <a:cs typeface="Times New Roman" panose="02020603050405020304" pitchFamily="18" charset="0"/>
              </a:rPr>
              <a:t>opposite of the halo effect</a:t>
            </a:r>
            <a:r>
              <a:rPr lang="en-IN" dirty="0">
                <a:latin typeface="Times New Roman" panose="02020603050405020304" pitchFamily="18" charset="0"/>
                <a:cs typeface="Times New Roman" panose="02020603050405020304" pitchFamily="18" charset="0"/>
              </a:rPr>
              <a:t>, where </a:t>
            </a:r>
            <a:r>
              <a:rPr lang="en-IN" b="1" dirty="0">
                <a:latin typeface="Times New Roman" panose="02020603050405020304" pitchFamily="18" charset="0"/>
                <a:cs typeface="Times New Roman" panose="02020603050405020304" pitchFamily="18" charset="0"/>
              </a:rPr>
              <a:t>one negative trait leads to a negative overall impression of a person</a:t>
            </a:r>
            <a:r>
              <a:rPr lang="en-IN" dirty="0">
                <a:latin typeface="Times New Roman" panose="02020603050405020304" pitchFamily="18" charset="0"/>
                <a:cs typeface="Times New Roman" panose="02020603050405020304" pitchFamily="18" charset="0"/>
              </a:rPr>
              <a:t>.</a:t>
            </a:r>
          </a:p>
          <a:p>
            <a:pPr marL="0" indent="0">
              <a:buNone/>
            </a:pPr>
            <a:r>
              <a:rPr lang="en-IN" b="1" dirty="0">
                <a:latin typeface="Times New Roman" panose="02020603050405020304" pitchFamily="18" charset="0"/>
                <a:cs typeface="Times New Roman" panose="02020603050405020304" pitchFamily="18" charset="0"/>
              </a:rPr>
              <a:t>Example: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If an employee makes one mistake, the manager may assume that the employee is generally incompetent.</a:t>
            </a:r>
          </a:p>
          <a:p>
            <a:pPr marL="0" indent="0" algn="just">
              <a:buNone/>
            </a:pPr>
            <a:r>
              <a:rPr lang="en-IN" dirty="0">
                <a:latin typeface="Times New Roman" panose="02020603050405020304" pitchFamily="18" charset="0"/>
                <a:cs typeface="Times New Roman" panose="02020603050405020304" pitchFamily="18" charset="0"/>
              </a:rPr>
              <a:t> </a:t>
            </a:r>
          </a:p>
          <a:p>
            <a:pPr marL="0" indent="0" algn="just">
              <a:buNone/>
            </a:pPr>
            <a:r>
              <a:rPr lang="en-IN" b="1" dirty="0">
                <a:latin typeface="Times New Roman" panose="02020603050405020304" pitchFamily="18" charset="0"/>
                <a:cs typeface="Times New Roman" panose="02020603050405020304" pitchFamily="18" charset="0"/>
              </a:rPr>
              <a:t>4. Selective Perception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Selective perception occurs when </a:t>
            </a:r>
            <a:r>
              <a:rPr lang="en-IN" b="1" dirty="0">
                <a:latin typeface="Times New Roman" panose="02020603050405020304" pitchFamily="18" charset="0"/>
                <a:cs typeface="Times New Roman" panose="02020603050405020304" pitchFamily="18" charset="0"/>
              </a:rPr>
              <a:t>people notice only the information that supports their beliefs and ignore contradictory information</a:t>
            </a:r>
            <a:r>
              <a:rPr lang="en-IN" dirty="0">
                <a:latin typeface="Times New Roman" panose="02020603050405020304" pitchFamily="18" charset="0"/>
                <a:cs typeface="Times New Roman" panose="02020603050405020304" pitchFamily="18" charset="0"/>
              </a:rPr>
              <a:t>.</a:t>
            </a:r>
          </a:p>
          <a:p>
            <a:pPr marL="0" indent="0">
              <a:buNone/>
            </a:pPr>
            <a:r>
              <a:rPr lang="en-IN" b="1" dirty="0">
                <a:latin typeface="Times New Roman" panose="02020603050405020304" pitchFamily="18" charset="0"/>
                <a:cs typeface="Times New Roman" panose="02020603050405020304" pitchFamily="18" charset="0"/>
              </a:rPr>
              <a:t>Example: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 manager who believes a particular employee is inefficient may only notice their mistakes and ignore their achievements.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4837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FF9DF-1CF1-19B4-500D-0A967FBEFCCF}"/>
              </a:ext>
            </a:extLst>
          </p:cNvPr>
          <p:cNvSpPr>
            <a:spLocks noGrp="1"/>
          </p:cNvSpPr>
          <p:nvPr>
            <p:ph type="title"/>
          </p:nvPr>
        </p:nvSpPr>
        <p:spPr/>
        <p:txBody>
          <a:bodyPr/>
          <a:lstStyle/>
          <a:p>
            <a:r>
              <a:rPr lang="en-IN" dirty="0"/>
              <a:t>Types of Perceptual Distortion</a:t>
            </a:r>
          </a:p>
        </p:txBody>
      </p:sp>
      <p:sp>
        <p:nvSpPr>
          <p:cNvPr id="3" name="Content Placeholder 2">
            <a:extLst>
              <a:ext uri="{FF2B5EF4-FFF2-40B4-BE49-F238E27FC236}">
                <a16:creationId xmlns:a16="http://schemas.microsoft.com/office/drawing/2014/main" id="{8427C5AB-B65E-9CEF-7A03-41CB63484E34}"/>
              </a:ext>
            </a:extLst>
          </p:cNvPr>
          <p:cNvSpPr>
            <a:spLocks noGrp="1"/>
          </p:cNvSpPr>
          <p:nvPr>
            <p:ph idx="1"/>
          </p:nvPr>
        </p:nvSpPr>
        <p:spPr>
          <a:xfrm>
            <a:off x="677334" y="1364177"/>
            <a:ext cx="8596668" cy="3880773"/>
          </a:xfrm>
        </p:spPr>
        <p:txBody>
          <a:bodyPr>
            <a:noAutofit/>
          </a:bodyPr>
          <a:lstStyle/>
          <a:p>
            <a:pPr marL="0" indent="0">
              <a:buNone/>
            </a:pPr>
            <a:r>
              <a:rPr lang="en-IN" sz="1500" b="1" dirty="0">
                <a:latin typeface="Times New Roman" panose="02020603050405020304" pitchFamily="18" charset="0"/>
                <a:cs typeface="Times New Roman" panose="02020603050405020304" pitchFamily="18" charset="0"/>
              </a:rPr>
              <a:t>5. Projection</a:t>
            </a:r>
            <a:endParaRPr lang="en-IN" sz="1500" dirty="0">
              <a:latin typeface="Times New Roman" panose="02020603050405020304" pitchFamily="18" charset="0"/>
              <a:cs typeface="Times New Roman" panose="02020603050405020304" pitchFamily="18" charset="0"/>
            </a:endParaRPr>
          </a:p>
          <a:p>
            <a:pPr algn="just"/>
            <a:r>
              <a:rPr lang="en-IN" sz="1500" dirty="0">
                <a:latin typeface="Times New Roman" panose="02020603050405020304" pitchFamily="18" charset="0"/>
                <a:cs typeface="Times New Roman" panose="02020603050405020304" pitchFamily="18" charset="0"/>
              </a:rPr>
              <a:t>Projection occurs when </a:t>
            </a:r>
            <a:r>
              <a:rPr lang="en-IN" sz="1500" b="1" dirty="0">
                <a:latin typeface="Times New Roman" panose="02020603050405020304" pitchFamily="18" charset="0"/>
                <a:cs typeface="Times New Roman" panose="02020603050405020304" pitchFamily="18" charset="0"/>
              </a:rPr>
              <a:t>individuals attribute their own feelings, motives, or characteristics to others</a:t>
            </a:r>
            <a:r>
              <a:rPr lang="en-IN" sz="1500" dirty="0">
                <a:latin typeface="Times New Roman" panose="02020603050405020304" pitchFamily="18" charset="0"/>
                <a:cs typeface="Times New Roman" panose="02020603050405020304" pitchFamily="18" charset="0"/>
              </a:rPr>
              <a:t>.</a:t>
            </a:r>
          </a:p>
          <a:p>
            <a:pPr marL="0" indent="0">
              <a:buNone/>
            </a:pPr>
            <a:r>
              <a:rPr lang="en-IN" sz="1500" b="1" dirty="0">
                <a:latin typeface="Times New Roman" panose="02020603050405020304" pitchFamily="18" charset="0"/>
                <a:cs typeface="Times New Roman" panose="02020603050405020304" pitchFamily="18" charset="0"/>
              </a:rPr>
              <a:t>Example:</a:t>
            </a:r>
            <a:br>
              <a:rPr lang="en-IN" sz="1500" dirty="0">
                <a:latin typeface="Times New Roman" panose="02020603050405020304" pitchFamily="18" charset="0"/>
                <a:cs typeface="Times New Roman" panose="02020603050405020304" pitchFamily="18" charset="0"/>
              </a:rPr>
            </a:br>
            <a:r>
              <a:rPr lang="en-IN" sz="1500" dirty="0">
                <a:latin typeface="Times New Roman" panose="02020603050405020304" pitchFamily="18" charset="0"/>
                <a:cs typeface="Times New Roman" panose="02020603050405020304" pitchFamily="18" charset="0"/>
              </a:rPr>
              <a:t>A manager who is very competitive may assume that all employees are equally competitive.</a:t>
            </a:r>
          </a:p>
          <a:p>
            <a:pPr marL="0" indent="0">
              <a:buNone/>
            </a:pPr>
            <a:r>
              <a:rPr lang="en-IN" sz="1500" b="1" dirty="0">
                <a:latin typeface="Times New Roman" panose="02020603050405020304" pitchFamily="18" charset="0"/>
                <a:cs typeface="Times New Roman" panose="02020603050405020304" pitchFamily="18" charset="0"/>
              </a:rPr>
              <a:t>6. Attribution Error</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This occurs when people </a:t>
            </a:r>
            <a:r>
              <a:rPr lang="en-IN" sz="1500" b="1" dirty="0">
                <a:latin typeface="Times New Roman" panose="02020603050405020304" pitchFamily="18" charset="0"/>
                <a:cs typeface="Times New Roman" panose="02020603050405020304" pitchFamily="18" charset="0"/>
              </a:rPr>
              <a:t>incorrectly judge the causes of others’ </a:t>
            </a:r>
            <a:r>
              <a:rPr lang="en-IN" sz="1500" b="1" dirty="0" err="1">
                <a:latin typeface="Times New Roman" panose="02020603050405020304" pitchFamily="18" charset="0"/>
                <a:cs typeface="Times New Roman" panose="02020603050405020304" pitchFamily="18" charset="0"/>
              </a:rPr>
              <a:t>behavior</a:t>
            </a:r>
            <a:r>
              <a:rPr lang="en-IN" sz="1500" dirty="0">
                <a:latin typeface="Times New Roman" panose="02020603050405020304" pitchFamily="18" charset="0"/>
                <a:cs typeface="Times New Roman" panose="02020603050405020304" pitchFamily="18" charset="0"/>
              </a:rPr>
              <a:t>.</a:t>
            </a:r>
          </a:p>
          <a:p>
            <a:pPr marL="0" indent="0">
              <a:buNone/>
            </a:pPr>
            <a:r>
              <a:rPr lang="en-IN" sz="1500" b="1" dirty="0">
                <a:latin typeface="Times New Roman" panose="02020603050405020304" pitchFamily="18" charset="0"/>
                <a:cs typeface="Times New Roman" panose="02020603050405020304" pitchFamily="18" charset="0"/>
              </a:rPr>
              <a:t>Example:</a:t>
            </a:r>
            <a:br>
              <a:rPr lang="en-IN" sz="1500" dirty="0">
                <a:latin typeface="Times New Roman" panose="02020603050405020304" pitchFamily="18" charset="0"/>
                <a:cs typeface="Times New Roman" panose="02020603050405020304" pitchFamily="18" charset="0"/>
              </a:rPr>
            </a:br>
            <a:r>
              <a:rPr lang="en-IN" sz="1500" dirty="0">
                <a:latin typeface="Times New Roman" panose="02020603050405020304" pitchFamily="18" charset="0"/>
                <a:cs typeface="Times New Roman" panose="02020603050405020304" pitchFamily="18" charset="0"/>
              </a:rPr>
              <a:t>If an employee performs poorly, the manager may assume the employee is careless rather than considering external factors such as workload or lack of resources.</a:t>
            </a:r>
          </a:p>
          <a:p>
            <a:pPr marL="0" indent="0">
              <a:buNone/>
            </a:pPr>
            <a:r>
              <a:rPr lang="en-US" sz="1500" b="1" dirty="0">
                <a:latin typeface="Times New Roman" panose="02020603050405020304" pitchFamily="18" charset="0"/>
                <a:cs typeface="Times New Roman" panose="02020603050405020304" pitchFamily="18" charset="0"/>
              </a:rPr>
              <a:t>7. Recency Effect</a:t>
            </a:r>
          </a:p>
          <a:p>
            <a:r>
              <a:rPr lang="en-US" sz="1500" dirty="0">
                <a:latin typeface="Times New Roman" panose="02020603050405020304" pitchFamily="18" charset="0"/>
                <a:cs typeface="Times New Roman" panose="02020603050405020304" pitchFamily="18" charset="0"/>
              </a:rPr>
              <a:t>The recency effect occurs when </a:t>
            </a:r>
            <a:r>
              <a:rPr lang="en-US" sz="1500" b="1" dirty="0">
                <a:latin typeface="Times New Roman" panose="02020603050405020304" pitchFamily="18" charset="0"/>
                <a:cs typeface="Times New Roman" panose="02020603050405020304" pitchFamily="18" charset="0"/>
              </a:rPr>
              <a:t>recent events influence a person’s judgment more strongly than earlier events</a:t>
            </a:r>
            <a:r>
              <a:rPr lang="en-US" sz="1500" dirty="0">
                <a:latin typeface="Times New Roman" panose="02020603050405020304" pitchFamily="18" charset="0"/>
                <a:cs typeface="Times New Roman" panose="02020603050405020304" pitchFamily="18" charset="0"/>
              </a:rPr>
              <a:t>.</a:t>
            </a:r>
          </a:p>
          <a:p>
            <a:pPr marL="0" indent="0">
              <a:buNone/>
            </a:pPr>
            <a:r>
              <a:rPr lang="en-US" sz="1500" b="1" dirty="0">
                <a:latin typeface="Times New Roman" panose="02020603050405020304" pitchFamily="18" charset="0"/>
                <a:cs typeface="Times New Roman" panose="02020603050405020304" pitchFamily="18" charset="0"/>
              </a:rPr>
              <a:t>Example:</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During performance appraisal, a manager may evaluate an employee mainly based on their most recent performance.</a:t>
            </a:r>
          </a:p>
          <a:p>
            <a:pPr marL="0" indent="0">
              <a:buNone/>
            </a:pPr>
            <a:endParaRPr lang="en-IN" sz="1500" dirty="0">
              <a:latin typeface="Times New Roman" panose="02020603050405020304" pitchFamily="18" charset="0"/>
              <a:cs typeface="Times New Roman" panose="02020603050405020304" pitchFamily="18" charset="0"/>
            </a:endParaRPr>
          </a:p>
          <a:p>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1060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94453-7911-3B45-B6C8-5422DCEC576C}"/>
              </a:ext>
            </a:extLst>
          </p:cNvPr>
          <p:cNvSpPr>
            <a:spLocks noGrp="1"/>
          </p:cNvSpPr>
          <p:nvPr>
            <p:ph type="title"/>
          </p:nvPr>
        </p:nvSpPr>
        <p:spPr/>
        <p:txBody>
          <a:bodyPr/>
          <a:lstStyle/>
          <a:p>
            <a:r>
              <a:rPr lang="en-IN" dirty="0"/>
              <a:t>Attribution</a:t>
            </a:r>
          </a:p>
        </p:txBody>
      </p:sp>
      <p:sp>
        <p:nvSpPr>
          <p:cNvPr id="3" name="Content Placeholder 2">
            <a:extLst>
              <a:ext uri="{FF2B5EF4-FFF2-40B4-BE49-F238E27FC236}">
                <a16:creationId xmlns:a16="http://schemas.microsoft.com/office/drawing/2014/main" id="{131F3B57-08A3-DDA0-199C-6E9D56036699}"/>
              </a:ext>
            </a:extLst>
          </p:cNvPr>
          <p:cNvSpPr>
            <a:spLocks noGrp="1"/>
          </p:cNvSpPr>
          <p:nvPr>
            <p:ph idx="1"/>
          </p:nvPr>
        </p:nvSpPr>
        <p:spPr/>
        <p:txBody>
          <a:bodyPr>
            <a:normAutofit/>
          </a:bodyPr>
          <a:lstStyle/>
          <a:p>
            <a:pPr algn="just"/>
            <a:r>
              <a:rPr lang="en-IN" dirty="0">
                <a:latin typeface="Times New Roman" panose="02020603050405020304" pitchFamily="18" charset="0"/>
                <a:cs typeface="Times New Roman" panose="02020603050405020304" pitchFamily="18" charset="0"/>
              </a:rPr>
              <a:t>Attribution refers to the process by which individuals interpret and explain the causes of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or events. It helps people understand why someone behaved in a particular way.</a:t>
            </a:r>
          </a:p>
          <a:p>
            <a:pPr algn="just"/>
            <a:r>
              <a:rPr lang="en-IN" dirty="0">
                <a:latin typeface="Times New Roman" panose="02020603050405020304" pitchFamily="18" charset="0"/>
                <a:cs typeface="Times New Roman" panose="02020603050405020304" pitchFamily="18" charset="0"/>
              </a:rPr>
              <a:t>In organizations, attribution is important because managers often try to determine whether an employee’s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or performance is due to personal factors or external situations.</a:t>
            </a:r>
          </a:p>
          <a:p>
            <a:pPr marL="0" indent="0">
              <a:buNone/>
            </a:pPr>
            <a:r>
              <a:rPr lang="en-IN" b="1" dirty="0">
                <a:latin typeface="Times New Roman" panose="02020603050405020304" pitchFamily="18" charset="0"/>
                <a:cs typeface="Times New Roman" panose="02020603050405020304" pitchFamily="18" charset="0"/>
              </a:rPr>
              <a:t>Example: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If an employee performs poorly, a manager may try to determine whether the cause is lack of ability (internal) or heavy workload (external).</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146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C67AE-4802-C2C4-1FF2-B864B39AD04F}"/>
              </a:ext>
            </a:extLst>
          </p:cNvPr>
          <p:cNvSpPr>
            <a:spLocks noGrp="1"/>
          </p:cNvSpPr>
          <p:nvPr>
            <p:ph type="title"/>
          </p:nvPr>
        </p:nvSpPr>
        <p:spPr/>
        <p:txBody>
          <a:bodyPr/>
          <a:lstStyle/>
          <a:p>
            <a:r>
              <a:rPr lang="en-US" dirty="0"/>
              <a:t>Types of Attribution</a:t>
            </a:r>
            <a:endParaRPr lang="en-IN" dirty="0"/>
          </a:p>
        </p:txBody>
      </p:sp>
      <p:pic>
        <p:nvPicPr>
          <p:cNvPr id="4" name="Content Placeholder 3">
            <a:extLst>
              <a:ext uri="{FF2B5EF4-FFF2-40B4-BE49-F238E27FC236}">
                <a16:creationId xmlns:a16="http://schemas.microsoft.com/office/drawing/2014/main" id="{A31A952D-D5EA-E313-888B-66A3B4EB65A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1373" y="2511139"/>
            <a:ext cx="7852199" cy="2885401"/>
          </a:xfrm>
          <a:prstGeom prst="rect">
            <a:avLst/>
          </a:prstGeom>
          <a:noFill/>
          <a:ln>
            <a:noFill/>
          </a:ln>
        </p:spPr>
      </p:pic>
    </p:spTree>
    <p:extLst>
      <p:ext uri="{BB962C8B-B14F-4D97-AF65-F5344CB8AC3E}">
        <p14:creationId xmlns:p14="http://schemas.microsoft.com/office/powerpoint/2010/main" val="1503315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94970-5E71-83CD-ED0E-2D01D7718C44}"/>
              </a:ext>
            </a:extLst>
          </p:cNvPr>
          <p:cNvSpPr>
            <a:spLocks noGrp="1"/>
          </p:cNvSpPr>
          <p:nvPr>
            <p:ph type="title"/>
          </p:nvPr>
        </p:nvSpPr>
        <p:spPr/>
        <p:txBody>
          <a:bodyPr/>
          <a:lstStyle/>
          <a:p>
            <a:r>
              <a:rPr lang="en-US" dirty="0"/>
              <a:t>Types of Attribution</a:t>
            </a:r>
            <a:endParaRPr lang="en-IN" dirty="0"/>
          </a:p>
        </p:txBody>
      </p:sp>
      <p:pic>
        <p:nvPicPr>
          <p:cNvPr id="4" name="Content Placeholder 3">
            <a:extLst>
              <a:ext uri="{FF2B5EF4-FFF2-40B4-BE49-F238E27FC236}">
                <a16:creationId xmlns:a16="http://schemas.microsoft.com/office/drawing/2014/main" id="{0273C93F-7D07-6CDC-9044-31C3562A483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334" y="1700501"/>
            <a:ext cx="8798262" cy="3897547"/>
          </a:xfrm>
          <a:prstGeom prst="rect">
            <a:avLst/>
          </a:prstGeom>
          <a:noFill/>
          <a:ln>
            <a:noFill/>
          </a:ln>
        </p:spPr>
      </p:pic>
    </p:spTree>
    <p:extLst>
      <p:ext uri="{BB962C8B-B14F-4D97-AF65-F5344CB8AC3E}">
        <p14:creationId xmlns:p14="http://schemas.microsoft.com/office/powerpoint/2010/main" val="170781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A9D22-410E-ECC6-0729-3150D9FD2234}"/>
              </a:ext>
            </a:extLst>
          </p:cNvPr>
          <p:cNvSpPr>
            <a:spLocks noGrp="1"/>
          </p:cNvSpPr>
          <p:nvPr>
            <p:ph type="title"/>
          </p:nvPr>
        </p:nvSpPr>
        <p:spPr/>
        <p:txBody>
          <a:bodyPr/>
          <a:lstStyle/>
          <a:p>
            <a:r>
              <a:rPr lang="en-US" dirty="0"/>
              <a:t>Types of Attribution</a:t>
            </a:r>
            <a:endParaRPr lang="en-IN" dirty="0"/>
          </a:p>
        </p:txBody>
      </p:sp>
      <p:pic>
        <p:nvPicPr>
          <p:cNvPr id="4" name="Content Placeholder 3">
            <a:extLst>
              <a:ext uri="{FF2B5EF4-FFF2-40B4-BE49-F238E27FC236}">
                <a16:creationId xmlns:a16="http://schemas.microsoft.com/office/drawing/2014/main" id="{440C4E8D-76CF-5E95-FBBC-53260FAC16F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1598" y="1497569"/>
            <a:ext cx="8812404" cy="4750831"/>
          </a:xfrm>
          <a:prstGeom prst="rect">
            <a:avLst/>
          </a:prstGeom>
          <a:noFill/>
          <a:ln>
            <a:noFill/>
          </a:ln>
        </p:spPr>
      </p:pic>
    </p:spTree>
    <p:extLst>
      <p:ext uri="{BB962C8B-B14F-4D97-AF65-F5344CB8AC3E}">
        <p14:creationId xmlns:p14="http://schemas.microsoft.com/office/powerpoint/2010/main" val="295235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63A1A-BEFF-750E-8CA1-064C1280E8A1}"/>
              </a:ext>
            </a:extLst>
          </p:cNvPr>
          <p:cNvSpPr>
            <a:spLocks noGrp="1"/>
          </p:cNvSpPr>
          <p:nvPr>
            <p:ph type="title"/>
          </p:nvPr>
        </p:nvSpPr>
        <p:spPr/>
        <p:txBody>
          <a:bodyPr/>
          <a:lstStyle/>
          <a:p>
            <a:r>
              <a:rPr lang="en-US" dirty="0"/>
              <a:t>Types of Attribution</a:t>
            </a:r>
            <a:endParaRPr lang="en-IN" dirty="0"/>
          </a:p>
        </p:txBody>
      </p:sp>
      <p:pic>
        <p:nvPicPr>
          <p:cNvPr id="4" name="Content Placeholder 3">
            <a:extLst>
              <a:ext uri="{FF2B5EF4-FFF2-40B4-BE49-F238E27FC236}">
                <a16:creationId xmlns:a16="http://schemas.microsoft.com/office/drawing/2014/main" id="{D04BA459-22E0-E71E-DE81-3A98A47C036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9318" y="1850014"/>
            <a:ext cx="8461592" cy="3752028"/>
          </a:xfrm>
          <a:prstGeom prst="rect">
            <a:avLst/>
          </a:prstGeom>
          <a:noFill/>
          <a:ln>
            <a:noFill/>
          </a:ln>
        </p:spPr>
      </p:pic>
    </p:spTree>
    <p:extLst>
      <p:ext uri="{BB962C8B-B14F-4D97-AF65-F5344CB8AC3E}">
        <p14:creationId xmlns:p14="http://schemas.microsoft.com/office/powerpoint/2010/main" val="536654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5EA5F-D358-E5E3-41AF-8C04EBB66C22}"/>
              </a:ext>
            </a:extLst>
          </p:cNvPr>
          <p:cNvSpPr>
            <a:spLocks noGrp="1"/>
          </p:cNvSpPr>
          <p:nvPr>
            <p:ph type="title"/>
          </p:nvPr>
        </p:nvSpPr>
        <p:spPr/>
        <p:txBody>
          <a:bodyPr/>
          <a:lstStyle/>
          <a:p>
            <a:r>
              <a:rPr lang="en-US" dirty="0"/>
              <a:t>Attribution Theory</a:t>
            </a:r>
            <a:endParaRPr lang="en-IN" dirty="0"/>
          </a:p>
        </p:txBody>
      </p:sp>
      <p:sp>
        <p:nvSpPr>
          <p:cNvPr id="3" name="Content Placeholder 2">
            <a:extLst>
              <a:ext uri="{FF2B5EF4-FFF2-40B4-BE49-F238E27FC236}">
                <a16:creationId xmlns:a16="http://schemas.microsoft.com/office/drawing/2014/main" id="{17AFEB2F-A800-F6B6-E57A-1177B1056326}"/>
              </a:ext>
            </a:extLst>
          </p:cNvPr>
          <p:cNvSpPr>
            <a:spLocks noGrp="1"/>
          </p:cNvSpPr>
          <p:nvPr>
            <p:ph idx="1"/>
          </p:nvPr>
        </p:nvSpPr>
        <p:spPr/>
        <p:txBody>
          <a:bodyPr/>
          <a:lstStyle/>
          <a:p>
            <a:r>
              <a:rPr lang="en-US" dirty="0"/>
              <a:t>Attribution theory is a theory about how people explain things.</a:t>
            </a:r>
          </a:p>
          <a:p>
            <a:endParaRPr lang="en-US" dirty="0"/>
          </a:p>
          <a:p>
            <a:r>
              <a:rPr lang="en-US" dirty="0"/>
              <a:t>It seeks to explain how and why people make these causal attributions.</a:t>
            </a:r>
            <a:endParaRPr lang="en-IN" dirty="0"/>
          </a:p>
        </p:txBody>
      </p:sp>
    </p:spTree>
    <p:extLst>
      <p:ext uri="{BB962C8B-B14F-4D97-AF65-F5344CB8AC3E}">
        <p14:creationId xmlns:p14="http://schemas.microsoft.com/office/powerpoint/2010/main" val="2764559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B6295-C79C-5628-07B7-0B2338DA53EF}"/>
              </a:ext>
            </a:extLst>
          </p:cNvPr>
          <p:cNvSpPr>
            <a:spLocks noGrp="1"/>
          </p:cNvSpPr>
          <p:nvPr>
            <p:ph type="title"/>
          </p:nvPr>
        </p:nvSpPr>
        <p:spPr/>
        <p:txBody>
          <a:bodyPr/>
          <a:lstStyle/>
          <a:p>
            <a:r>
              <a:rPr lang="en-IN" b="1" dirty="0"/>
              <a:t>Core Concepts of Attribution Theory</a:t>
            </a:r>
            <a:br>
              <a:rPr lang="en-IN" dirty="0"/>
            </a:br>
            <a:endParaRPr lang="en-IN" dirty="0"/>
          </a:p>
        </p:txBody>
      </p:sp>
      <p:sp>
        <p:nvSpPr>
          <p:cNvPr id="3" name="Content Placeholder 2">
            <a:extLst>
              <a:ext uri="{FF2B5EF4-FFF2-40B4-BE49-F238E27FC236}">
                <a16:creationId xmlns:a16="http://schemas.microsoft.com/office/drawing/2014/main" id="{BA773717-AA4C-73C3-5484-8477AA4FEAA4}"/>
              </a:ext>
            </a:extLst>
          </p:cNvPr>
          <p:cNvSpPr>
            <a:spLocks noGrp="1"/>
          </p:cNvSpPr>
          <p:nvPr>
            <p:ph idx="1"/>
          </p:nvPr>
        </p:nvSpPr>
        <p:spPr/>
        <p:txBody>
          <a:bodyPr>
            <a:normAutofit fontScale="92500"/>
          </a:bodyPr>
          <a:lstStyle/>
          <a:p>
            <a:pPr algn="just"/>
            <a:r>
              <a:rPr lang="en-IN" b="1" dirty="0">
                <a:latin typeface="Times New Roman" panose="02020603050405020304" pitchFamily="18" charset="0"/>
                <a:cs typeface="Times New Roman" panose="02020603050405020304" pitchFamily="18" charset="0"/>
              </a:rPr>
              <a:t>Locus of Control:</a:t>
            </a:r>
            <a:r>
              <a:rPr lang="en-IN" dirty="0">
                <a:latin typeface="Times New Roman" panose="02020603050405020304" pitchFamily="18" charset="0"/>
                <a:cs typeface="Times New Roman" panose="02020603050405020304" pitchFamily="18" charset="0"/>
              </a:rPr>
              <a:t> This concept revolves around whether the cause of an event is perceived to be internal or external. </a:t>
            </a:r>
          </a:p>
          <a:p>
            <a:pPr lvl="1" algn="just"/>
            <a:r>
              <a:rPr lang="en-IN" dirty="0">
                <a:latin typeface="Times New Roman" panose="02020603050405020304" pitchFamily="18" charset="0"/>
                <a:cs typeface="Times New Roman" panose="02020603050405020304" pitchFamily="18" charset="0"/>
              </a:rPr>
              <a:t>An internal locus of control means the person believes they can influence events and their outcomes, </a:t>
            </a:r>
          </a:p>
          <a:p>
            <a:pPr lvl="1" algn="just"/>
            <a:r>
              <a:rPr lang="en-IN" dirty="0">
                <a:latin typeface="Times New Roman" panose="02020603050405020304" pitchFamily="18" charset="0"/>
                <a:cs typeface="Times New Roman" panose="02020603050405020304" pitchFamily="18" charset="0"/>
              </a:rPr>
              <a:t>while an external locus of control suggests that external forces dictate events.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Stability:</a:t>
            </a:r>
            <a:r>
              <a:rPr lang="en-IN" dirty="0">
                <a:latin typeface="Times New Roman" panose="02020603050405020304" pitchFamily="18" charset="0"/>
                <a:cs typeface="Times New Roman" panose="02020603050405020304" pitchFamily="18" charset="0"/>
              </a:rPr>
              <a:t> Stability refers to whether the cause of an event is seen as stable or unstable over time. Stable causes are seen as permanent (e.g., natural ability), whereas unstable causes are temporary (e.g., mood).</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Controllability:</a:t>
            </a:r>
            <a:r>
              <a:rPr lang="en-IN" dirty="0">
                <a:latin typeface="Times New Roman" panose="02020603050405020304" pitchFamily="18" charset="0"/>
                <a:cs typeface="Times New Roman" panose="02020603050405020304" pitchFamily="18" charset="0"/>
              </a:rPr>
              <a:t> This concept deals with whether the cause of an event is something that can be controlled. For instance, effort is a controllable factor, while innate ability is not.</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2927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5564D-A222-FFE7-25D4-193D89D9E6BB}"/>
              </a:ext>
            </a:extLst>
          </p:cNvPr>
          <p:cNvSpPr>
            <a:spLocks noGrp="1"/>
          </p:cNvSpPr>
          <p:nvPr>
            <p:ph type="title"/>
          </p:nvPr>
        </p:nvSpPr>
        <p:spPr/>
        <p:txBody>
          <a:bodyPr/>
          <a:lstStyle/>
          <a:p>
            <a:r>
              <a:rPr lang="en-US" b="1" dirty="0"/>
              <a:t>Key Models within Attribution Theory</a:t>
            </a:r>
            <a:br>
              <a:rPr lang="en-US" b="1" dirty="0"/>
            </a:br>
            <a:endParaRPr lang="en-IN" dirty="0"/>
          </a:p>
        </p:txBody>
      </p:sp>
      <p:sp>
        <p:nvSpPr>
          <p:cNvPr id="3" name="Content Placeholder 2">
            <a:extLst>
              <a:ext uri="{FF2B5EF4-FFF2-40B4-BE49-F238E27FC236}">
                <a16:creationId xmlns:a16="http://schemas.microsoft.com/office/drawing/2014/main" id="{4BA60336-2A3A-A730-0ED5-D4445C1BA4AB}"/>
              </a:ext>
            </a:extLst>
          </p:cNvPr>
          <p:cNvSpPr>
            <a:spLocks noGrp="1"/>
          </p:cNvSpPr>
          <p:nvPr>
            <p:ph idx="1"/>
          </p:nvPr>
        </p:nvSpPr>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1) Heider’s Naive Psychology:</a:t>
            </a:r>
            <a:r>
              <a:rPr lang="en-US" dirty="0">
                <a:latin typeface="Times New Roman" panose="02020603050405020304" pitchFamily="18" charset="0"/>
                <a:cs typeface="Times New Roman" panose="02020603050405020304" pitchFamily="18" charset="0"/>
              </a:rPr>
              <a:t> </a:t>
            </a:r>
          </a:p>
          <a:p>
            <a:pPr lvl="1" algn="just"/>
            <a:r>
              <a:rPr lang="en-US" sz="1800" dirty="0">
                <a:latin typeface="Times New Roman" panose="02020603050405020304" pitchFamily="18" charset="0"/>
                <a:cs typeface="Times New Roman" panose="02020603050405020304" pitchFamily="18" charset="0"/>
              </a:rPr>
              <a:t>Fritz Heider, often considered the </a:t>
            </a:r>
            <a:r>
              <a:rPr lang="en-US" sz="1800" b="1" dirty="0">
                <a:latin typeface="Times New Roman" panose="02020603050405020304" pitchFamily="18" charset="0"/>
                <a:cs typeface="Times New Roman" panose="02020603050405020304" pitchFamily="18" charset="0"/>
              </a:rPr>
              <a:t>father</a:t>
            </a:r>
            <a:r>
              <a:rPr lang="en-US" sz="1800" dirty="0">
                <a:latin typeface="Times New Roman" panose="02020603050405020304" pitchFamily="18" charset="0"/>
                <a:cs typeface="Times New Roman" panose="02020603050405020304" pitchFamily="18" charset="0"/>
              </a:rPr>
              <a:t> of Attribution Theory.</a:t>
            </a:r>
          </a:p>
          <a:p>
            <a:pPr lvl="1" algn="just"/>
            <a:r>
              <a:rPr lang="en-US" sz="1800" dirty="0">
                <a:latin typeface="Times New Roman" panose="02020603050405020304" pitchFamily="18" charset="0"/>
                <a:cs typeface="Times New Roman" panose="02020603050405020304" pitchFamily="18" charset="0"/>
              </a:rPr>
              <a:t>He proposed that people are intuitive psychologists who try to make sense of the world by attributing causes to behavior. </a:t>
            </a:r>
            <a:endParaRPr lang="en-IN" sz="18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Kelley’s Covariation Model:</a:t>
            </a:r>
            <a:r>
              <a:rPr lang="en-US" dirty="0">
                <a:latin typeface="Times New Roman" panose="02020603050405020304" pitchFamily="18" charset="0"/>
                <a:cs typeface="Times New Roman" panose="02020603050405020304" pitchFamily="18" charset="0"/>
              </a:rPr>
              <a:t> Harold Kelley introduced the covariation model, which suggests that people make attributions by considering three types of information: consistency, distinctiveness, and consensus.</a:t>
            </a:r>
          </a:p>
          <a:p>
            <a:pPr lvl="1"/>
            <a:r>
              <a:rPr lang="en-US" sz="1800" b="1" i="1" dirty="0">
                <a:latin typeface="Times New Roman" panose="02020603050405020304" pitchFamily="18" charset="0"/>
                <a:cs typeface="Times New Roman" panose="02020603050405020304" pitchFamily="18" charset="0"/>
              </a:rPr>
              <a:t>Consistency</a:t>
            </a:r>
            <a:r>
              <a:rPr lang="en-US" sz="1800" i="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Does the person behave the same way in similar situations over time?</a:t>
            </a:r>
          </a:p>
          <a:p>
            <a:pPr lvl="1"/>
            <a:r>
              <a:rPr lang="en-US" sz="1800" b="1" i="1" dirty="0">
                <a:latin typeface="Times New Roman" panose="02020603050405020304" pitchFamily="18" charset="0"/>
                <a:cs typeface="Times New Roman" panose="02020603050405020304" pitchFamily="18" charset="0"/>
              </a:rPr>
              <a:t>Distinctiveness</a:t>
            </a:r>
            <a:r>
              <a:rPr lang="en-US" sz="1800" i="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Does the person behave differently in different situations?</a:t>
            </a:r>
          </a:p>
          <a:p>
            <a:pPr lvl="1"/>
            <a:r>
              <a:rPr lang="en-US" sz="1800" b="1" i="1" dirty="0">
                <a:latin typeface="Times New Roman" panose="02020603050405020304" pitchFamily="18" charset="0"/>
                <a:cs typeface="Times New Roman" panose="02020603050405020304" pitchFamily="18" charset="0"/>
              </a:rPr>
              <a:t>Consensus</a:t>
            </a:r>
            <a:r>
              <a:rPr lang="en-US" sz="1800" i="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Do other people behave similarly in the same situation?</a:t>
            </a:r>
          </a:p>
          <a:p>
            <a:pPr lvl="1" algn="just"/>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6031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42C51-5EDE-5925-D871-534AE799E67B}"/>
              </a:ext>
            </a:extLst>
          </p:cNvPr>
          <p:cNvSpPr>
            <a:spLocks noGrp="1"/>
          </p:cNvSpPr>
          <p:nvPr>
            <p:ph type="title"/>
          </p:nvPr>
        </p:nvSpPr>
        <p:spPr>
          <a:xfrm>
            <a:off x="657669" y="668594"/>
            <a:ext cx="8596668" cy="1320800"/>
          </a:xfrm>
        </p:spPr>
        <p:txBody>
          <a:bodyPr/>
          <a:lstStyle/>
          <a:p>
            <a:r>
              <a:rPr lang="en-US" b="1" dirty="0"/>
              <a:t>Key Models within Attribution Theory</a:t>
            </a:r>
            <a:br>
              <a:rPr lang="en-US" b="1" dirty="0"/>
            </a:br>
            <a:endParaRPr lang="en-IN" dirty="0"/>
          </a:p>
        </p:txBody>
      </p:sp>
      <p:sp>
        <p:nvSpPr>
          <p:cNvPr id="5" name="Content Placeholder 4">
            <a:extLst>
              <a:ext uri="{FF2B5EF4-FFF2-40B4-BE49-F238E27FC236}">
                <a16:creationId xmlns:a16="http://schemas.microsoft.com/office/drawing/2014/main" id="{2514DD65-50EB-A044-8670-9CC9976EC38D}"/>
              </a:ext>
            </a:extLst>
          </p:cNvPr>
          <p:cNvSpPr>
            <a:spLocks noGrp="1"/>
          </p:cNvSpPr>
          <p:nvPr>
            <p:ph idx="1"/>
          </p:nvPr>
        </p:nvSpPr>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2) Weiner’s Attribution Theory of Motivation and Emotion:</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Bernard Weiner expanded Attribution Theory by linking it to motivation and emotion.</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He proposed that attributions influence emotions and subsequent behaviors. </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For example, attributing failure to a lack of effort (an internal, controllable cause) might lead to feelings of guilt and a motivation to work harder, whereas attributing it to bad luck (an external, uncontrollable cause) might lead to feelings of helplessness and reduced motivation.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1319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BC539-86F2-4D92-B552-E24B2A47DE52}"/>
              </a:ext>
            </a:extLst>
          </p:cNvPr>
          <p:cNvSpPr>
            <a:spLocks noGrp="1"/>
          </p:cNvSpPr>
          <p:nvPr>
            <p:ph type="title"/>
          </p:nvPr>
        </p:nvSpPr>
        <p:spPr/>
        <p:txBody>
          <a:bodyPr/>
          <a:lstStyle/>
          <a:p>
            <a:r>
              <a:rPr lang="en-US" dirty="0"/>
              <a:t>Attribution Errors</a:t>
            </a:r>
            <a:endParaRPr lang="en-IN" dirty="0"/>
          </a:p>
        </p:txBody>
      </p:sp>
      <p:sp>
        <p:nvSpPr>
          <p:cNvPr id="3" name="Content Placeholder 2">
            <a:extLst>
              <a:ext uri="{FF2B5EF4-FFF2-40B4-BE49-F238E27FC236}">
                <a16:creationId xmlns:a16="http://schemas.microsoft.com/office/drawing/2014/main" id="{EB6DCBB9-502C-32E9-6772-415C0F0EBD60}"/>
              </a:ext>
            </a:extLst>
          </p:cNvPr>
          <p:cNvSpPr>
            <a:spLocks noGrp="1"/>
          </p:cNvSpPr>
          <p:nvPr>
            <p:ph idx="1"/>
          </p:nvPr>
        </p:nvSpPr>
        <p:spPr/>
        <p:txBody>
          <a:bodyPr/>
          <a:lstStyle/>
          <a:p>
            <a:pPr lvl="0" algn="just"/>
            <a:r>
              <a:rPr lang="en-IN" dirty="0">
                <a:latin typeface="Times New Roman" panose="02020603050405020304" pitchFamily="18" charset="0"/>
                <a:cs typeface="Times New Roman" panose="02020603050405020304" pitchFamily="18" charset="0"/>
              </a:rPr>
              <a:t>The Fundamental Attribution Error (FAE), also known as the correspondence bias, refers to the tendency to attribute other people’s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to internal factors such as personality traits, abilities, and feelings.</a:t>
            </a:r>
          </a:p>
          <a:p>
            <a:pPr lvl="0" algn="just"/>
            <a:endParaRPr lang="en-IN" dirty="0">
              <a:latin typeface="Times New Roman" panose="02020603050405020304" pitchFamily="18" charset="0"/>
              <a:cs typeface="Times New Roman" panose="02020603050405020304" pitchFamily="18" charset="0"/>
            </a:endParaRPr>
          </a:p>
          <a:p>
            <a:pPr lvl="0" algn="just"/>
            <a:endParaRPr lang="en-IN" dirty="0">
              <a:latin typeface="Times New Roman" panose="02020603050405020304" pitchFamily="18" charset="0"/>
              <a:cs typeface="Times New Roman" panose="02020603050405020304" pitchFamily="18" charset="0"/>
            </a:endParaRPr>
          </a:p>
          <a:p>
            <a:pPr lvl="0" algn="just"/>
            <a:r>
              <a:rPr lang="en-IN" dirty="0">
                <a:latin typeface="Times New Roman" panose="02020603050405020304" pitchFamily="18" charset="0"/>
                <a:cs typeface="Times New Roman" panose="02020603050405020304" pitchFamily="18" charset="0"/>
              </a:rPr>
              <a:t>When explaining their own behaviour, on the other hand, people tend to attribute it to situational factors. </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4023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C2C7-7E14-2ED8-CB0A-103EED8F3803}"/>
              </a:ext>
            </a:extLst>
          </p:cNvPr>
          <p:cNvSpPr>
            <a:spLocks noGrp="1"/>
          </p:cNvSpPr>
          <p:nvPr>
            <p:ph type="title"/>
          </p:nvPr>
        </p:nvSpPr>
        <p:spPr/>
        <p:txBody>
          <a:bodyPr/>
          <a:lstStyle/>
          <a:p>
            <a:r>
              <a:rPr lang="en-US" dirty="0"/>
              <a:t>The Fundamental Attribution Error</a:t>
            </a:r>
            <a:endParaRPr lang="en-IN" dirty="0"/>
          </a:p>
        </p:txBody>
      </p:sp>
      <p:pic>
        <p:nvPicPr>
          <p:cNvPr id="1026" name="Picture 2">
            <a:extLst>
              <a:ext uri="{FF2B5EF4-FFF2-40B4-BE49-F238E27FC236}">
                <a16:creationId xmlns:a16="http://schemas.microsoft.com/office/drawing/2014/main" id="{0474C09A-F171-352B-9A05-17FEAF6BE56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5683" y="1763252"/>
            <a:ext cx="6576935" cy="4810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30864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573C5-8A1D-2848-79F4-8A3F9D2D8C1E}"/>
              </a:ext>
            </a:extLst>
          </p:cNvPr>
          <p:cNvSpPr>
            <a:spLocks noGrp="1"/>
          </p:cNvSpPr>
          <p:nvPr>
            <p:ph type="title"/>
          </p:nvPr>
        </p:nvSpPr>
        <p:spPr/>
        <p:txBody>
          <a:bodyPr/>
          <a:lstStyle/>
          <a:p>
            <a:r>
              <a:rPr lang="en-US" dirty="0"/>
              <a:t>Actor-Observer Bias</a:t>
            </a:r>
            <a:endParaRPr lang="en-IN" dirty="0"/>
          </a:p>
        </p:txBody>
      </p:sp>
      <p:sp>
        <p:nvSpPr>
          <p:cNvPr id="3" name="Content Placeholder 2">
            <a:extLst>
              <a:ext uri="{FF2B5EF4-FFF2-40B4-BE49-F238E27FC236}">
                <a16:creationId xmlns:a16="http://schemas.microsoft.com/office/drawing/2014/main" id="{8A5C58AE-3E7D-66B2-77FA-02B6D9F3FE9C}"/>
              </a:ext>
            </a:extLst>
          </p:cNvPr>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The Actor-Observer Bias is the tendency to attribute our own actions to external factors while attributing others’ actions to internal factors.</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Example</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If we fail an exam, we might blame the difficulty of the questions or poor teaching (external factors). However, if a peer fails, we might think they didn’t study hard enough (internal factor)</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2292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467D5-95C4-DFBF-5B54-65378343E5E9}"/>
              </a:ext>
            </a:extLst>
          </p:cNvPr>
          <p:cNvSpPr>
            <a:spLocks noGrp="1"/>
          </p:cNvSpPr>
          <p:nvPr>
            <p:ph type="title"/>
          </p:nvPr>
        </p:nvSpPr>
        <p:spPr/>
        <p:txBody>
          <a:bodyPr/>
          <a:lstStyle/>
          <a:p>
            <a:r>
              <a:rPr lang="en-US" b="1" dirty="0"/>
              <a:t>Self-Serving Bias:</a:t>
            </a:r>
            <a:br>
              <a:rPr lang="en-US" b="1" dirty="0"/>
            </a:br>
            <a:endParaRPr lang="en-IN" dirty="0"/>
          </a:p>
        </p:txBody>
      </p:sp>
      <p:sp>
        <p:nvSpPr>
          <p:cNvPr id="3" name="Content Placeholder 2">
            <a:extLst>
              <a:ext uri="{FF2B5EF4-FFF2-40B4-BE49-F238E27FC236}">
                <a16:creationId xmlns:a16="http://schemas.microsoft.com/office/drawing/2014/main" id="{20C47D6B-8CA7-F9E6-5072-EB3A6B38231F}"/>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Self-Serving Bias is the tendency to attribute successes to internal factors and failures to external factors to protect our self-esteem .</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Example</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If we succeed in a project, we might credit our hard work and intelligence (internal attribution). If we fail, we might blame it on a lack of resources or bad luck (external attribution).</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7187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D67CD-AFBF-C662-2AD0-5918463D20FD}"/>
              </a:ext>
            </a:extLst>
          </p:cNvPr>
          <p:cNvSpPr>
            <a:spLocks noGrp="1"/>
          </p:cNvSpPr>
          <p:nvPr>
            <p:ph type="title"/>
          </p:nvPr>
        </p:nvSpPr>
        <p:spPr/>
        <p:txBody>
          <a:bodyPr/>
          <a:lstStyle/>
          <a:p>
            <a:r>
              <a:rPr lang="en-IN" b="1" dirty="0"/>
              <a:t>Just-World Hypothesis</a:t>
            </a:r>
            <a:endParaRPr lang="en-IN" dirty="0"/>
          </a:p>
        </p:txBody>
      </p:sp>
      <p:sp>
        <p:nvSpPr>
          <p:cNvPr id="3" name="Content Placeholder 2">
            <a:extLst>
              <a:ext uri="{FF2B5EF4-FFF2-40B4-BE49-F238E27FC236}">
                <a16:creationId xmlns:a16="http://schemas.microsoft.com/office/drawing/2014/main" id="{73438109-071A-C987-B8D6-725827A08400}"/>
              </a:ext>
            </a:extLst>
          </p:cNvPr>
          <p:cNvSpPr>
            <a:spLocks noGrp="1"/>
          </p:cNvSpPr>
          <p:nvPr>
            <p:ph idx="1"/>
          </p:nvPr>
        </p:nvSpPr>
        <p:spPr/>
        <p:txBody>
          <a:bodyPr>
            <a:normAutofit/>
          </a:bodyPr>
          <a:lstStyle/>
          <a:p>
            <a:pPr lvl="0" algn="just"/>
            <a:r>
              <a:rPr lang="en-IN" dirty="0">
                <a:latin typeface="Times New Roman" panose="02020603050405020304" pitchFamily="18" charset="0"/>
                <a:cs typeface="Times New Roman" panose="02020603050405020304" pitchFamily="18" charset="0"/>
              </a:rPr>
              <a:t>The Just-World Hypothesis is the belief that the world is fair and people get what they deserve. This bias leads to victim-blaming, where individuals attribute others’ misfortunes to their actions or characteristics .\</a:t>
            </a:r>
          </a:p>
          <a:p>
            <a:pPr lvl="0" algn="just"/>
            <a:endParaRPr lang="en-IN" dirty="0">
              <a:latin typeface="Times New Roman" panose="02020603050405020304" pitchFamily="18" charset="0"/>
              <a:cs typeface="Times New Roman" panose="02020603050405020304" pitchFamily="18" charset="0"/>
            </a:endParaRPr>
          </a:p>
          <a:p>
            <a:pPr lvl="0" algn="just"/>
            <a:endParaRPr lang="en-IN" dirty="0">
              <a:latin typeface="Times New Roman" panose="02020603050405020304" pitchFamily="18" charset="0"/>
              <a:cs typeface="Times New Roman" panose="02020603050405020304" pitchFamily="18" charset="0"/>
            </a:endParaRPr>
          </a:p>
          <a:p>
            <a:pPr lvl="0" algn="just"/>
            <a:r>
              <a:rPr lang="en-IN" b="1" i="1" dirty="0">
                <a:latin typeface="Times New Roman" panose="02020603050405020304" pitchFamily="18" charset="0"/>
                <a:cs typeface="Times New Roman" panose="02020603050405020304" pitchFamily="18" charset="0"/>
              </a:rPr>
              <a:t>Example</a:t>
            </a:r>
            <a:r>
              <a:rPr lang="en-IN" i="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Assuming that a person who is mugged was careless or a victim of poverty didn’t work hard enough.</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3735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9C20A-A4E2-C41E-7A1D-8F76E6414F63}"/>
              </a:ext>
            </a:extLst>
          </p:cNvPr>
          <p:cNvSpPr>
            <a:spLocks noGrp="1"/>
          </p:cNvSpPr>
          <p:nvPr>
            <p:ph type="title"/>
          </p:nvPr>
        </p:nvSpPr>
        <p:spPr/>
        <p:txBody>
          <a:bodyPr/>
          <a:lstStyle/>
          <a:p>
            <a:r>
              <a:rPr lang="en-IN" b="1" dirty="0"/>
              <a:t>False Consensus Effect</a:t>
            </a:r>
            <a:endParaRPr lang="en-IN" dirty="0"/>
          </a:p>
        </p:txBody>
      </p:sp>
      <p:sp>
        <p:nvSpPr>
          <p:cNvPr id="3" name="Content Placeholder 2">
            <a:extLst>
              <a:ext uri="{FF2B5EF4-FFF2-40B4-BE49-F238E27FC236}">
                <a16:creationId xmlns:a16="http://schemas.microsoft.com/office/drawing/2014/main" id="{F64A5249-DE52-982E-74B3-D6D1891F906B}"/>
              </a:ext>
            </a:extLst>
          </p:cNvPr>
          <p:cNvSpPr>
            <a:spLocks noGrp="1"/>
          </p:cNvSpPr>
          <p:nvPr>
            <p:ph idx="1"/>
          </p:nvPr>
        </p:nvSpPr>
        <p:spPr/>
        <p:txBody>
          <a:bodyPr>
            <a:normAutofit/>
          </a:bodyPr>
          <a:lstStyle/>
          <a:p>
            <a:pPr lvl="0" algn="just"/>
            <a:r>
              <a:rPr lang="en-IN" dirty="0">
                <a:latin typeface="Times New Roman" panose="02020603050405020304" pitchFamily="18" charset="0"/>
                <a:cs typeface="Times New Roman" panose="02020603050405020304" pitchFamily="18" charset="0"/>
              </a:rPr>
              <a:t>The False Consensus Effect is the tendency to overestimate the extent to which others share our beliefs, attitudes, and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 .</a:t>
            </a:r>
          </a:p>
          <a:p>
            <a:pPr lvl="0" algn="just"/>
            <a:endParaRPr lang="en-IN" dirty="0">
              <a:latin typeface="Times New Roman" panose="02020603050405020304" pitchFamily="18" charset="0"/>
              <a:cs typeface="Times New Roman" panose="02020603050405020304" pitchFamily="18" charset="0"/>
            </a:endParaRPr>
          </a:p>
          <a:p>
            <a:pPr lvl="0" algn="just"/>
            <a:endParaRPr lang="en-IN" dirty="0">
              <a:latin typeface="Times New Roman" panose="02020603050405020304" pitchFamily="18" charset="0"/>
              <a:cs typeface="Times New Roman" panose="02020603050405020304" pitchFamily="18" charset="0"/>
            </a:endParaRPr>
          </a:p>
          <a:p>
            <a:pPr lvl="0" algn="just"/>
            <a:endParaRPr lang="en-IN" dirty="0">
              <a:latin typeface="Times New Roman" panose="02020603050405020304" pitchFamily="18" charset="0"/>
              <a:cs typeface="Times New Roman" panose="02020603050405020304" pitchFamily="18" charset="0"/>
            </a:endParaRPr>
          </a:p>
          <a:p>
            <a:pPr lvl="0" algn="just"/>
            <a:r>
              <a:rPr lang="en-IN" b="1" i="1" dirty="0">
                <a:latin typeface="Times New Roman" panose="02020603050405020304" pitchFamily="18" charset="0"/>
                <a:cs typeface="Times New Roman" panose="02020603050405020304" pitchFamily="18" charset="0"/>
              </a:rPr>
              <a:t>Example</a:t>
            </a:r>
            <a:r>
              <a:rPr lang="en-IN" i="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Believing that most people agree with our political views or that our preferences are common.</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5787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3ED5385-50E2-A0AB-B200-6CA1BFCEAF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0784" y="427568"/>
            <a:ext cx="8643321" cy="5762215"/>
          </a:xfrm>
          <a:prstGeom prst="rect">
            <a:avLst/>
          </a:prstGeom>
        </p:spPr>
      </p:pic>
    </p:spTree>
    <p:extLst>
      <p:ext uri="{BB962C8B-B14F-4D97-AF65-F5344CB8AC3E}">
        <p14:creationId xmlns:p14="http://schemas.microsoft.com/office/powerpoint/2010/main" val="2677729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105AE-C7F5-26B7-BE40-932DBF12E27E}"/>
              </a:ext>
            </a:extLst>
          </p:cNvPr>
          <p:cNvSpPr>
            <a:spLocks noGrp="1"/>
          </p:cNvSpPr>
          <p:nvPr>
            <p:ph type="title"/>
          </p:nvPr>
        </p:nvSpPr>
        <p:spPr/>
        <p:txBody>
          <a:bodyPr/>
          <a:lstStyle/>
          <a:p>
            <a:r>
              <a:rPr lang="en-US" dirty="0"/>
              <a:t>Attitudes</a:t>
            </a:r>
            <a:endParaRPr lang="en-IN" dirty="0"/>
          </a:p>
        </p:txBody>
      </p:sp>
      <p:sp>
        <p:nvSpPr>
          <p:cNvPr id="3" name="Content Placeholder 2">
            <a:extLst>
              <a:ext uri="{FF2B5EF4-FFF2-40B4-BE49-F238E27FC236}">
                <a16:creationId xmlns:a16="http://schemas.microsoft.com/office/drawing/2014/main" id="{38E598D5-4504-1411-66D8-F3CAC8930466}"/>
              </a:ext>
            </a:extLst>
          </p:cNvPr>
          <p:cNvSpPr>
            <a:spLocks noGrp="1"/>
          </p:cNvSpPr>
          <p:nvPr>
            <p:ph idx="1"/>
          </p:nvPr>
        </p:nvSpPr>
        <p:spPr/>
        <p:txBody>
          <a:bodyPr/>
          <a:lstStyle/>
          <a:p>
            <a:r>
              <a:rPr lang="en-US" dirty="0"/>
              <a:t>Attitudes can be complex because different people can feel differently about the same things. </a:t>
            </a:r>
          </a:p>
          <a:p>
            <a:r>
              <a:rPr lang="en-US" dirty="0"/>
              <a:t>For example, while some people may like a certain job, others may not like it at all.</a:t>
            </a:r>
            <a:endParaRPr lang="en-IN" dirty="0"/>
          </a:p>
        </p:txBody>
      </p:sp>
    </p:spTree>
    <p:extLst>
      <p:ext uri="{BB962C8B-B14F-4D97-AF65-F5344CB8AC3E}">
        <p14:creationId xmlns:p14="http://schemas.microsoft.com/office/powerpoint/2010/main" val="2077249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25E6E-C866-C389-522D-E2790C579B1B}"/>
              </a:ext>
            </a:extLst>
          </p:cNvPr>
          <p:cNvSpPr>
            <a:spLocks noGrp="1"/>
          </p:cNvSpPr>
          <p:nvPr>
            <p:ph type="title"/>
          </p:nvPr>
        </p:nvSpPr>
        <p:spPr/>
        <p:txBody>
          <a:bodyPr/>
          <a:lstStyle/>
          <a:p>
            <a:r>
              <a:rPr lang="en-IN" b="1" dirty="0"/>
              <a:t>Characteristics of Attitude</a:t>
            </a:r>
            <a:br>
              <a:rPr lang="en-IN" dirty="0"/>
            </a:br>
            <a:endParaRPr lang="en-IN" dirty="0"/>
          </a:p>
        </p:txBody>
      </p:sp>
      <p:sp>
        <p:nvSpPr>
          <p:cNvPr id="3" name="Content Placeholder 2">
            <a:extLst>
              <a:ext uri="{FF2B5EF4-FFF2-40B4-BE49-F238E27FC236}">
                <a16:creationId xmlns:a16="http://schemas.microsoft.com/office/drawing/2014/main" id="{6015B762-48D4-9497-B907-40B8FE21EF86}"/>
              </a:ext>
            </a:extLst>
          </p:cNvPr>
          <p:cNvSpPr>
            <a:spLocks noGrp="1"/>
          </p:cNvSpPr>
          <p:nvPr>
            <p:ph idx="1"/>
          </p:nvPr>
        </p:nvSpPr>
        <p:spPr/>
        <p:txBody>
          <a:bodyPr>
            <a:normAutofit/>
          </a:bodyPr>
          <a:lstStyle/>
          <a:p>
            <a:pPr lvl="0" algn="just"/>
            <a:r>
              <a:rPr lang="en-IN" b="1" dirty="0">
                <a:latin typeface="Times New Roman" panose="02020603050405020304" pitchFamily="18" charset="0"/>
                <a:cs typeface="Times New Roman" panose="02020603050405020304" pitchFamily="18" charset="0"/>
              </a:rPr>
              <a:t>Evaluative</a:t>
            </a:r>
            <a:r>
              <a:rPr lang="en-IN" dirty="0">
                <a:latin typeface="Times New Roman" panose="02020603050405020304" pitchFamily="18" charset="0"/>
                <a:cs typeface="Times New Roman" panose="02020603050405020304" pitchFamily="18" charset="0"/>
              </a:rPr>
              <a:t>: Attitudes involve an individual’s positive or negative evaluation of an object, person, group, idea, or event.</a:t>
            </a:r>
          </a:p>
          <a:p>
            <a:pPr marL="0" lvl="0" indent="0" algn="just">
              <a:buNone/>
            </a:pPr>
            <a:endParaRPr lang="en-IN" dirty="0">
              <a:latin typeface="Times New Roman" panose="02020603050405020304" pitchFamily="18" charset="0"/>
              <a:cs typeface="Times New Roman" panose="02020603050405020304" pitchFamily="18" charset="0"/>
            </a:endParaRPr>
          </a:p>
          <a:p>
            <a:pPr lvl="0" algn="just"/>
            <a:r>
              <a:rPr lang="en-IN" b="1" dirty="0">
                <a:latin typeface="Times New Roman" panose="02020603050405020304" pitchFamily="18" charset="0"/>
                <a:cs typeface="Times New Roman" panose="02020603050405020304" pitchFamily="18" charset="0"/>
              </a:rPr>
              <a:t>Learned</a:t>
            </a:r>
            <a:r>
              <a:rPr lang="en-IN" dirty="0">
                <a:latin typeface="Times New Roman" panose="02020603050405020304" pitchFamily="18" charset="0"/>
                <a:cs typeface="Times New Roman" panose="02020603050405020304" pitchFamily="18" charset="0"/>
              </a:rPr>
              <a:t>: Attitudes are learned through a variety of processes, including direct experience, socialization, and exposure to persuasive messages.</a:t>
            </a:r>
          </a:p>
          <a:p>
            <a:pPr marL="0" lvl="0" indent="0" algn="just">
              <a:buNone/>
            </a:pPr>
            <a:endParaRPr lang="en-IN" dirty="0">
              <a:latin typeface="Times New Roman" panose="02020603050405020304" pitchFamily="18" charset="0"/>
              <a:cs typeface="Times New Roman" panose="02020603050405020304" pitchFamily="18" charset="0"/>
            </a:endParaRPr>
          </a:p>
          <a:p>
            <a:pPr lvl="0" algn="just"/>
            <a:r>
              <a:rPr lang="en-IN" b="1" dirty="0">
                <a:latin typeface="Times New Roman" panose="02020603050405020304" pitchFamily="18" charset="0"/>
                <a:cs typeface="Times New Roman" panose="02020603050405020304" pitchFamily="18" charset="0"/>
              </a:rPr>
              <a:t>Enduring</a:t>
            </a:r>
            <a:r>
              <a:rPr lang="en-IN" dirty="0">
                <a:latin typeface="Times New Roman" panose="02020603050405020304" pitchFamily="18" charset="0"/>
                <a:cs typeface="Times New Roman" panose="02020603050405020304" pitchFamily="18" charset="0"/>
              </a:rPr>
              <a:t>: Attitudes tend to be enduring, meaning they can persist over time and be resistant to change.</a:t>
            </a:r>
          </a:p>
          <a:p>
            <a:pPr marL="0" lvl="0" indent="0" algn="just">
              <a:buNone/>
            </a:pPr>
            <a:endParaRPr lang="en-IN" dirty="0">
              <a:latin typeface="Times New Roman" panose="02020603050405020304" pitchFamily="18" charset="0"/>
              <a:cs typeface="Times New Roman" panose="02020603050405020304" pitchFamily="18" charset="0"/>
            </a:endParaRPr>
          </a:p>
          <a:p>
            <a:pPr lvl="0" algn="just"/>
            <a:r>
              <a:rPr lang="en-IN" b="1" dirty="0">
                <a:latin typeface="Times New Roman" panose="02020603050405020304" pitchFamily="18" charset="0"/>
                <a:cs typeface="Times New Roman" panose="02020603050405020304" pitchFamily="18" charset="0"/>
              </a:rPr>
              <a:t>Influence </a:t>
            </a:r>
            <a:r>
              <a:rPr lang="en-IN" b="1"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Attitudes can influence an individual’s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thoughts, and emotions, and can shape their social interactions and relationships.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8215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8004-EE2C-E90D-C439-1FF352F61998}"/>
              </a:ext>
            </a:extLst>
          </p:cNvPr>
          <p:cNvSpPr>
            <a:spLocks noGrp="1"/>
          </p:cNvSpPr>
          <p:nvPr>
            <p:ph type="title"/>
          </p:nvPr>
        </p:nvSpPr>
        <p:spPr/>
        <p:txBody>
          <a:bodyPr/>
          <a:lstStyle/>
          <a:p>
            <a:r>
              <a:rPr lang="en-IN" b="1" dirty="0"/>
              <a:t>Characteristics of Attitude</a:t>
            </a:r>
            <a:endParaRPr lang="en-IN" dirty="0"/>
          </a:p>
        </p:txBody>
      </p:sp>
      <p:sp>
        <p:nvSpPr>
          <p:cNvPr id="3" name="Content Placeholder 2">
            <a:extLst>
              <a:ext uri="{FF2B5EF4-FFF2-40B4-BE49-F238E27FC236}">
                <a16:creationId xmlns:a16="http://schemas.microsoft.com/office/drawing/2014/main" id="{E3A8A439-02B7-4515-22DE-49507530FE2C}"/>
              </a:ext>
            </a:extLst>
          </p:cNvPr>
          <p:cNvSpPr>
            <a:spLocks noGrp="1"/>
          </p:cNvSpPr>
          <p:nvPr>
            <p:ph idx="1"/>
          </p:nvPr>
        </p:nvSpPr>
        <p:spPr/>
        <p:txBody>
          <a:bodyPr/>
          <a:lstStyle/>
          <a:p>
            <a:pPr lvl="0" algn="just"/>
            <a:r>
              <a:rPr lang="en-IN" b="1" dirty="0">
                <a:latin typeface="Times New Roman" panose="02020603050405020304" pitchFamily="18" charset="0"/>
                <a:cs typeface="Times New Roman" panose="02020603050405020304" pitchFamily="18" charset="0"/>
              </a:rPr>
              <a:t>Vary in intensity</a:t>
            </a:r>
            <a:r>
              <a:rPr lang="en-IN" dirty="0">
                <a:latin typeface="Times New Roman" panose="02020603050405020304" pitchFamily="18" charset="0"/>
                <a:cs typeface="Times New Roman" panose="02020603050405020304" pitchFamily="18" charset="0"/>
              </a:rPr>
              <a:t>: Attitudes can vary in intensity, meaning some attitudes may be stronger than others and have a greater influence on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a:t>
            </a:r>
          </a:p>
          <a:p>
            <a:pPr marL="0" lvl="0" indent="0" algn="just">
              <a:buNone/>
            </a:pPr>
            <a:endParaRPr lang="en-IN" dirty="0">
              <a:latin typeface="Times New Roman" panose="02020603050405020304" pitchFamily="18" charset="0"/>
              <a:cs typeface="Times New Roman" panose="02020603050405020304" pitchFamily="18" charset="0"/>
            </a:endParaRPr>
          </a:p>
          <a:p>
            <a:pPr lvl="0" algn="just"/>
            <a:r>
              <a:rPr lang="en-IN" b="1" dirty="0">
                <a:latin typeface="Times New Roman" panose="02020603050405020304" pitchFamily="18" charset="0"/>
                <a:cs typeface="Times New Roman" panose="02020603050405020304" pitchFamily="18" charset="0"/>
              </a:rPr>
              <a:t>Multi-dimensional</a:t>
            </a:r>
            <a:r>
              <a:rPr lang="en-IN" dirty="0">
                <a:latin typeface="Times New Roman" panose="02020603050405020304" pitchFamily="18" charset="0"/>
                <a:cs typeface="Times New Roman" panose="02020603050405020304" pitchFamily="18" charset="0"/>
              </a:rPr>
              <a:t>: Attitudes are multi-dimensional, composed of cognitive, affective, and </a:t>
            </a:r>
            <a:r>
              <a:rPr lang="en-IN" dirty="0" err="1">
                <a:latin typeface="Times New Roman" panose="02020603050405020304" pitchFamily="18" charset="0"/>
                <a:cs typeface="Times New Roman" panose="02020603050405020304" pitchFamily="18" charset="0"/>
              </a:rPr>
              <a:t>behavioral</a:t>
            </a:r>
            <a:r>
              <a:rPr lang="en-IN" dirty="0">
                <a:latin typeface="Times New Roman" panose="02020603050405020304" pitchFamily="18" charset="0"/>
                <a:cs typeface="Times New Roman" panose="02020603050405020304" pitchFamily="18" charset="0"/>
              </a:rPr>
              <a:t> components.</a:t>
            </a:r>
          </a:p>
          <a:p>
            <a:pPr marL="0" lvl="0" indent="0" algn="just">
              <a:buNone/>
            </a:pPr>
            <a:endParaRPr lang="en-IN" dirty="0">
              <a:latin typeface="Times New Roman" panose="02020603050405020304" pitchFamily="18" charset="0"/>
              <a:cs typeface="Times New Roman" panose="02020603050405020304" pitchFamily="18" charset="0"/>
            </a:endParaRPr>
          </a:p>
          <a:p>
            <a:pPr lvl="0" algn="just"/>
            <a:r>
              <a:rPr lang="en-IN" b="1" dirty="0">
                <a:latin typeface="Times New Roman" panose="02020603050405020304" pitchFamily="18" charset="0"/>
                <a:cs typeface="Times New Roman" panose="02020603050405020304" pitchFamily="18" charset="0"/>
              </a:rPr>
              <a:t>Context-dependent</a:t>
            </a:r>
            <a:r>
              <a:rPr lang="en-IN" dirty="0">
                <a:latin typeface="Times New Roman" panose="02020603050405020304" pitchFamily="18" charset="0"/>
                <a:cs typeface="Times New Roman" panose="02020603050405020304" pitchFamily="18" charset="0"/>
              </a:rPr>
              <a:t>: Attitudes can be context-dependent, meaning they may change depending on the situation or social context.</a:t>
            </a:r>
          </a:p>
          <a:p>
            <a:pPr marL="0" lvl="0" indent="0" algn="just">
              <a:buNone/>
            </a:pPr>
            <a:endParaRPr lang="en-IN" dirty="0">
              <a:latin typeface="Times New Roman" panose="02020603050405020304" pitchFamily="18" charset="0"/>
              <a:cs typeface="Times New Roman" panose="02020603050405020304" pitchFamily="18" charset="0"/>
            </a:endParaRPr>
          </a:p>
          <a:p>
            <a:pPr lvl="0" algn="just"/>
            <a:r>
              <a:rPr lang="en-IN" b="1" dirty="0">
                <a:latin typeface="Times New Roman" panose="02020603050405020304" pitchFamily="18" charset="0"/>
                <a:cs typeface="Times New Roman" panose="02020603050405020304" pitchFamily="18" charset="0"/>
              </a:rPr>
              <a:t>Can change over time</a:t>
            </a:r>
            <a:r>
              <a:rPr lang="en-IN" dirty="0">
                <a:latin typeface="Times New Roman" panose="02020603050405020304" pitchFamily="18" charset="0"/>
                <a:cs typeface="Times New Roman" panose="02020603050405020304" pitchFamily="18" charset="0"/>
              </a:rPr>
              <a:t>: While attitudes tend to be enduring, they can change over time through processes such as persuasion, cognitive dissonance, and social influence.</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29212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6DABF-02AB-7193-C3A7-66343E293C89}"/>
              </a:ext>
            </a:extLst>
          </p:cNvPr>
          <p:cNvSpPr>
            <a:spLocks noGrp="1"/>
          </p:cNvSpPr>
          <p:nvPr>
            <p:ph type="title"/>
          </p:nvPr>
        </p:nvSpPr>
        <p:spPr/>
        <p:txBody>
          <a:bodyPr>
            <a:normAutofit/>
          </a:bodyPr>
          <a:lstStyle/>
          <a:p>
            <a:r>
              <a:rPr lang="en-US" dirty="0"/>
              <a:t>Components of Attitudes </a:t>
            </a:r>
            <a:br>
              <a:rPr lang="en-US" dirty="0"/>
            </a:br>
            <a:r>
              <a:rPr lang="en-US" dirty="0"/>
              <a:t>(</a:t>
            </a:r>
            <a:r>
              <a:rPr lang="en-US" b="1" dirty="0">
                <a:latin typeface="Times New Roman" panose="02020603050405020304" pitchFamily="18" charset="0"/>
                <a:cs typeface="Times New Roman" panose="02020603050405020304" pitchFamily="18" charset="0"/>
              </a:rPr>
              <a:t>ABC model of attitudes)</a:t>
            </a:r>
            <a:endParaRPr lang="en-IN" dirty="0"/>
          </a:p>
        </p:txBody>
      </p:sp>
      <p:sp>
        <p:nvSpPr>
          <p:cNvPr id="3" name="Content Placeholder 2">
            <a:extLst>
              <a:ext uri="{FF2B5EF4-FFF2-40B4-BE49-F238E27FC236}">
                <a16:creationId xmlns:a16="http://schemas.microsoft.com/office/drawing/2014/main" id="{CB1943A1-8072-5532-74B6-70762A5777FA}"/>
              </a:ext>
            </a:extLst>
          </p:cNvPr>
          <p:cNvSpPr>
            <a:spLocks noGrp="1"/>
          </p:cNvSpPr>
          <p:nvPr>
            <p:ph idx="1"/>
          </p:nvPr>
        </p:nvSpPr>
        <p:spPr/>
        <p:txBody>
          <a:bodyPr>
            <a:normAutofit/>
          </a:bodyPr>
          <a:lstStyle/>
          <a:p>
            <a:pPr marL="457200" lvl="1" indent="0" algn="just">
              <a:buNone/>
            </a:pPr>
            <a:r>
              <a:rPr lang="en-IN" sz="1800" b="1" dirty="0">
                <a:latin typeface="Times New Roman" panose="02020603050405020304" pitchFamily="18" charset="0"/>
                <a:cs typeface="Times New Roman" panose="02020603050405020304" pitchFamily="18" charset="0"/>
              </a:rPr>
              <a:t>1) Cognitive Component</a:t>
            </a:r>
            <a:endParaRPr lang="en-IN" sz="1800" dirty="0">
              <a:latin typeface="Times New Roman" panose="02020603050405020304" pitchFamily="18" charset="0"/>
              <a:cs typeface="Times New Roman" panose="02020603050405020304" pitchFamily="18" charset="0"/>
            </a:endParaRPr>
          </a:p>
          <a:p>
            <a:pPr lvl="2" algn="just"/>
            <a:r>
              <a:rPr lang="en-IN" sz="1800" dirty="0">
                <a:latin typeface="Times New Roman" panose="02020603050405020304" pitchFamily="18" charset="0"/>
                <a:cs typeface="Times New Roman" panose="02020603050405020304" pitchFamily="18" charset="0"/>
              </a:rPr>
              <a:t>This component reflects the opinion, belief or feeling about something, like the object, people, or event. </a:t>
            </a:r>
          </a:p>
          <a:p>
            <a:pPr lvl="2" algn="just"/>
            <a:r>
              <a:rPr lang="en-IN" sz="1800" dirty="0">
                <a:latin typeface="Times New Roman" panose="02020603050405020304" pitchFamily="18" charset="0"/>
                <a:cs typeface="Times New Roman" panose="02020603050405020304" pitchFamily="18" charset="0"/>
              </a:rPr>
              <a:t>Opinion is the expression that a person forms of the facts known to him. </a:t>
            </a:r>
          </a:p>
          <a:p>
            <a:pPr lvl="2" algn="just"/>
            <a:endParaRPr lang="en-IN" sz="1800"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For example, “It is wrong to tell lies” is a belief.</a:t>
            </a:r>
          </a:p>
          <a:p>
            <a:pPr algn="just"/>
            <a:r>
              <a:rPr lang="en-IN" dirty="0">
                <a:latin typeface="Times New Roman" panose="02020603050405020304" pitchFamily="18" charset="0"/>
                <a:cs typeface="Times New Roman" panose="02020603050405020304" pitchFamily="18" charset="0"/>
              </a:rPr>
              <a:t>“It is wrong to tell lies, but in that situation, it was necessary to lie, and it didn’t harm anyone, so it’s okay to hide the truth,” is an opinion that justifies a specific situation.</a:t>
            </a:r>
          </a:p>
          <a:p>
            <a:pPr lvl="2"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44640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070E9-B20B-61A5-D4FF-F5FFC23CD4EC}"/>
              </a:ext>
            </a:extLst>
          </p:cNvPr>
          <p:cNvSpPr>
            <a:spLocks noGrp="1"/>
          </p:cNvSpPr>
          <p:nvPr>
            <p:ph type="title"/>
          </p:nvPr>
        </p:nvSpPr>
        <p:spPr/>
        <p:txBody>
          <a:bodyPr/>
          <a:lstStyle/>
          <a:p>
            <a:r>
              <a:rPr lang="en-US" dirty="0"/>
              <a:t>Components of Attitudes </a:t>
            </a:r>
            <a:br>
              <a:rPr lang="en-US" dirty="0"/>
            </a:br>
            <a:r>
              <a:rPr lang="en-US" dirty="0"/>
              <a:t>(</a:t>
            </a:r>
            <a:r>
              <a:rPr lang="en-US" b="1" dirty="0">
                <a:latin typeface="Times New Roman" panose="02020603050405020304" pitchFamily="18" charset="0"/>
                <a:cs typeface="Times New Roman" panose="02020603050405020304" pitchFamily="18" charset="0"/>
              </a:rPr>
              <a:t>ABC model of attitudes)</a:t>
            </a:r>
            <a:endParaRPr lang="en-IN" dirty="0"/>
          </a:p>
        </p:txBody>
      </p:sp>
      <p:sp>
        <p:nvSpPr>
          <p:cNvPr id="3" name="Content Placeholder 2">
            <a:extLst>
              <a:ext uri="{FF2B5EF4-FFF2-40B4-BE49-F238E27FC236}">
                <a16:creationId xmlns:a16="http://schemas.microsoft.com/office/drawing/2014/main" id="{3BA73F15-9DAA-788A-60EA-22458EB1C59E}"/>
              </a:ext>
            </a:extLst>
          </p:cNvPr>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2) </a:t>
            </a:r>
            <a:r>
              <a:rPr lang="en-IN" b="1" dirty="0">
                <a:latin typeface="Times New Roman" panose="02020603050405020304" pitchFamily="18" charset="0"/>
                <a:cs typeface="Times New Roman" panose="02020603050405020304" pitchFamily="18" charset="0"/>
              </a:rPr>
              <a:t>Affective Component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While </a:t>
            </a:r>
            <a:r>
              <a:rPr lang="en-IN" b="1" dirty="0">
                <a:latin typeface="Times New Roman" panose="02020603050405020304" pitchFamily="18" charset="0"/>
                <a:cs typeface="Times New Roman" panose="02020603050405020304" pitchFamily="18" charset="0"/>
              </a:rPr>
              <a:t>cognitive</a:t>
            </a:r>
            <a:r>
              <a:rPr lang="en-IN" dirty="0">
                <a:latin typeface="Times New Roman" panose="02020603050405020304" pitchFamily="18" charset="0"/>
                <a:cs typeface="Times New Roman" panose="02020603050405020304" pitchFamily="18" charset="0"/>
              </a:rPr>
              <a:t> component expresses the </a:t>
            </a:r>
            <a:r>
              <a:rPr lang="en-IN" b="1" dirty="0">
                <a:latin typeface="Times New Roman" panose="02020603050405020304" pitchFamily="18" charset="0"/>
                <a:cs typeface="Times New Roman" panose="02020603050405020304" pitchFamily="18" charset="0"/>
              </a:rPr>
              <a:t>opinion</a:t>
            </a:r>
            <a:r>
              <a:rPr lang="en-IN" dirty="0">
                <a:latin typeface="Times New Roman" panose="02020603050405020304" pitchFamily="18" charset="0"/>
                <a:cs typeface="Times New Roman" panose="02020603050405020304" pitchFamily="18" charset="0"/>
              </a:rPr>
              <a:t> or belief about an object or situation, the </a:t>
            </a:r>
            <a:r>
              <a:rPr lang="en-IN" b="1" dirty="0">
                <a:latin typeface="Times New Roman" panose="02020603050405020304" pitchFamily="18" charset="0"/>
                <a:cs typeface="Times New Roman" panose="02020603050405020304" pitchFamily="18" charset="0"/>
              </a:rPr>
              <a:t>affective</a:t>
            </a:r>
            <a:r>
              <a:rPr lang="en-IN" dirty="0">
                <a:latin typeface="Times New Roman" panose="02020603050405020304" pitchFamily="18" charset="0"/>
                <a:cs typeface="Times New Roman" panose="02020603050405020304" pitchFamily="18" charset="0"/>
              </a:rPr>
              <a:t> component expresses the </a:t>
            </a:r>
            <a:r>
              <a:rPr lang="en-IN" b="1" dirty="0">
                <a:latin typeface="Times New Roman" panose="02020603050405020304" pitchFamily="18" charset="0"/>
                <a:cs typeface="Times New Roman" panose="02020603050405020304" pitchFamily="18" charset="0"/>
              </a:rPr>
              <a:t>feeling</a:t>
            </a:r>
            <a:r>
              <a:rPr lang="en-IN" dirty="0">
                <a:latin typeface="Times New Roman" panose="02020603050405020304" pitchFamily="18" charset="0"/>
                <a:cs typeface="Times New Roman" panose="02020603050405020304" pitchFamily="18" charset="0"/>
              </a:rPr>
              <a:t> or sentiment about that object or situation. </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For example,</a:t>
            </a:r>
          </a:p>
          <a:p>
            <a:pPr algn="just"/>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I like my boss (positive feeling towards boss) or I do not like my boss (negative feeling towards boss).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453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C5CD2-7B61-CF19-E98A-A1FE10776288}"/>
              </a:ext>
            </a:extLst>
          </p:cNvPr>
          <p:cNvSpPr>
            <a:spLocks noGrp="1"/>
          </p:cNvSpPr>
          <p:nvPr>
            <p:ph type="title"/>
          </p:nvPr>
        </p:nvSpPr>
        <p:spPr/>
        <p:txBody>
          <a:bodyPr/>
          <a:lstStyle/>
          <a:p>
            <a:r>
              <a:rPr lang="en-US" dirty="0"/>
              <a:t>Components of Attitudes </a:t>
            </a:r>
            <a:br>
              <a:rPr lang="en-US" dirty="0"/>
            </a:br>
            <a:r>
              <a:rPr lang="en-US" dirty="0"/>
              <a:t>(</a:t>
            </a:r>
            <a:r>
              <a:rPr lang="en-US" b="1" dirty="0">
                <a:latin typeface="Times New Roman" panose="02020603050405020304" pitchFamily="18" charset="0"/>
                <a:cs typeface="Times New Roman" panose="02020603050405020304" pitchFamily="18" charset="0"/>
              </a:rPr>
              <a:t>ABC model of attitudes)</a:t>
            </a:r>
            <a:endParaRPr lang="en-IN" dirty="0"/>
          </a:p>
        </p:txBody>
      </p:sp>
      <p:sp>
        <p:nvSpPr>
          <p:cNvPr id="3" name="Content Placeholder 2">
            <a:extLst>
              <a:ext uri="{FF2B5EF4-FFF2-40B4-BE49-F238E27FC236}">
                <a16:creationId xmlns:a16="http://schemas.microsoft.com/office/drawing/2014/main" id="{3332BC60-C81F-F924-EFD0-3D35D2E8D3CB}"/>
              </a:ext>
            </a:extLst>
          </p:cNvPr>
          <p:cNvSpPr>
            <a:spLocks noGrp="1"/>
          </p:cNvSpPr>
          <p:nvPr>
            <p:ph idx="1"/>
          </p:nvPr>
        </p:nvSpPr>
        <p:spPr/>
        <p:txBody>
          <a:bodyPr>
            <a:normAutofit/>
          </a:bodyPr>
          <a:lstStyle/>
          <a:p>
            <a:pPr marL="0" indent="0" algn="just">
              <a:buNone/>
            </a:pPr>
            <a:r>
              <a:rPr lang="en-IN" b="1" dirty="0">
                <a:latin typeface="Times New Roman" panose="02020603050405020304" pitchFamily="18" charset="0"/>
                <a:cs typeface="Times New Roman" panose="02020603050405020304" pitchFamily="18" charset="0"/>
              </a:rPr>
              <a:t>3) Behavioural Component</a:t>
            </a:r>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Cognitive</a:t>
            </a:r>
            <a:r>
              <a:rPr lang="en-IN" dirty="0">
                <a:latin typeface="Times New Roman" panose="02020603050405020304" pitchFamily="18" charset="0"/>
                <a:cs typeface="Times New Roman" panose="02020603050405020304" pitchFamily="18" charset="0"/>
              </a:rPr>
              <a:t> element is the ‘</a:t>
            </a:r>
            <a:r>
              <a:rPr lang="en-IN" b="1" dirty="0">
                <a:latin typeface="Times New Roman" panose="02020603050405020304" pitchFamily="18" charset="0"/>
                <a:cs typeface="Times New Roman" panose="02020603050405020304" pitchFamily="18" charset="0"/>
              </a:rPr>
              <a:t>belief</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affective</a:t>
            </a:r>
            <a:r>
              <a:rPr lang="en-IN" dirty="0">
                <a:latin typeface="Times New Roman" panose="02020603050405020304" pitchFamily="18" charset="0"/>
                <a:cs typeface="Times New Roman" panose="02020603050405020304" pitchFamily="18" charset="0"/>
              </a:rPr>
              <a:t> component is how one ‘</a:t>
            </a:r>
            <a:r>
              <a:rPr lang="en-IN" b="1" dirty="0">
                <a:latin typeface="Times New Roman" panose="02020603050405020304" pitchFamily="18" charset="0"/>
                <a:cs typeface="Times New Roman" panose="02020603050405020304" pitchFamily="18" charset="0"/>
              </a:rPr>
              <a:t>feels</a:t>
            </a:r>
            <a:r>
              <a:rPr lang="en-IN" dirty="0">
                <a:latin typeface="Times New Roman" panose="02020603050405020304" pitchFamily="18" charset="0"/>
                <a:cs typeface="Times New Roman" panose="02020603050405020304" pitchFamily="18" charset="0"/>
              </a:rPr>
              <a:t>’ about that belief and </a:t>
            </a:r>
            <a:r>
              <a:rPr lang="en-IN" b="1" dirty="0">
                <a:latin typeface="Times New Roman" panose="02020603050405020304" pitchFamily="18" charset="0"/>
                <a:cs typeface="Times New Roman" panose="02020603050405020304" pitchFamily="18" charset="0"/>
              </a:rPr>
              <a:t>behavioural</a:t>
            </a:r>
            <a:r>
              <a:rPr lang="en-IN" dirty="0">
                <a:latin typeface="Times New Roman" panose="02020603050405020304" pitchFamily="18" charset="0"/>
                <a:cs typeface="Times New Roman" panose="02020603050405020304" pitchFamily="18" charset="0"/>
              </a:rPr>
              <a:t> component describes </a:t>
            </a:r>
            <a:r>
              <a:rPr lang="en-IN" b="1" dirty="0">
                <a:latin typeface="Times New Roman" panose="02020603050405020304" pitchFamily="18" charset="0"/>
                <a:cs typeface="Times New Roman" panose="02020603050405020304" pitchFamily="18" charset="0"/>
              </a:rPr>
              <a:t>how one intends to behave </a:t>
            </a:r>
            <a:r>
              <a:rPr lang="en-IN" dirty="0">
                <a:latin typeface="Times New Roman" panose="02020603050405020304" pitchFamily="18" charset="0"/>
                <a:cs typeface="Times New Roman" panose="02020603050405020304" pitchFamily="18" charset="0"/>
              </a:rPr>
              <a:t>towards the object or situation as influenced by the cognitive and affective components (the belief and the feelings). </a:t>
            </a:r>
          </a:p>
        </p:txBody>
      </p:sp>
    </p:spTree>
    <p:extLst>
      <p:ext uri="{BB962C8B-B14F-4D97-AF65-F5344CB8AC3E}">
        <p14:creationId xmlns:p14="http://schemas.microsoft.com/office/powerpoint/2010/main" val="2828097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1D33A-94F2-9E64-A348-3BD48CFB441B}"/>
              </a:ext>
            </a:extLst>
          </p:cNvPr>
          <p:cNvSpPr>
            <a:spLocks noGrp="1"/>
          </p:cNvSpPr>
          <p:nvPr>
            <p:ph type="title"/>
          </p:nvPr>
        </p:nvSpPr>
        <p:spPr/>
        <p:txBody>
          <a:bodyPr/>
          <a:lstStyle/>
          <a:p>
            <a:r>
              <a:rPr lang="en-US" dirty="0"/>
              <a:t>Components of Attitudes </a:t>
            </a:r>
            <a:br>
              <a:rPr lang="en-US" dirty="0"/>
            </a:br>
            <a:r>
              <a:rPr lang="en-US" dirty="0"/>
              <a:t>(</a:t>
            </a:r>
            <a:r>
              <a:rPr lang="en-US" b="1" dirty="0">
                <a:latin typeface="Times New Roman" panose="02020603050405020304" pitchFamily="18" charset="0"/>
                <a:cs typeface="Times New Roman" panose="02020603050405020304" pitchFamily="18" charset="0"/>
              </a:rPr>
              <a:t>ABC model of attitudes)</a:t>
            </a:r>
            <a:endParaRPr lang="en-IN" dirty="0"/>
          </a:p>
        </p:txBody>
      </p:sp>
      <p:sp>
        <p:nvSpPr>
          <p:cNvPr id="3" name="Content Placeholder 2">
            <a:extLst>
              <a:ext uri="{FF2B5EF4-FFF2-40B4-BE49-F238E27FC236}">
                <a16:creationId xmlns:a16="http://schemas.microsoft.com/office/drawing/2014/main" id="{7B7FA0A6-3239-031E-287F-1E17C6CCD29C}"/>
              </a:ext>
            </a:extLst>
          </p:cNvPr>
          <p:cNvSpPr>
            <a:spLocks noGrp="1"/>
          </p:cNvSpPr>
          <p:nvPr>
            <p:ph idx="1"/>
          </p:nvPr>
        </p:nvSpPr>
        <p:spPr/>
        <p:txBody>
          <a:bodyPr>
            <a:normAutofit/>
          </a:bodyPr>
          <a:lstStyle/>
          <a:p>
            <a:pPr algn="just"/>
            <a:r>
              <a:rPr lang="en-IN" dirty="0">
                <a:latin typeface="Times New Roman" panose="02020603050405020304" pitchFamily="18" charset="0"/>
                <a:cs typeface="Times New Roman" panose="02020603050405020304" pitchFamily="18" charset="0"/>
              </a:rPr>
              <a:t>Attitude of X can be broken into three parts:</a:t>
            </a:r>
          </a:p>
          <a:p>
            <a:pPr lvl="0" algn="just"/>
            <a:r>
              <a:rPr lang="en-IN" dirty="0">
                <a:latin typeface="Times New Roman" panose="02020603050405020304" pitchFamily="18" charset="0"/>
                <a:cs typeface="Times New Roman" panose="02020603050405020304" pitchFamily="18" charset="0"/>
              </a:rPr>
              <a:t>Cognitive component – X thinks that promotions should be based on merit, but Y got it. X believes this is unfair.</a:t>
            </a:r>
          </a:p>
          <a:p>
            <a:pPr lvl="0" algn="just"/>
            <a:r>
              <a:rPr lang="en-IN" dirty="0">
                <a:latin typeface="Times New Roman" panose="02020603050405020304" pitchFamily="18" charset="0"/>
                <a:cs typeface="Times New Roman" panose="02020603050405020304" pitchFamily="18" charset="0"/>
              </a:rPr>
              <a:t>Affective component – X does not like the work environment at the company because he feels it is not right to use favouritism for promotions. X thinks it is unethical.</a:t>
            </a:r>
          </a:p>
          <a:p>
            <a:pPr lvl="0" algn="just"/>
            <a:r>
              <a:rPr lang="en-IN" dirty="0">
                <a:latin typeface="Times New Roman" panose="02020603050405020304" pitchFamily="18" charset="0"/>
                <a:cs typeface="Times New Roman" panose="02020603050405020304" pitchFamily="18" charset="0"/>
              </a:rPr>
              <a:t>Behavioural component – X decides he cannot work in this environment, so he looks for a new job that treats employees fairly.</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37859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8BE7A-4201-284B-A60F-FB9146D6F5B7}"/>
              </a:ext>
            </a:extLst>
          </p:cNvPr>
          <p:cNvSpPr>
            <a:spLocks noGrp="1"/>
          </p:cNvSpPr>
          <p:nvPr>
            <p:ph type="title"/>
          </p:nvPr>
        </p:nvSpPr>
        <p:spPr/>
        <p:txBody>
          <a:bodyPr/>
          <a:lstStyle/>
          <a:p>
            <a:r>
              <a:rPr lang="en-US" dirty="0"/>
              <a:t>Attitudes and Consistency</a:t>
            </a:r>
            <a:endParaRPr lang="en-IN" dirty="0"/>
          </a:p>
        </p:txBody>
      </p:sp>
      <p:sp>
        <p:nvSpPr>
          <p:cNvPr id="3" name="Content Placeholder 2">
            <a:extLst>
              <a:ext uri="{FF2B5EF4-FFF2-40B4-BE49-F238E27FC236}">
                <a16:creationId xmlns:a16="http://schemas.microsoft.com/office/drawing/2014/main" id="{62CBD8E4-658A-7B23-2D00-3A80E8CD83EF}"/>
              </a:ext>
            </a:extLst>
          </p:cNvPr>
          <p:cNvSpPr>
            <a:spLocks noGrp="1"/>
          </p:cNvSpPr>
          <p:nvPr>
            <p:ph idx="1"/>
          </p:nvPr>
        </p:nvSpPr>
        <p:spPr/>
        <p:txBody>
          <a:bodyPr>
            <a:noAutofit/>
          </a:bodyPr>
          <a:lstStyle/>
          <a:p>
            <a:pPr algn="just"/>
            <a:r>
              <a:rPr lang="en-IN" sz="1500" dirty="0">
                <a:latin typeface="Times New Roman" panose="02020603050405020304" pitchFamily="18" charset="0"/>
                <a:cs typeface="Times New Roman" panose="02020603050405020304" pitchFamily="18" charset="0"/>
              </a:rPr>
              <a:t>Attitudes and Consistency is an important concept in Organizational </a:t>
            </a:r>
            <a:r>
              <a:rPr lang="en-IN" sz="1500" dirty="0" err="1">
                <a:latin typeface="Times New Roman" panose="02020603050405020304" pitchFamily="18" charset="0"/>
                <a:cs typeface="Times New Roman" panose="02020603050405020304" pitchFamily="18" charset="0"/>
              </a:rPr>
              <a:t>Behavior</a:t>
            </a:r>
            <a:r>
              <a:rPr lang="en-IN" sz="1500" dirty="0">
                <a:latin typeface="Times New Roman" panose="02020603050405020304" pitchFamily="18" charset="0"/>
                <a:cs typeface="Times New Roman" panose="02020603050405020304" pitchFamily="18" charset="0"/>
              </a:rPr>
              <a:t> and Social Psychology. It explains how people try to keep their beliefs, attitudes, and </a:t>
            </a:r>
            <a:r>
              <a:rPr lang="en-IN" sz="1500" dirty="0" err="1">
                <a:latin typeface="Times New Roman" panose="02020603050405020304" pitchFamily="18" charset="0"/>
                <a:cs typeface="Times New Roman" panose="02020603050405020304" pitchFamily="18" charset="0"/>
              </a:rPr>
              <a:t>behaviors</a:t>
            </a:r>
            <a:r>
              <a:rPr lang="en-IN" sz="1500" dirty="0">
                <a:latin typeface="Times New Roman" panose="02020603050405020304" pitchFamily="18" charset="0"/>
                <a:cs typeface="Times New Roman" panose="02020603050405020304" pitchFamily="18" charset="0"/>
              </a:rPr>
              <a:t> aligned with each other.</a:t>
            </a:r>
          </a:p>
          <a:p>
            <a:pPr algn="just"/>
            <a:r>
              <a:rPr lang="en-US" sz="1500" dirty="0">
                <a:latin typeface="Times New Roman" panose="02020603050405020304" pitchFamily="18" charset="0"/>
                <a:cs typeface="Times New Roman" panose="02020603050405020304" pitchFamily="18" charset="0"/>
              </a:rPr>
              <a:t>An </a:t>
            </a:r>
            <a:r>
              <a:rPr lang="en-US" sz="1500" b="1" dirty="0">
                <a:latin typeface="Times New Roman" panose="02020603050405020304" pitchFamily="18" charset="0"/>
                <a:cs typeface="Times New Roman" panose="02020603050405020304" pitchFamily="18" charset="0"/>
              </a:rPr>
              <a:t>attitude</a:t>
            </a:r>
            <a:r>
              <a:rPr lang="en-US" sz="1500" dirty="0">
                <a:latin typeface="Times New Roman" panose="02020603050405020304" pitchFamily="18" charset="0"/>
                <a:cs typeface="Times New Roman" panose="02020603050405020304" pitchFamily="18" charset="0"/>
              </a:rPr>
              <a:t> is a person's </a:t>
            </a:r>
            <a:r>
              <a:rPr lang="en-US" sz="1500" b="1" dirty="0">
                <a:latin typeface="Times New Roman" panose="02020603050405020304" pitchFamily="18" charset="0"/>
                <a:cs typeface="Times New Roman" panose="02020603050405020304" pitchFamily="18" charset="0"/>
              </a:rPr>
              <a:t>positive or negative evaluation, feeling, or tendency toward an object, person, or situation</a:t>
            </a:r>
            <a:r>
              <a:rPr lang="en-US" sz="1500" dirty="0">
                <a:latin typeface="Times New Roman" panose="02020603050405020304" pitchFamily="18" charset="0"/>
                <a:cs typeface="Times New Roman" panose="02020603050405020304" pitchFamily="18" charset="0"/>
              </a:rPr>
              <a:t>.</a:t>
            </a:r>
          </a:p>
          <a:p>
            <a:pPr lvl="1" algn="just"/>
            <a:r>
              <a:rPr lang="en-US" sz="1500" b="1" dirty="0">
                <a:latin typeface="Times New Roman" panose="02020603050405020304" pitchFamily="18" charset="0"/>
                <a:cs typeface="Times New Roman" panose="02020603050405020304" pitchFamily="18" charset="0"/>
              </a:rPr>
              <a:t>Example:</a:t>
            </a:r>
            <a:endParaRPr lang="en-US" sz="1500" dirty="0">
              <a:latin typeface="Times New Roman" panose="02020603050405020304" pitchFamily="18" charset="0"/>
              <a:cs typeface="Times New Roman" panose="02020603050405020304" pitchFamily="18" charset="0"/>
            </a:endParaRPr>
          </a:p>
          <a:p>
            <a:pPr lvl="2" algn="just"/>
            <a:r>
              <a:rPr lang="en-US" sz="1500" dirty="0">
                <a:latin typeface="Times New Roman" panose="02020603050405020304" pitchFamily="18" charset="0"/>
                <a:cs typeface="Times New Roman" panose="02020603050405020304" pitchFamily="18" charset="0"/>
              </a:rPr>
              <a:t>A student believes </a:t>
            </a:r>
            <a:r>
              <a:rPr lang="en-US" sz="1500" b="1" dirty="0">
                <a:latin typeface="Times New Roman" panose="02020603050405020304" pitchFamily="18" charset="0"/>
                <a:cs typeface="Times New Roman" panose="02020603050405020304" pitchFamily="18" charset="0"/>
              </a:rPr>
              <a:t>studying regularly is important</a:t>
            </a:r>
            <a:r>
              <a:rPr lang="en-US" sz="1500" dirty="0">
                <a:latin typeface="Times New Roman" panose="02020603050405020304" pitchFamily="18" charset="0"/>
                <a:cs typeface="Times New Roman" panose="02020603050405020304" pitchFamily="18" charset="0"/>
              </a:rPr>
              <a:t> → Positive attitude toward studying.</a:t>
            </a:r>
          </a:p>
          <a:p>
            <a:pPr algn="just"/>
            <a:r>
              <a:rPr lang="en-US" sz="1500" b="1" dirty="0">
                <a:latin typeface="Times New Roman" panose="02020603050405020304" pitchFamily="18" charset="0"/>
                <a:cs typeface="Times New Roman" panose="02020603050405020304" pitchFamily="18" charset="0"/>
              </a:rPr>
              <a:t>Consistency</a:t>
            </a:r>
            <a:r>
              <a:rPr lang="en-US" sz="1500" dirty="0">
                <a:latin typeface="Times New Roman" panose="02020603050405020304" pitchFamily="18" charset="0"/>
                <a:cs typeface="Times New Roman" panose="02020603050405020304" pitchFamily="18" charset="0"/>
              </a:rPr>
              <a:t> means that </a:t>
            </a:r>
            <a:r>
              <a:rPr lang="en-US" sz="1500" b="1" dirty="0">
                <a:latin typeface="Times New Roman" panose="02020603050405020304" pitchFamily="18" charset="0"/>
                <a:cs typeface="Times New Roman" panose="02020603050405020304" pitchFamily="18" charset="0"/>
              </a:rPr>
              <a:t>people prefer harmony between their attitudes and their actions</a:t>
            </a:r>
            <a:r>
              <a:rPr lang="en-US" sz="1500" dirty="0">
                <a:latin typeface="Times New Roman" panose="02020603050405020304" pitchFamily="18" charset="0"/>
                <a:cs typeface="Times New Roman" panose="02020603050405020304" pitchFamily="18" charset="0"/>
              </a:rPr>
              <a:t>.</a:t>
            </a:r>
          </a:p>
          <a:p>
            <a:pPr algn="just"/>
            <a:r>
              <a:rPr lang="en-US" sz="1500" dirty="0">
                <a:latin typeface="Times New Roman" panose="02020603050405020304" pitchFamily="18" charset="0"/>
                <a:cs typeface="Times New Roman" panose="02020603050405020304" pitchFamily="18" charset="0"/>
              </a:rPr>
              <a:t>When there is </a:t>
            </a:r>
            <a:r>
              <a:rPr lang="en-US" sz="1500" b="1" dirty="0">
                <a:latin typeface="Times New Roman" panose="02020603050405020304" pitchFamily="18" charset="0"/>
                <a:cs typeface="Times New Roman" panose="02020603050405020304" pitchFamily="18" charset="0"/>
              </a:rPr>
              <a:t>inconsistency</a:t>
            </a:r>
            <a:r>
              <a:rPr lang="en-US" sz="1500" dirty="0">
                <a:latin typeface="Times New Roman" panose="02020603050405020304" pitchFamily="18" charset="0"/>
                <a:cs typeface="Times New Roman" panose="02020603050405020304" pitchFamily="18" charset="0"/>
              </a:rPr>
              <a:t>, individuals feel </a:t>
            </a:r>
            <a:r>
              <a:rPr lang="en-US" sz="1500" b="1" dirty="0">
                <a:latin typeface="Times New Roman" panose="02020603050405020304" pitchFamily="18" charset="0"/>
                <a:cs typeface="Times New Roman" panose="02020603050405020304" pitchFamily="18" charset="0"/>
              </a:rPr>
              <a:t>psychological discomfort</a:t>
            </a:r>
            <a:r>
              <a:rPr lang="en-US" sz="1500" dirty="0">
                <a:latin typeface="Times New Roman" panose="02020603050405020304" pitchFamily="18" charset="0"/>
                <a:cs typeface="Times New Roman" panose="02020603050405020304" pitchFamily="18" charset="0"/>
              </a:rPr>
              <a:t> and try to correct it.</a:t>
            </a:r>
          </a:p>
          <a:p>
            <a:pPr lvl="1" algn="just"/>
            <a:r>
              <a:rPr lang="en-US" sz="1500" dirty="0">
                <a:latin typeface="Times New Roman" panose="02020603050405020304" pitchFamily="18" charset="0"/>
                <a:cs typeface="Times New Roman" panose="02020603050405020304" pitchFamily="18" charset="0"/>
              </a:rPr>
              <a:t>Example:</a:t>
            </a:r>
          </a:p>
          <a:p>
            <a:pPr lvl="2" algn="just"/>
            <a:r>
              <a:rPr lang="en-US" sz="1500" dirty="0">
                <a:latin typeface="Times New Roman" panose="02020603050405020304" pitchFamily="18" charset="0"/>
                <a:cs typeface="Times New Roman" panose="02020603050405020304" pitchFamily="18" charset="0"/>
              </a:rPr>
              <a:t>If someone believes </a:t>
            </a:r>
            <a:r>
              <a:rPr lang="en-US" sz="1500" b="1" dirty="0">
                <a:latin typeface="Times New Roman" panose="02020603050405020304" pitchFamily="18" charset="0"/>
                <a:cs typeface="Times New Roman" panose="02020603050405020304" pitchFamily="18" charset="0"/>
              </a:rPr>
              <a:t>smoking is harmful</a:t>
            </a:r>
            <a:r>
              <a:rPr lang="en-US" sz="1500" dirty="0">
                <a:latin typeface="Times New Roman" panose="02020603050405020304" pitchFamily="18" charset="0"/>
                <a:cs typeface="Times New Roman" panose="02020603050405020304" pitchFamily="18" charset="0"/>
              </a:rPr>
              <a:t> but still smokes, they feel uncomfortable and may:</a:t>
            </a:r>
          </a:p>
          <a:p>
            <a:pPr lvl="3" algn="just"/>
            <a:r>
              <a:rPr lang="en-US" sz="1500" dirty="0">
                <a:latin typeface="Times New Roman" panose="02020603050405020304" pitchFamily="18" charset="0"/>
                <a:cs typeface="Times New Roman" panose="02020603050405020304" pitchFamily="18" charset="0"/>
              </a:rPr>
              <a:t>Quit smoking, or</a:t>
            </a:r>
          </a:p>
          <a:p>
            <a:pPr lvl="3" algn="just"/>
            <a:r>
              <a:rPr lang="en-US" sz="1500" dirty="0">
                <a:latin typeface="Times New Roman" panose="02020603050405020304" pitchFamily="18" charset="0"/>
                <a:cs typeface="Times New Roman" panose="02020603050405020304" pitchFamily="18" charset="0"/>
              </a:rPr>
              <a:t>Justify it by saying “I only smoke occasionally.”</a:t>
            </a:r>
          </a:p>
          <a:p>
            <a:pPr lvl="1" algn="just"/>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60533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DE0E8-3879-5446-F6D2-1A95E5731876}"/>
              </a:ext>
            </a:extLst>
          </p:cNvPr>
          <p:cNvSpPr>
            <a:spLocks noGrp="1"/>
          </p:cNvSpPr>
          <p:nvPr>
            <p:ph type="title"/>
          </p:nvPr>
        </p:nvSpPr>
        <p:spPr/>
        <p:txBody>
          <a:bodyPr/>
          <a:lstStyle/>
          <a:p>
            <a:r>
              <a:rPr lang="en-IN" b="1" dirty="0"/>
              <a:t>Cognitive dissonance theory</a:t>
            </a:r>
            <a:br>
              <a:rPr lang="en-IN" dirty="0"/>
            </a:br>
            <a:endParaRPr lang="en-IN" dirty="0"/>
          </a:p>
        </p:txBody>
      </p:sp>
      <p:sp>
        <p:nvSpPr>
          <p:cNvPr id="3" name="Content Placeholder 2">
            <a:extLst>
              <a:ext uri="{FF2B5EF4-FFF2-40B4-BE49-F238E27FC236}">
                <a16:creationId xmlns:a16="http://schemas.microsoft.com/office/drawing/2014/main" id="{71BE7932-CF8A-A388-4951-9527BD464CAD}"/>
              </a:ext>
            </a:extLst>
          </p:cNvPr>
          <p:cNvSpPr>
            <a:spLocks noGrp="1"/>
          </p:cNvSpPr>
          <p:nvPr>
            <p:ph idx="1"/>
          </p:nvPr>
        </p:nvSpPr>
        <p:spPr/>
        <p:txBody>
          <a:bodyPr/>
          <a:lstStyle/>
          <a:p>
            <a:pPr algn="just"/>
            <a:r>
              <a:rPr lang="en-IN" dirty="0">
                <a:latin typeface="Times New Roman" panose="02020603050405020304" pitchFamily="18" charset="0"/>
                <a:cs typeface="Times New Roman" panose="02020603050405020304" pitchFamily="18" charset="0"/>
              </a:rPr>
              <a:t>The concept of attitude consistency is strongly explained by </a:t>
            </a:r>
            <a:r>
              <a:rPr lang="en-IN" b="1" dirty="0">
                <a:latin typeface="Times New Roman" panose="02020603050405020304" pitchFamily="18" charset="0"/>
                <a:cs typeface="Times New Roman" panose="02020603050405020304" pitchFamily="18" charset="0"/>
              </a:rPr>
              <a:t>Cognitive Dissonance Theory</a:t>
            </a:r>
            <a:r>
              <a:rPr lang="en-IN" dirty="0">
                <a:latin typeface="Times New Roman" panose="02020603050405020304" pitchFamily="18" charset="0"/>
                <a:cs typeface="Times New Roman" panose="02020603050405020304" pitchFamily="18" charset="0"/>
              </a:rPr>
              <a:t>, developed by </a:t>
            </a:r>
            <a:r>
              <a:rPr lang="en-IN" b="1" dirty="0">
                <a:latin typeface="Times New Roman" panose="02020603050405020304" pitchFamily="18" charset="0"/>
                <a:cs typeface="Times New Roman" panose="02020603050405020304" pitchFamily="18" charset="0"/>
              </a:rPr>
              <a:t>Leon Festinger</a:t>
            </a:r>
            <a:r>
              <a:rPr lang="en-IN" dirty="0">
                <a:latin typeface="Times New Roman" panose="02020603050405020304" pitchFamily="18" charset="0"/>
                <a:cs typeface="Times New Roman" panose="02020603050405020304" pitchFamily="18" charset="0"/>
              </a:rPr>
              <a:t>.</a:t>
            </a:r>
          </a:p>
          <a:p>
            <a:pPr algn="just"/>
            <a:r>
              <a:rPr lang="en-IN" b="1" dirty="0">
                <a:latin typeface="Times New Roman" panose="02020603050405020304" pitchFamily="18" charset="0"/>
                <a:cs typeface="Times New Roman" panose="02020603050405020304" pitchFamily="18" charset="0"/>
              </a:rPr>
              <a:t>Cognitive dissonance theory </a:t>
            </a:r>
            <a:r>
              <a:rPr lang="en-IN" dirty="0">
                <a:latin typeface="Times New Roman" panose="02020603050405020304" pitchFamily="18" charset="0"/>
                <a:cs typeface="Times New Roman" panose="02020603050405020304" pitchFamily="18" charset="0"/>
              </a:rPr>
              <a:t>was first presented by Leon Festinger in 1957 in order to explain the relationships between the motivation, perceptions and cognitions of an individual.</a:t>
            </a:r>
          </a:p>
          <a:p>
            <a:pPr algn="just"/>
            <a:r>
              <a:rPr lang="en-IN" dirty="0">
                <a:latin typeface="Times New Roman" panose="02020603050405020304" pitchFamily="18" charset="0"/>
                <a:cs typeface="Times New Roman" panose="02020603050405020304" pitchFamily="18" charset="0"/>
              </a:rPr>
              <a:t>Festinger (Festinger, 1962) defined the ‘</a:t>
            </a:r>
            <a:r>
              <a:rPr lang="en-IN" b="1" dirty="0">
                <a:latin typeface="Times New Roman" panose="02020603050405020304" pitchFamily="18" charset="0"/>
                <a:cs typeface="Times New Roman" panose="02020603050405020304" pitchFamily="18" charset="0"/>
              </a:rPr>
              <a:t>cognition</a:t>
            </a:r>
            <a:r>
              <a:rPr lang="en-IN" dirty="0">
                <a:latin typeface="Times New Roman" panose="02020603050405020304" pitchFamily="18" charset="0"/>
                <a:cs typeface="Times New Roman" panose="02020603050405020304" pitchFamily="18" charset="0"/>
              </a:rPr>
              <a:t>’ as any piece of knowledge that an individual has about themself or their environment. </a:t>
            </a:r>
          </a:p>
          <a:p>
            <a:pPr algn="just"/>
            <a:r>
              <a:rPr lang="en-IN" dirty="0">
                <a:latin typeface="Times New Roman" panose="02020603050405020304" pitchFamily="18" charset="0"/>
                <a:cs typeface="Times New Roman" panose="02020603050405020304" pitchFamily="18" charset="0"/>
              </a:rPr>
              <a:t>The theory was based on the belief that people strive toward consistency within themselves and are driven to make changes to reduce or eliminate an inconsistency </a:t>
            </a: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31032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0312C-7388-D7BD-713F-A93B908CBDA4}"/>
              </a:ext>
            </a:extLst>
          </p:cNvPr>
          <p:cNvSpPr>
            <a:spLocks noGrp="1"/>
          </p:cNvSpPr>
          <p:nvPr>
            <p:ph type="title"/>
          </p:nvPr>
        </p:nvSpPr>
        <p:spPr/>
        <p:txBody>
          <a:bodyPr/>
          <a:lstStyle/>
          <a:p>
            <a:r>
              <a:rPr lang="en-IN" b="1" dirty="0"/>
              <a:t>Cognitive dissonance theory</a:t>
            </a:r>
            <a:br>
              <a:rPr lang="en-IN" dirty="0"/>
            </a:br>
            <a:endParaRPr lang="en-IN" dirty="0"/>
          </a:p>
        </p:txBody>
      </p:sp>
      <p:sp>
        <p:nvSpPr>
          <p:cNvPr id="3" name="Content Placeholder 2">
            <a:extLst>
              <a:ext uri="{FF2B5EF4-FFF2-40B4-BE49-F238E27FC236}">
                <a16:creationId xmlns:a16="http://schemas.microsoft.com/office/drawing/2014/main" id="{6594508E-9183-83DF-699A-23AE5817E2DC}"/>
              </a:ext>
            </a:extLst>
          </p:cNvPr>
          <p:cNvSpPr>
            <a:spLocks noGrp="1"/>
          </p:cNvSpPr>
          <p:nvPr>
            <p:ph idx="1"/>
          </p:nvPr>
        </p:nvSpPr>
        <p:spPr/>
        <p:txBody>
          <a:bodyPr/>
          <a:lstStyle/>
          <a:p>
            <a:pPr algn="just"/>
            <a:r>
              <a:rPr lang="en-IN" dirty="0">
                <a:latin typeface="Times New Roman" panose="02020603050405020304" pitchFamily="18" charset="0"/>
                <a:cs typeface="Times New Roman" panose="02020603050405020304" pitchFamily="18" charset="0"/>
              </a:rPr>
              <a:t>Cognitive dissonance theory began by postulating that pairs of cognitions can be </a:t>
            </a:r>
            <a:r>
              <a:rPr lang="en-IN" b="1" dirty="0">
                <a:latin typeface="Times New Roman" panose="02020603050405020304" pitchFamily="18" charset="0"/>
                <a:cs typeface="Times New Roman" panose="02020603050405020304" pitchFamily="18" charset="0"/>
              </a:rPr>
              <a:t>either relevant or irrelevant </a:t>
            </a:r>
            <a:r>
              <a:rPr lang="en-IN" dirty="0">
                <a:latin typeface="Times New Roman" panose="02020603050405020304" pitchFamily="18" charset="0"/>
                <a:cs typeface="Times New Roman" panose="02020603050405020304" pitchFamily="18" charset="0"/>
              </a:rPr>
              <a:t>to one another. </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If two cognitions are </a:t>
            </a:r>
            <a:r>
              <a:rPr lang="en-IN" b="1" dirty="0">
                <a:latin typeface="Times New Roman" panose="02020603050405020304" pitchFamily="18" charset="0"/>
                <a:cs typeface="Times New Roman" panose="02020603050405020304" pitchFamily="18" charset="0"/>
              </a:rPr>
              <a:t>relevant</a:t>
            </a:r>
            <a:r>
              <a:rPr lang="en-IN" dirty="0">
                <a:latin typeface="Times New Roman" panose="02020603050405020304" pitchFamily="18" charset="0"/>
                <a:cs typeface="Times New Roman" panose="02020603050405020304" pitchFamily="18" charset="0"/>
              </a:rPr>
              <a:t> and concurring, there is </a:t>
            </a:r>
            <a:r>
              <a:rPr lang="en-IN" b="1" dirty="0">
                <a:latin typeface="Times New Roman" panose="02020603050405020304" pitchFamily="18" charset="0"/>
                <a:cs typeface="Times New Roman" panose="02020603050405020304" pitchFamily="18" charset="0"/>
              </a:rPr>
              <a:t>consonance</a:t>
            </a:r>
            <a:r>
              <a:rPr lang="en-IN" dirty="0">
                <a:latin typeface="Times New Roman" panose="02020603050405020304" pitchFamily="18" charset="0"/>
                <a:cs typeface="Times New Roman" panose="02020603050405020304" pitchFamily="18" charset="0"/>
              </a:rPr>
              <a:t>. </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However, if two cognitions are </a:t>
            </a:r>
            <a:r>
              <a:rPr lang="en-IN" b="1" dirty="0">
                <a:latin typeface="Times New Roman" panose="02020603050405020304" pitchFamily="18" charset="0"/>
                <a:cs typeface="Times New Roman" panose="02020603050405020304" pitchFamily="18" charset="0"/>
              </a:rPr>
              <a:t>relevant</a:t>
            </a:r>
            <a:r>
              <a:rPr lang="en-IN" dirty="0">
                <a:latin typeface="Times New Roman" panose="02020603050405020304" pitchFamily="18" charset="0"/>
                <a:cs typeface="Times New Roman" panose="02020603050405020304" pitchFamily="18" charset="0"/>
              </a:rPr>
              <a:t>, but </a:t>
            </a:r>
            <a:r>
              <a:rPr lang="en-IN" b="1" dirty="0">
                <a:latin typeface="Times New Roman" panose="02020603050405020304" pitchFamily="18" charset="0"/>
                <a:cs typeface="Times New Roman" panose="02020603050405020304" pitchFamily="18" charset="0"/>
              </a:rPr>
              <a:t>conflicting</a:t>
            </a:r>
            <a:r>
              <a:rPr lang="en-IN" dirty="0">
                <a:latin typeface="Times New Roman" panose="02020603050405020304" pitchFamily="18" charset="0"/>
                <a:cs typeface="Times New Roman" panose="02020603050405020304" pitchFamily="18" charset="0"/>
              </a:rPr>
              <a:t>, the existence of </a:t>
            </a:r>
            <a:r>
              <a:rPr lang="en-IN" b="1" dirty="0">
                <a:latin typeface="Times New Roman" panose="02020603050405020304" pitchFamily="18" charset="0"/>
                <a:cs typeface="Times New Roman" panose="02020603050405020304" pitchFamily="18" charset="0"/>
              </a:rPr>
              <a:t>dissonance</a:t>
            </a:r>
            <a:r>
              <a:rPr lang="en-IN" dirty="0">
                <a:latin typeface="Times New Roman" panose="02020603050405020304" pitchFamily="18" charset="0"/>
                <a:cs typeface="Times New Roman" panose="02020603050405020304" pitchFamily="18" charset="0"/>
              </a:rPr>
              <a:t> would cause psychological discomfort and motivate the individual to act upon this.  </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20796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49000-05E7-657B-8892-7D0CA5C405D5}"/>
              </a:ext>
            </a:extLst>
          </p:cNvPr>
          <p:cNvSpPr>
            <a:spLocks noGrp="1"/>
          </p:cNvSpPr>
          <p:nvPr>
            <p:ph type="title"/>
          </p:nvPr>
        </p:nvSpPr>
        <p:spPr/>
        <p:txBody>
          <a:bodyPr/>
          <a:lstStyle/>
          <a:p>
            <a:r>
              <a:rPr lang="en-IN" b="1" dirty="0"/>
              <a:t>Cognitive dissonance theory</a:t>
            </a:r>
            <a:br>
              <a:rPr lang="en-IN" dirty="0"/>
            </a:br>
            <a:endParaRPr lang="en-IN" dirty="0"/>
          </a:p>
        </p:txBody>
      </p:sp>
      <p:sp>
        <p:nvSpPr>
          <p:cNvPr id="3" name="Content Placeholder 2">
            <a:extLst>
              <a:ext uri="{FF2B5EF4-FFF2-40B4-BE49-F238E27FC236}">
                <a16:creationId xmlns:a16="http://schemas.microsoft.com/office/drawing/2014/main" id="{761510C3-85EB-23CD-DE45-26FD965D7D65}"/>
              </a:ext>
            </a:extLst>
          </p:cNvPr>
          <p:cNvSpPr>
            <a:spLocks noGrp="1"/>
          </p:cNvSpPr>
          <p:nvPr>
            <p:ph idx="1"/>
          </p:nvPr>
        </p:nvSpPr>
        <p:spPr/>
        <p:txBody>
          <a:bodyPr/>
          <a:lstStyle/>
          <a:p>
            <a:pPr marL="0" indent="0">
              <a:buNone/>
            </a:pPr>
            <a:r>
              <a:rPr lang="en-IN" b="1" dirty="0">
                <a:latin typeface="Times New Roman" panose="02020603050405020304" pitchFamily="18" charset="0"/>
                <a:cs typeface="Times New Roman" panose="02020603050405020304" pitchFamily="18" charset="0"/>
              </a:rPr>
              <a:t>Four ways to reduce a dissonance</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1) an individual can reduce the mental discomfort by changing the inconsistent cognition</a:t>
            </a:r>
          </a:p>
          <a:p>
            <a:pPr marL="0" indent="0">
              <a:buNone/>
            </a:pPr>
            <a:r>
              <a:rPr lang="en-IN" dirty="0">
                <a:latin typeface="Times New Roman" panose="02020603050405020304" pitchFamily="18" charset="0"/>
                <a:cs typeface="Times New Roman" panose="02020603050405020304" pitchFamily="18" charset="0"/>
              </a:rPr>
              <a:t>2) reducing the importance of conflicting elements</a:t>
            </a:r>
          </a:p>
          <a:p>
            <a:pPr marL="0" indent="0">
              <a:buNone/>
            </a:pPr>
            <a:r>
              <a:rPr lang="en-IN" dirty="0">
                <a:latin typeface="Times New Roman" panose="02020603050405020304" pitchFamily="18" charset="0"/>
                <a:cs typeface="Times New Roman" panose="02020603050405020304" pitchFamily="18" charset="0"/>
              </a:rPr>
              <a:t>3) acquiring new harmonious elements or</a:t>
            </a:r>
          </a:p>
          <a:p>
            <a:pPr marL="0" indent="0">
              <a:buNone/>
            </a:pPr>
            <a:r>
              <a:rPr lang="en-IN" dirty="0">
                <a:latin typeface="Times New Roman" panose="02020603050405020304" pitchFamily="18" charset="0"/>
                <a:cs typeface="Times New Roman" panose="02020603050405020304" pitchFamily="18" charset="0"/>
              </a:rPr>
              <a:t>4) increasing the importance of the existing consistent elements.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90750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252EB-1C1E-9C2C-F64C-AEDD5FD891C9}"/>
              </a:ext>
            </a:extLst>
          </p:cNvPr>
          <p:cNvSpPr>
            <a:spLocks noGrp="1"/>
          </p:cNvSpPr>
          <p:nvPr>
            <p:ph type="title"/>
          </p:nvPr>
        </p:nvSpPr>
        <p:spPr>
          <a:xfrm>
            <a:off x="677334" y="609600"/>
            <a:ext cx="8596668" cy="736879"/>
          </a:xfrm>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87C98EF4-D21F-09C9-3537-3AD5F4F322DD}"/>
              </a:ext>
            </a:extLst>
          </p:cNvPr>
          <p:cNvSpPr>
            <a:spLocks noGrp="1"/>
          </p:cNvSpPr>
          <p:nvPr>
            <p:ph idx="1"/>
          </p:nvPr>
        </p:nvSpPr>
        <p:spPr>
          <a:xfrm>
            <a:off x="677334" y="1488613"/>
            <a:ext cx="8596668" cy="3880773"/>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Four ways that the smoker can reduce the dissonance.</a:t>
            </a:r>
          </a:p>
          <a:p>
            <a:pPr marL="0" indent="0">
              <a:buNone/>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12B9677-1C5B-3E44-D195-3826BA0D6BF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01921" y="1895593"/>
            <a:ext cx="7610967" cy="5072940"/>
          </a:xfrm>
          <a:prstGeom prst="rect">
            <a:avLst/>
          </a:prstGeom>
          <a:noFill/>
          <a:ln>
            <a:noFill/>
          </a:ln>
        </p:spPr>
      </p:pic>
    </p:spTree>
    <p:extLst>
      <p:ext uri="{BB962C8B-B14F-4D97-AF65-F5344CB8AC3E}">
        <p14:creationId xmlns:p14="http://schemas.microsoft.com/office/powerpoint/2010/main" val="155304863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128</TotalTime>
  <Words>2355</Words>
  <Application>Microsoft Office PowerPoint</Application>
  <PresentationFormat>Widescreen</PresentationFormat>
  <Paragraphs>182</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Times New Roman</vt:lpstr>
      <vt:lpstr>Trebuchet MS</vt:lpstr>
      <vt:lpstr>Wingdings 3</vt:lpstr>
      <vt:lpstr>Facet</vt:lpstr>
      <vt:lpstr>Individual Behavior and Motivation </vt:lpstr>
      <vt:lpstr>Understanding individual behavior</vt:lpstr>
      <vt:lpstr>Perceptual Process</vt:lpstr>
      <vt:lpstr>Perceptual Process</vt:lpstr>
      <vt:lpstr>Perceptual Process</vt:lpstr>
      <vt:lpstr>Perceptual Distortion and Types </vt:lpstr>
      <vt:lpstr>Types of Perceptual Distortion</vt:lpstr>
      <vt:lpstr>Types of Perceptual Distortion</vt:lpstr>
      <vt:lpstr>Types of Perceptual Distortion</vt:lpstr>
      <vt:lpstr>Attribution</vt:lpstr>
      <vt:lpstr>Types of Attribution</vt:lpstr>
      <vt:lpstr>Types of Attribution</vt:lpstr>
      <vt:lpstr>Types of Attribution</vt:lpstr>
      <vt:lpstr>Types of Attribution</vt:lpstr>
      <vt:lpstr>Attribution Theory</vt:lpstr>
      <vt:lpstr>Core Concepts of Attribution Theory </vt:lpstr>
      <vt:lpstr>Key Models within Attribution Theory </vt:lpstr>
      <vt:lpstr>Key Models within Attribution Theory </vt:lpstr>
      <vt:lpstr>Attribution Errors</vt:lpstr>
      <vt:lpstr>The Fundamental Attribution Error</vt:lpstr>
      <vt:lpstr>Actor-Observer Bias</vt:lpstr>
      <vt:lpstr>Self-Serving Bias: </vt:lpstr>
      <vt:lpstr>Just-World Hypothesis</vt:lpstr>
      <vt:lpstr>False Consensus Effect</vt:lpstr>
      <vt:lpstr>PowerPoint Presentation</vt:lpstr>
      <vt:lpstr>Attitudes</vt:lpstr>
      <vt:lpstr>Characteristics of Attitude </vt:lpstr>
      <vt:lpstr>Characteristics of Attitude</vt:lpstr>
      <vt:lpstr>Components of Attitudes  (ABC model of attitudes)</vt:lpstr>
      <vt:lpstr>Components of Attitudes  (ABC model of attitudes)</vt:lpstr>
      <vt:lpstr>Components of Attitudes  (ABC model of attitudes)</vt:lpstr>
      <vt:lpstr>Components of Attitudes  (ABC model of attitudes)</vt:lpstr>
      <vt:lpstr>Attitudes and Consistency</vt:lpstr>
      <vt:lpstr>Cognitive dissonance theory </vt:lpstr>
      <vt:lpstr>Cognitive dissonance theory </vt:lpstr>
      <vt:lpstr>Cognitive dissonance theory </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Haribabu Pengonda</dc:creator>
  <cp:lastModifiedBy>Haribabu Pengonda</cp:lastModifiedBy>
  <cp:revision>33</cp:revision>
  <dcterms:created xsi:type="dcterms:W3CDTF">2026-03-15T04:56:42Z</dcterms:created>
  <dcterms:modified xsi:type="dcterms:W3CDTF">2026-03-15T07:05:42Z</dcterms:modified>
</cp:coreProperties>
</file>