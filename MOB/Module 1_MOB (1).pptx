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9" r:id="rId25"/>
    <p:sldId id="288" r:id="rId26"/>
    <p:sldId id="290" r:id="rId27"/>
    <p:sldId id="291" r:id="rId28"/>
    <p:sldId id="292" r:id="rId29"/>
    <p:sldId id="293" r:id="rId30"/>
    <p:sldId id="294" r:id="rId31"/>
    <p:sldId id="295" r:id="rId32"/>
    <p:sldId id="297" r:id="rId33"/>
    <p:sldId id="296" r:id="rId34"/>
    <p:sldId id="298" r:id="rId35"/>
    <p:sldId id="262" r:id="rId36"/>
    <p:sldId id="263" r:id="rId37"/>
    <p:sldId id="264"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2AB3A359-242F-48F2-98BE-B6AA9E7927F4}" type="datetimeFigureOut">
              <a:rPr lang="en-US" smtClean="0"/>
              <a:t>3/15/2026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73065A7-EC5F-4FD5-9ABD-67C010C1B4C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AB3A359-242F-48F2-98BE-B6AA9E7927F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AB3A359-242F-48F2-98BE-B6AA9E7927F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065A7-EC5F-4FD5-9ABD-67C010C1B4C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AB3A359-242F-48F2-98BE-B6AA9E7927F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AB3A359-242F-48F2-98BE-B6AA9E7927F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2AB3A359-242F-48F2-98BE-B6AA9E7927F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3A359-242F-48F2-98BE-B6AA9E7927F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AB3A359-242F-48F2-98BE-B6AA9E7927F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AB3A359-242F-48F2-98BE-B6AA9E7927F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73065A7-EC5F-4FD5-9ABD-67C010C1B4CE}"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AB3A359-242F-48F2-98BE-B6AA9E7927F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AB3A359-242F-48F2-98BE-B6AA9E7927F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3065A7-EC5F-4FD5-9ABD-67C010C1B4C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AB3A359-242F-48F2-98BE-B6AA9E7927F4}" type="datetimeFigureOut">
              <a:rPr lang="en-US" smtClean="0"/>
              <a:t>3/15/2026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73065A7-EC5F-4FD5-9ABD-67C010C1B4CE}"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eeksforgeeks.org/business-studies/managemen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google.com/search?q=Digital+Transformation+%26+Cybersecurity&amp;sca_esv=6e72ffa629272dce&amp;source=hp&amp;ei=YjK1afqaCPjc2roP05uvsAI&amp;iflsig=AFdpzrgAAAAAabVAcihuAg8x35prOgveMy5mlfLfkb_D&amp;ved=2ahUKEwjcwY3BkZ-TAxUfr1YBHehnOl0QgK4QegYIAQgAEAs&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2" Type="http://schemas.openxmlformats.org/officeDocument/2006/relationships/hyperlink" Target="https://www.google.com/search?q=Technological+Advancement+%26+AI&amp;sca_esv=6e72ffa629272dce&amp;source=hp&amp;ei=YjK1afqaCPjc2roP05uvsAI&amp;iflsig=AFdpzrgAAAAAabVAcihuAg8x35prOgveMy5mlfLfkb_D&amp;ved=2ahUKEwjcwY3BkZ-TAxUfr1YBHehnOl0QgK4QegYIAQgAEAk&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1" Type="http://schemas.openxmlformats.org/officeDocument/2006/relationships/slideLayout" Target="../slideLayouts/slideLayout2.xml"/><Relationship Id="rId5" Type="http://schemas.openxmlformats.org/officeDocument/2006/relationships/hyperlink" Target="https://www.google.com/search?q=Sustainability+%26+ESG&amp;sca_esv=6e72ffa629272dce&amp;source=hp&amp;ei=YjK1afqaCPjc2roP05uvsAI&amp;iflsig=AFdpzrgAAAAAabVAcihuAg8x35prOgveMy5mlfLfkb_D&amp;ved=2ahUKEwjcwY3BkZ-TAxUfr1YBHehnOl0QgK4QegYIAQgBEAM&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4" Type="http://schemas.openxmlformats.org/officeDocument/2006/relationships/hyperlink" Target="https://www.google.com/search?q=Hybrid+Work+%26+Workforce+Dynamics&amp;sca_esv=6e72ffa629272dce&amp;source=hp&amp;ei=YjK1afqaCPjc2roP05uvsAI&amp;iflsig=AFdpzrgAAAAAabVAcihuAg8x35prOgveMy5mlfLfkb_D&amp;ved=2ahUKEwjcwY3BkZ-TAxUfr1YBHehnOl0QgK4QegYIAQgBEAE&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www.google.com/search?q=Change+Management+%26+Agility&amp;sca_esv=6e72ffa629272dce&amp;source=hp&amp;ei=YjK1afqaCPjc2roP05uvsAI&amp;iflsig=AFdpzrgAAAAAabVAcihuAg8x35prOgveMy5mlfLfkb_D&amp;ved=2ahUKEwjcwY3BkZ-TAxUfr1YBHehnOl0QgK4QegYIAQgBEAc&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2" Type="http://schemas.openxmlformats.org/officeDocument/2006/relationships/hyperlink" Target="https://www.google.com/search?q=Diversity%2C+Equity%2C+and+Inclusion+%28DEI%29&amp;sca_esv=6e72ffa629272dce&amp;source=hp&amp;ei=YjK1afqaCPjc2roP05uvsAI&amp;iflsig=AFdpzrgAAAAAabVAcihuAg8x35prOgveMy5mlfLfkb_D&amp;ved=2ahUKEwjcwY3BkZ-TAxUfr1YBHehnOl0QgK4QegYIAQgBEAU&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1" Type="http://schemas.openxmlformats.org/officeDocument/2006/relationships/slideLayout" Target="../slideLayouts/slideLayout2.xml"/><Relationship Id="rId5" Type="http://schemas.openxmlformats.org/officeDocument/2006/relationships/hyperlink" Target="https://www.google.com/search?q=Talent+Management+%26+Retention&amp;sca_esv=6e72ffa629272dce&amp;source=hp&amp;ei=YjK1afqaCPjc2roP05uvsAI&amp;iflsig=AFdpzrgAAAAAabVAcihuAg8x35prOgveMy5mlfLfkb_D&amp;ved=2ahUKEwjcwY3BkZ-TAxUfr1YBHehnOl0QgK4QegYIAQgBEAs&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 Id="rId4" Type="http://schemas.openxmlformats.org/officeDocument/2006/relationships/hyperlink" Target="https://www.google.com/search?q=Ethical+Leadership+%26+Governance&amp;sca_esv=6e72ffa629272dce&amp;source=hp&amp;ei=YjK1afqaCPjc2roP05uvsAI&amp;iflsig=AFdpzrgAAAAAabVAcihuAg8x35prOgveMy5mlfLfkb_D&amp;ved=2ahUKEwjcwY3BkZ-TAxUfr1YBHehnOl0QgK4QegYIAQgBEAk&amp;uact=5&amp;oq=Contemporary+Issues+in+Management.&amp;gs_lp=Egdnd3Mtd2l6IiJDb250ZW1wb3JhcnkgSXNzdWVzIGluIE1hbmFnZW1lbnQuMgYQABgWGB4yBhAAGBYYHjIGEAAYFhgeMgYQABgWGB4yBhAAGBYYHjIGEAAYFhgeMgYQABgWGB4yBhAAGBYYHjIGEAAYFhgeMgYQABgWGB5IkwJQAFgAcAB4AJABAJgBowGgAaMBqgEDMC4xuAEDyAEA-AEC-AEBmAIBoALFAZgDAJIHAzAuMaAHggeyBwMwLjG4B8UBwgcDNC0xyAcbgAgA&amp;sclient=gws-wi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Module 1</a:t>
            </a:r>
            <a:endParaRPr lang="en-US" dirty="0"/>
          </a:p>
        </p:txBody>
      </p:sp>
      <p:sp>
        <p:nvSpPr>
          <p:cNvPr id="3" name="Subtitle 2"/>
          <p:cNvSpPr>
            <a:spLocks noGrp="1"/>
          </p:cNvSpPr>
          <p:nvPr>
            <p:ph type="subTitle" idx="1"/>
          </p:nvPr>
        </p:nvSpPr>
        <p:spPr/>
        <p:txBody>
          <a:bodyPr/>
          <a:lstStyle/>
          <a:p>
            <a:r>
              <a:rPr lang="en-IN" dirty="0"/>
              <a:t>Introduction to Management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endParaRPr lang="en-US" dirty="0"/>
          </a:p>
        </p:txBody>
      </p:sp>
      <p:sp>
        <p:nvSpPr>
          <p:cNvPr id="3" name="Content Placeholder 2"/>
          <p:cNvSpPr>
            <a:spLocks noGrp="1"/>
          </p:cNvSpPr>
          <p:nvPr>
            <p:ph idx="1"/>
          </p:nvPr>
        </p:nvSpPr>
        <p:spPr/>
        <p:txBody>
          <a:bodyPr/>
          <a:lstStyle/>
          <a:p>
            <a:pPr algn="just"/>
            <a:r>
              <a:rPr lang="en-US" dirty="0"/>
              <a:t>Management is a comprehensive function of Planning, </a:t>
            </a:r>
            <a:r>
              <a:rPr lang="en-US" dirty="0" err="1"/>
              <a:t>Organising</a:t>
            </a:r>
            <a:r>
              <a:rPr lang="en-US" dirty="0"/>
              <a:t>, Forecasting Coordinating, Leading, Controlling, Motivating the efforts of others to achieve specific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Definitions</a:t>
            </a:r>
            <a:endParaRPr lang="en-US" dirty="0"/>
          </a:p>
        </p:txBody>
      </p:sp>
      <p:sp>
        <p:nvSpPr>
          <p:cNvPr id="3" name="Content Placeholder 2"/>
          <p:cNvSpPr>
            <a:spLocks noGrp="1"/>
          </p:cNvSpPr>
          <p:nvPr>
            <p:ph idx="1"/>
          </p:nvPr>
        </p:nvSpPr>
        <p:spPr/>
        <p:txBody>
          <a:bodyPr>
            <a:normAutofit fontScale="92500"/>
          </a:bodyPr>
          <a:lstStyle/>
          <a:p>
            <a:pPr algn="just"/>
            <a:r>
              <a:rPr lang="en-US" dirty="0"/>
              <a:t>According to </a:t>
            </a:r>
            <a:r>
              <a:rPr lang="en-US" b="1" dirty="0"/>
              <a:t>Harold Koontz </a:t>
            </a:r>
            <a:r>
              <a:rPr lang="en-US" dirty="0"/>
              <a:t>“ Management is the art of getting things done through and with formally organized groups “. </a:t>
            </a:r>
          </a:p>
          <a:p>
            <a:pPr algn="just"/>
            <a:r>
              <a:rPr lang="en-US" dirty="0"/>
              <a:t>According to </a:t>
            </a:r>
            <a:r>
              <a:rPr lang="en-US" b="1" dirty="0"/>
              <a:t>Peter F. </a:t>
            </a:r>
            <a:r>
              <a:rPr lang="en-US" b="1" dirty="0" err="1"/>
              <a:t>Drucker</a:t>
            </a:r>
            <a:r>
              <a:rPr lang="en-US" b="1" dirty="0"/>
              <a:t>.</a:t>
            </a:r>
            <a:r>
              <a:rPr lang="en-US" dirty="0"/>
              <a:t> “ A Multipurpose organ that manages a business and manages managers and manages workers and works “. </a:t>
            </a:r>
          </a:p>
          <a:p>
            <a:pPr algn="just"/>
            <a:r>
              <a:rPr lang="en-US" dirty="0"/>
              <a:t>According to </a:t>
            </a:r>
            <a:r>
              <a:rPr lang="en-US" b="1" dirty="0" err="1"/>
              <a:t>J.Lundy</a:t>
            </a:r>
            <a:r>
              <a:rPr lang="en-US" b="1" dirty="0"/>
              <a:t> </a:t>
            </a:r>
            <a:r>
              <a:rPr lang="en-US" dirty="0"/>
              <a:t>“ Management is what management does. It is the task of planning executing and controlling “. </a:t>
            </a:r>
          </a:p>
          <a:p>
            <a:pPr algn="just"/>
            <a:r>
              <a:rPr lang="en-US" dirty="0"/>
              <a:t>According to </a:t>
            </a:r>
            <a:r>
              <a:rPr lang="en-US" b="1" dirty="0"/>
              <a:t>Lawrence </a:t>
            </a:r>
            <a:r>
              <a:rPr lang="en-US" b="1" dirty="0" err="1"/>
              <a:t>Appley</a:t>
            </a:r>
            <a:r>
              <a:rPr lang="en-US" b="1" dirty="0"/>
              <a:t> </a:t>
            </a:r>
            <a:r>
              <a:rPr lang="en-US" dirty="0"/>
              <a:t>“ Management is the development of people and not the direction of things“.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124F-9B11-425D-BC98-7BD0CED56391}"/>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07478D7A-0762-40EA-8334-A4182109097C}"/>
              </a:ext>
            </a:extLst>
          </p:cNvPr>
          <p:cNvSpPr>
            <a:spLocks noGrp="1"/>
          </p:cNvSpPr>
          <p:nvPr>
            <p:ph idx="1"/>
          </p:nvPr>
        </p:nvSpPr>
        <p:spPr/>
        <p:txBody>
          <a:bodyPr/>
          <a:lstStyle/>
          <a:p>
            <a:pPr marL="0" indent="0">
              <a:buNone/>
            </a:pPr>
            <a:r>
              <a:rPr lang="en-US" b="1" dirty="0"/>
              <a:t>1. Optimize resources</a:t>
            </a:r>
          </a:p>
          <a:p>
            <a:pPr marL="0" indent="0">
              <a:buNone/>
            </a:pPr>
            <a:endParaRPr lang="en-US" b="1" dirty="0"/>
          </a:p>
          <a:p>
            <a:pPr algn="just"/>
            <a:r>
              <a:rPr lang="en-US" dirty="0"/>
              <a:t>Management teams work to use resources effectively to provide the </a:t>
            </a:r>
            <a:r>
              <a:rPr lang="en-US" b="1" dirty="0"/>
              <a:t>most output </a:t>
            </a:r>
            <a:r>
              <a:rPr lang="en-US" dirty="0"/>
              <a:t>possible. This objective creates the ability to </a:t>
            </a:r>
            <a:r>
              <a:rPr lang="en-US" b="1" dirty="0"/>
              <a:t>increase</a:t>
            </a:r>
            <a:r>
              <a:rPr lang="en-US" dirty="0"/>
              <a:t> profits by </a:t>
            </a:r>
            <a:r>
              <a:rPr lang="en-US" b="1" dirty="0"/>
              <a:t>reducing</a:t>
            </a:r>
            <a:r>
              <a:rPr lang="en-US" dirty="0"/>
              <a:t> the ratio of resource costs to profits. </a:t>
            </a:r>
          </a:p>
          <a:p>
            <a:pPr algn="just"/>
            <a:r>
              <a:rPr lang="en-US" dirty="0"/>
              <a:t>Management teams implement logistic strategies and procedures to </a:t>
            </a:r>
            <a:r>
              <a:rPr lang="en-US" b="1" dirty="0"/>
              <a:t>identify and reduce processes </a:t>
            </a:r>
            <a:r>
              <a:rPr lang="en-US" dirty="0"/>
              <a:t>that create waste and require extra resources.</a:t>
            </a:r>
            <a:endParaRPr lang="en-IN" dirty="0"/>
          </a:p>
        </p:txBody>
      </p:sp>
    </p:spTree>
    <p:extLst>
      <p:ext uri="{BB962C8B-B14F-4D97-AF65-F5344CB8AC3E}">
        <p14:creationId xmlns:p14="http://schemas.microsoft.com/office/powerpoint/2010/main" val="279943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D5720-17F8-4A1C-815D-E509A3327A1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D9EB254F-3024-4F06-AAD2-2805C53CEAED}"/>
              </a:ext>
            </a:extLst>
          </p:cNvPr>
          <p:cNvSpPr>
            <a:spLocks noGrp="1"/>
          </p:cNvSpPr>
          <p:nvPr>
            <p:ph idx="1"/>
          </p:nvPr>
        </p:nvSpPr>
        <p:spPr/>
        <p:txBody>
          <a:bodyPr>
            <a:normAutofit fontScale="92500" lnSpcReduction="20000"/>
          </a:bodyPr>
          <a:lstStyle/>
          <a:p>
            <a:pPr marL="0" indent="0">
              <a:buNone/>
            </a:pPr>
            <a:r>
              <a:rPr lang="en-US" b="1" dirty="0"/>
              <a:t>2. Increase efficiency</a:t>
            </a:r>
          </a:p>
          <a:p>
            <a:pPr marL="0" indent="0">
              <a:buNone/>
            </a:pPr>
            <a:endParaRPr lang="en-US" b="1" dirty="0"/>
          </a:p>
          <a:p>
            <a:pPr algn="just"/>
            <a:r>
              <a:rPr lang="en-US" dirty="0"/>
              <a:t>Increasing the efficiency of operations, production and services allows for greater production, sales and profits. </a:t>
            </a:r>
          </a:p>
          <a:p>
            <a:pPr algn="just"/>
            <a:endParaRPr lang="en-US" dirty="0"/>
          </a:p>
          <a:p>
            <a:pPr algn="just"/>
            <a:r>
              <a:rPr lang="en-US" dirty="0"/>
              <a:t>Management systems track the processes, duration and flow of the workplace to </a:t>
            </a:r>
            <a:r>
              <a:rPr lang="en-US" b="1" dirty="0"/>
              <a:t>determine methods</a:t>
            </a:r>
            <a:r>
              <a:rPr lang="en-US" dirty="0"/>
              <a:t> that provide more efficient outcomes. </a:t>
            </a:r>
          </a:p>
          <a:p>
            <a:pPr algn="just"/>
            <a:endParaRPr lang="en-US" dirty="0"/>
          </a:p>
          <a:p>
            <a:pPr algn="just"/>
            <a:r>
              <a:rPr lang="en-US" dirty="0"/>
              <a:t>Managers may work with other employees and department leaders to create and implement new processes and requirements.</a:t>
            </a:r>
            <a:endParaRPr lang="en-IN" dirty="0"/>
          </a:p>
        </p:txBody>
      </p:sp>
    </p:spTree>
    <p:extLst>
      <p:ext uri="{BB962C8B-B14F-4D97-AF65-F5344CB8AC3E}">
        <p14:creationId xmlns:p14="http://schemas.microsoft.com/office/powerpoint/2010/main" val="1792748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94B1-B4BB-416F-ADD9-B6BB9AC11D88}"/>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CA16CE89-8EFE-40BD-9D81-1AE9D88F68EB}"/>
              </a:ext>
            </a:extLst>
          </p:cNvPr>
          <p:cNvSpPr>
            <a:spLocks noGrp="1"/>
          </p:cNvSpPr>
          <p:nvPr>
            <p:ph idx="1"/>
          </p:nvPr>
        </p:nvSpPr>
        <p:spPr/>
        <p:txBody>
          <a:bodyPr>
            <a:normAutofit fontScale="85000" lnSpcReduction="10000"/>
          </a:bodyPr>
          <a:lstStyle/>
          <a:p>
            <a:pPr marL="0" indent="0">
              <a:buNone/>
            </a:pPr>
            <a:r>
              <a:rPr lang="en-US" b="1" dirty="0"/>
              <a:t>3. Maximize profits</a:t>
            </a:r>
          </a:p>
          <a:p>
            <a:pPr marL="0" indent="0">
              <a:buNone/>
            </a:pPr>
            <a:endParaRPr lang="en-US" b="1" dirty="0"/>
          </a:p>
          <a:p>
            <a:pPr algn="just"/>
            <a:r>
              <a:rPr lang="en-US" dirty="0"/>
              <a:t>Management teams aim to find the balance between maximizing profits and promoting a beneficial workplace for employees. </a:t>
            </a:r>
          </a:p>
          <a:p>
            <a:pPr algn="just"/>
            <a:endParaRPr lang="en-US" dirty="0"/>
          </a:p>
          <a:p>
            <a:pPr algn="just"/>
            <a:r>
              <a:rPr lang="en-US" dirty="0"/>
              <a:t>Maximizing profits includes working with various departments and leaders such as accountants, supervisors and executives to determine areas that require improvements and changes. </a:t>
            </a:r>
          </a:p>
          <a:p>
            <a:pPr algn="just"/>
            <a:endParaRPr lang="en-US" dirty="0"/>
          </a:p>
          <a:p>
            <a:pPr algn="just"/>
            <a:r>
              <a:rPr lang="en-US" dirty="0"/>
              <a:t>Managers can achieve maximum profit objectives by identifying </a:t>
            </a:r>
            <a:r>
              <a:rPr lang="en-US" b="1" dirty="0"/>
              <a:t>unnecessary expenses </a:t>
            </a:r>
            <a:r>
              <a:rPr lang="en-US" dirty="0"/>
              <a:t>and waste and creating new procedures for more efficient operations.</a:t>
            </a:r>
            <a:endParaRPr lang="en-IN" dirty="0"/>
          </a:p>
        </p:txBody>
      </p:sp>
    </p:spTree>
    <p:extLst>
      <p:ext uri="{BB962C8B-B14F-4D97-AF65-F5344CB8AC3E}">
        <p14:creationId xmlns:p14="http://schemas.microsoft.com/office/powerpoint/2010/main" val="423556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6CFFA-9FCD-47C1-A208-FE40EDD64C3A}"/>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D761B325-6B14-47E6-B2B5-A7852851AE1B}"/>
              </a:ext>
            </a:extLst>
          </p:cNvPr>
          <p:cNvSpPr>
            <a:spLocks noGrp="1"/>
          </p:cNvSpPr>
          <p:nvPr>
            <p:ph idx="1"/>
          </p:nvPr>
        </p:nvSpPr>
        <p:spPr/>
        <p:txBody>
          <a:bodyPr>
            <a:normAutofit fontScale="85000" lnSpcReduction="20000"/>
          </a:bodyPr>
          <a:lstStyle/>
          <a:p>
            <a:pPr marL="0" indent="0">
              <a:buNone/>
            </a:pPr>
            <a:r>
              <a:rPr lang="en-US" b="1" dirty="0"/>
              <a:t>4. Promote personal development</a:t>
            </a:r>
          </a:p>
          <a:p>
            <a:endParaRPr lang="en-US" b="1" dirty="0"/>
          </a:p>
          <a:p>
            <a:pPr algn="just"/>
            <a:r>
              <a:rPr lang="en-US" dirty="0"/>
              <a:t>An effective management team prioritizes the growth and development of its employees. </a:t>
            </a:r>
          </a:p>
          <a:p>
            <a:pPr marL="0" indent="0" algn="just">
              <a:buNone/>
            </a:pPr>
            <a:endParaRPr lang="en-US" dirty="0"/>
          </a:p>
          <a:p>
            <a:pPr algn="just"/>
            <a:r>
              <a:rPr lang="en-US" dirty="0"/>
              <a:t>Providing opportunities such as </a:t>
            </a:r>
            <a:r>
              <a:rPr lang="en-US" b="1" dirty="0"/>
              <a:t>seminars, mentorship </a:t>
            </a:r>
            <a:r>
              <a:rPr lang="en-US" dirty="0"/>
              <a:t>programs, training resources and internal promotions allows employees to </a:t>
            </a:r>
            <a:r>
              <a:rPr lang="en-US" b="1" dirty="0"/>
              <a:t>develop new skills </a:t>
            </a:r>
            <a:r>
              <a:rPr lang="en-US" dirty="0"/>
              <a:t>and advance their careers. </a:t>
            </a:r>
          </a:p>
          <a:p>
            <a:pPr algn="just"/>
            <a:endParaRPr lang="en-US" dirty="0"/>
          </a:p>
          <a:p>
            <a:pPr algn="just"/>
            <a:r>
              <a:rPr lang="en-US" dirty="0"/>
              <a:t>The personal development and growth of employees can also contribute to the growth, quality and efficiency of work produced and can help management achieve multiple objectives simultaneously.</a:t>
            </a:r>
            <a:endParaRPr lang="en-IN" dirty="0"/>
          </a:p>
        </p:txBody>
      </p:sp>
    </p:spTree>
    <p:extLst>
      <p:ext uri="{BB962C8B-B14F-4D97-AF65-F5344CB8AC3E}">
        <p14:creationId xmlns:p14="http://schemas.microsoft.com/office/powerpoint/2010/main" val="380265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68E7-D34F-435D-BCCE-7E4DCB41235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A6B4C4FE-28C4-4958-B294-F78D2C590A84}"/>
              </a:ext>
            </a:extLst>
          </p:cNvPr>
          <p:cNvSpPr>
            <a:spLocks noGrp="1"/>
          </p:cNvSpPr>
          <p:nvPr>
            <p:ph idx="1"/>
          </p:nvPr>
        </p:nvSpPr>
        <p:spPr/>
        <p:txBody>
          <a:bodyPr>
            <a:normAutofit fontScale="92500" lnSpcReduction="20000"/>
          </a:bodyPr>
          <a:lstStyle/>
          <a:p>
            <a:pPr marL="0" indent="0">
              <a:buNone/>
            </a:pPr>
            <a:r>
              <a:rPr lang="en-US" b="1" dirty="0"/>
              <a:t>5. Maintain quality</a:t>
            </a:r>
          </a:p>
          <a:p>
            <a:endParaRPr lang="en-US" b="1" dirty="0"/>
          </a:p>
          <a:p>
            <a:pPr algn="just"/>
            <a:r>
              <a:rPr lang="en-US" dirty="0"/>
              <a:t>Management teams handle the regulations, procedures and parameters for the production and distribution of products and services. </a:t>
            </a:r>
          </a:p>
          <a:p>
            <a:pPr algn="just"/>
            <a:endParaRPr lang="en-US" dirty="0"/>
          </a:p>
          <a:p>
            <a:pPr algn="just"/>
            <a:r>
              <a:rPr lang="en-US" dirty="0"/>
              <a:t>A primary objective of management includes maintaining the </a:t>
            </a:r>
            <a:r>
              <a:rPr lang="en-US" b="1" dirty="0"/>
              <a:t>quality standards </a:t>
            </a:r>
            <a:r>
              <a:rPr lang="en-US" dirty="0"/>
              <a:t>necessary for the organization. </a:t>
            </a:r>
          </a:p>
          <a:p>
            <a:pPr algn="just"/>
            <a:endParaRPr lang="en-US" dirty="0"/>
          </a:p>
          <a:p>
            <a:pPr algn="just"/>
            <a:r>
              <a:rPr lang="en-US" dirty="0"/>
              <a:t>The team collaborates with other departments, supervisors and employees to create, implement and maintain quality.</a:t>
            </a:r>
            <a:br>
              <a:rPr lang="en-US" dirty="0"/>
            </a:br>
            <a:endParaRPr lang="en-IN" dirty="0"/>
          </a:p>
        </p:txBody>
      </p:sp>
    </p:spTree>
    <p:extLst>
      <p:ext uri="{BB962C8B-B14F-4D97-AF65-F5344CB8AC3E}">
        <p14:creationId xmlns:p14="http://schemas.microsoft.com/office/powerpoint/2010/main" val="211763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E8AC1-A617-4872-8388-70255426FD17}"/>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BD489EA0-ED54-41EC-B9CF-91F67CFC4D4B}"/>
              </a:ext>
            </a:extLst>
          </p:cNvPr>
          <p:cNvSpPr>
            <a:spLocks noGrp="1"/>
          </p:cNvSpPr>
          <p:nvPr>
            <p:ph idx="1"/>
          </p:nvPr>
        </p:nvSpPr>
        <p:spPr/>
        <p:txBody>
          <a:bodyPr>
            <a:normAutofit fontScale="77500" lnSpcReduction="20000"/>
          </a:bodyPr>
          <a:lstStyle/>
          <a:p>
            <a:pPr marL="0" indent="0">
              <a:buNone/>
            </a:pPr>
            <a:r>
              <a:rPr lang="en-US" b="1" dirty="0"/>
              <a:t>6. Uphold workplace morale</a:t>
            </a:r>
          </a:p>
          <a:p>
            <a:pPr marL="0" indent="0">
              <a:buNone/>
            </a:pPr>
            <a:endParaRPr lang="en-US" b="1" dirty="0"/>
          </a:p>
          <a:p>
            <a:pPr algn="just"/>
            <a:r>
              <a:rPr lang="en-US" dirty="0"/>
              <a:t>The environment, attitudes and morale of an organization can affect the overall production and profits. </a:t>
            </a:r>
          </a:p>
          <a:p>
            <a:pPr algn="just"/>
            <a:endParaRPr lang="en-US" dirty="0"/>
          </a:p>
          <a:p>
            <a:pPr algn="just"/>
            <a:r>
              <a:rPr lang="en-US" dirty="0"/>
              <a:t>Positive morale among employees creates intrinsic motivation for employees to complete tasks and contribute greater effort. </a:t>
            </a:r>
          </a:p>
          <a:p>
            <a:pPr algn="just"/>
            <a:endParaRPr lang="en-US" dirty="0"/>
          </a:p>
          <a:p>
            <a:pPr algn="just"/>
            <a:r>
              <a:rPr lang="en-US" dirty="0"/>
              <a:t>Management teams work to uphold morale by implementing effective authority structures, </a:t>
            </a:r>
            <a:r>
              <a:rPr lang="en-US" b="1" dirty="0"/>
              <a:t>creating incentive programs </a:t>
            </a:r>
            <a:r>
              <a:rPr lang="en-US" dirty="0"/>
              <a:t>and responding to employee feedback. </a:t>
            </a:r>
          </a:p>
          <a:p>
            <a:pPr algn="just"/>
            <a:endParaRPr lang="en-US" dirty="0"/>
          </a:p>
          <a:p>
            <a:pPr algn="just"/>
            <a:r>
              <a:rPr lang="en-US" dirty="0"/>
              <a:t>Valuing employees and ensuring positive relations increases morale and motivates individuals to continue to grow.</a:t>
            </a:r>
            <a:endParaRPr lang="en-IN" dirty="0"/>
          </a:p>
        </p:txBody>
      </p:sp>
    </p:spTree>
    <p:extLst>
      <p:ext uri="{BB962C8B-B14F-4D97-AF65-F5344CB8AC3E}">
        <p14:creationId xmlns:p14="http://schemas.microsoft.com/office/powerpoint/2010/main" val="2264642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FA24-C96D-46BF-A500-1366A59D4BCD}"/>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57589794-843A-4CB1-A1D9-1A2B8EBDF258}"/>
              </a:ext>
            </a:extLst>
          </p:cNvPr>
          <p:cNvSpPr>
            <a:spLocks noGrp="1"/>
          </p:cNvSpPr>
          <p:nvPr>
            <p:ph idx="1"/>
          </p:nvPr>
        </p:nvSpPr>
        <p:spPr/>
        <p:txBody>
          <a:bodyPr>
            <a:normAutofit fontScale="92500" lnSpcReduction="20000"/>
          </a:bodyPr>
          <a:lstStyle/>
          <a:p>
            <a:pPr marL="0" indent="0">
              <a:buNone/>
            </a:pPr>
            <a:r>
              <a:rPr lang="en-US" b="1" dirty="0"/>
              <a:t>7. Reduce risk</a:t>
            </a:r>
          </a:p>
          <a:p>
            <a:pPr marL="0" indent="0">
              <a:buNone/>
            </a:pPr>
            <a:endParaRPr lang="en-US" b="1" dirty="0"/>
          </a:p>
          <a:p>
            <a:pPr algn="just"/>
            <a:r>
              <a:rPr lang="en-US" dirty="0"/>
              <a:t>Many management positions </a:t>
            </a:r>
            <a:r>
              <a:rPr lang="en-US" b="1" dirty="0"/>
              <a:t>focus on forecasting</a:t>
            </a:r>
            <a:r>
              <a:rPr lang="en-US" dirty="0"/>
              <a:t> and projecting results and changes. </a:t>
            </a:r>
          </a:p>
          <a:p>
            <a:pPr algn="just"/>
            <a:endParaRPr lang="en-US" dirty="0"/>
          </a:p>
          <a:p>
            <a:pPr algn="just"/>
            <a:r>
              <a:rPr lang="en-US" dirty="0"/>
              <a:t>One main objective for managers includes using planning and predictions to reduce opportunities for risks and losses. </a:t>
            </a:r>
          </a:p>
          <a:p>
            <a:pPr algn="just"/>
            <a:endParaRPr lang="en-US" dirty="0"/>
          </a:p>
          <a:p>
            <a:pPr algn="just"/>
            <a:r>
              <a:rPr lang="en-US" dirty="0"/>
              <a:t>Reducing risk factors such as safety issues, wasted resources and extra expenses can help increase profits and eliminate loss.</a:t>
            </a:r>
            <a:endParaRPr lang="en-IN" dirty="0"/>
          </a:p>
        </p:txBody>
      </p:sp>
    </p:spTree>
    <p:extLst>
      <p:ext uri="{BB962C8B-B14F-4D97-AF65-F5344CB8AC3E}">
        <p14:creationId xmlns:p14="http://schemas.microsoft.com/office/powerpoint/2010/main" val="385790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D5B5-D386-43E7-AB3F-A96B1BCC959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AFEFDB19-897E-4A7A-A809-00174C5D2675}"/>
              </a:ext>
            </a:extLst>
          </p:cNvPr>
          <p:cNvSpPr>
            <a:spLocks noGrp="1"/>
          </p:cNvSpPr>
          <p:nvPr>
            <p:ph idx="1"/>
          </p:nvPr>
        </p:nvSpPr>
        <p:spPr/>
        <p:txBody>
          <a:bodyPr>
            <a:normAutofit fontScale="92500" lnSpcReduction="20000"/>
          </a:bodyPr>
          <a:lstStyle/>
          <a:p>
            <a:pPr marL="0" indent="0">
              <a:buNone/>
            </a:pPr>
            <a:r>
              <a:rPr lang="en-US" b="1" dirty="0"/>
              <a:t>8. Generate business strategies</a:t>
            </a:r>
          </a:p>
          <a:p>
            <a:pPr marL="0" indent="0">
              <a:buNone/>
            </a:pPr>
            <a:endParaRPr lang="en-US" b="1" dirty="0"/>
          </a:p>
          <a:p>
            <a:pPr algn="just"/>
            <a:r>
              <a:rPr lang="en-US" dirty="0"/>
              <a:t>Management teams often use higher-level critical thinking and abstract strategy to improve operations and profits. </a:t>
            </a:r>
          </a:p>
          <a:p>
            <a:pPr algn="just"/>
            <a:endParaRPr lang="en-US" dirty="0"/>
          </a:p>
          <a:p>
            <a:pPr algn="just"/>
            <a:r>
              <a:rPr lang="en-US" dirty="0"/>
              <a:t>The team collaborates with executives, leaders and stakeholders to generate, pitch and implement overall business strategies or frameworks. </a:t>
            </a:r>
          </a:p>
          <a:p>
            <a:pPr algn="just"/>
            <a:endParaRPr lang="en-US" dirty="0"/>
          </a:p>
          <a:p>
            <a:pPr algn="just"/>
            <a:r>
              <a:rPr lang="en-US" dirty="0"/>
              <a:t>Creating an effective and consistent business strategy can help identify and narrow objectives for all employees to reach a common goal.</a:t>
            </a:r>
            <a:endParaRPr lang="en-IN" dirty="0"/>
          </a:p>
        </p:txBody>
      </p:sp>
    </p:spTree>
    <p:extLst>
      <p:ext uri="{BB962C8B-B14F-4D97-AF65-F5344CB8AC3E}">
        <p14:creationId xmlns:p14="http://schemas.microsoft.com/office/powerpoint/2010/main" val="523531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F3526-BCA9-41A4-8526-F2E7471EEAED}"/>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6C6F8516-4542-4068-9737-5E7544236776}"/>
              </a:ext>
            </a:extLst>
          </p:cNvPr>
          <p:cNvSpPr>
            <a:spLocks noGrp="1"/>
          </p:cNvSpPr>
          <p:nvPr>
            <p:ph idx="1"/>
          </p:nvPr>
        </p:nvSpPr>
        <p:spPr/>
        <p:txBody>
          <a:bodyPr>
            <a:normAutofit fontScale="92500" lnSpcReduction="20000"/>
          </a:bodyPr>
          <a:lstStyle/>
          <a:p>
            <a:pPr marL="0" indent="0">
              <a:buNone/>
            </a:pPr>
            <a:r>
              <a:rPr lang="en-US" b="1" dirty="0"/>
              <a:t>9. Coordinate workflows</a:t>
            </a:r>
          </a:p>
          <a:p>
            <a:pPr marL="0" indent="0">
              <a:buNone/>
            </a:pPr>
            <a:endParaRPr lang="en-US" b="1" dirty="0"/>
          </a:p>
          <a:p>
            <a:pPr algn="just"/>
            <a:r>
              <a:rPr lang="en-US" dirty="0"/>
              <a:t>The workflow and internal structure of an organization can influence productivity and efficiency. </a:t>
            </a:r>
          </a:p>
          <a:p>
            <a:pPr algn="just"/>
            <a:endParaRPr lang="en-US" dirty="0"/>
          </a:p>
          <a:p>
            <a:pPr algn="just"/>
            <a:r>
              <a:rPr lang="en-US" dirty="0"/>
              <a:t>Management teams may include or work with logistics, engineering and production professionals to develop logical and expedited workflows, internal structures and facility designs. </a:t>
            </a:r>
          </a:p>
          <a:p>
            <a:pPr algn="just"/>
            <a:endParaRPr lang="en-US" dirty="0"/>
          </a:p>
          <a:p>
            <a:pPr algn="just"/>
            <a:r>
              <a:rPr lang="en-US" dirty="0"/>
              <a:t>Managers may also utilize tools such as organization charts, flow diagrams and procedure audits to evaluate and communicate workflow operations.</a:t>
            </a:r>
            <a:endParaRPr lang="en-IN" dirty="0"/>
          </a:p>
        </p:txBody>
      </p:sp>
    </p:spTree>
    <p:extLst>
      <p:ext uri="{BB962C8B-B14F-4D97-AF65-F5344CB8AC3E}">
        <p14:creationId xmlns:p14="http://schemas.microsoft.com/office/powerpoint/2010/main" val="2058939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9C77-3A0E-4AE2-BCB9-031075ACFC14}"/>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3BE5B786-2E92-44BB-8AE0-7A49EBF7EC5E}"/>
              </a:ext>
            </a:extLst>
          </p:cNvPr>
          <p:cNvSpPr>
            <a:spLocks noGrp="1"/>
          </p:cNvSpPr>
          <p:nvPr>
            <p:ph idx="1"/>
          </p:nvPr>
        </p:nvSpPr>
        <p:spPr/>
        <p:txBody>
          <a:bodyPr>
            <a:normAutofit fontScale="92500" lnSpcReduction="20000"/>
          </a:bodyPr>
          <a:lstStyle/>
          <a:p>
            <a:pPr marL="0" indent="0">
              <a:buNone/>
            </a:pPr>
            <a:r>
              <a:rPr lang="en-US" b="1" dirty="0"/>
              <a:t>10. Identify talent</a:t>
            </a:r>
          </a:p>
          <a:p>
            <a:pPr marL="0" indent="0">
              <a:buNone/>
            </a:pPr>
            <a:endParaRPr lang="en-US" b="1" dirty="0"/>
          </a:p>
          <a:p>
            <a:pPr algn="just"/>
            <a:r>
              <a:rPr lang="en-US" dirty="0"/>
              <a:t>An organization's management aims to identify, acquire and maintain top candidates and employees. </a:t>
            </a:r>
          </a:p>
          <a:p>
            <a:pPr algn="just"/>
            <a:endParaRPr lang="en-US" dirty="0"/>
          </a:p>
          <a:p>
            <a:pPr algn="just"/>
            <a:r>
              <a:rPr lang="en-US" dirty="0"/>
              <a:t>Managers may work with recruiters to establish hiring requirements, evaluate candidates and create recruitment offers. </a:t>
            </a:r>
          </a:p>
          <a:p>
            <a:pPr algn="just"/>
            <a:endParaRPr lang="en-US" dirty="0"/>
          </a:p>
          <a:p>
            <a:pPr algn="just"/>
            <a:r>
              <a:rPr lang="en-US" dirty="0"/>
              <a:t>Identifying and gaining talented and qualified employees increases the knowledge, expertise and production of the organization as a whole.</a:t>
            </a:r>
            <a:endParaRPr lang="en-IN" dirty="0"/>
          </a:p>
        </p:txBody>
      </p:sp>
    </p:spTree>
    <p:extLst>
      <p:ext uri="{BB962C8B-B14F-4D97-AF65-F5344CB8AC3E}">
        <p14:creationId xmlns:p14="http://schemas.microsoft.com/office/powerpoint/2010/main" val="1812470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B32D-48E4-4077-A198-5DF499CFAA49}"/>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339A03B4-BF13-4CEF-B95C-61264E709A81}"/>
              </a:ext>
            </a:extLst>
          </p:cNvPr>
          <p:cNvSpPr>
            <a:spLocks noGrp="1"/>
          </p:cNvSpPr>
          <p:nvPr>
            <p:ph idx="1"/>
          </p:nvPr>
        </p:nvSpPr>
        <p:spPr/>
        <p:txBody>
          <a:bodyPr>
            <a:normAutofit fontScale="92500" lnSpcReduction="20000"/>
          </a:bodyPr>
          <a:lstStyle/>
          <a:p>
            <a:pPr marL="0" indent="0">
              <a:buNone/>
            </a:pPr>
            <a:r>
              <a:rPr lang="en-US" b="1" dirty="0"/>
              <a:t>11. Ensure availability</a:t>
            </a:r>
          </a:p>
          <a:p>
            <a:pPr marL="0" indent="0">
              <a:buNone/>
            </a:pPr>
            <a:endParaRPr lang="en-US" b="1" dirty="0"/>
          </a:p>
          <a:p>
            <a:pPr algn="just"/>
            <a:r>
              <a:rPr lang="en-US" dirty="0"/>
              <a:t>Management teams work to handle, maintain and predict the availability of resources, goods and services. </a:t>
            </a:r>
          </a:p>
          <a:p>
            <a:pPr algn="just"/>
            <a:endParaRPr lang="en-US" dirty="0"/>
          </a:p>
          <a:p>
            <a:pPr algn="just"/>
            <a:r>
              <a:rPr lang="en-US" dirty="0"/>
              <a:t>To achieve this objective, managers may project and forecast the needs of the organization or public and monitor issues such as shortages. </a:t>
            </a:r>
          </a:p>
          <a:p>
            <a:pPr algn="just"/>
            <a:endParaRPr lang="en-US" dirty="0"/>
          </a:p>
          <a:p>
            <a:pPr algn="just"/>
            <a:r>
              <a:rPr lang="en-US" dirty="0"/>
              <a:t>Predicting and handling issues allows the management team to plan and implement changes to prevent production and distribution delays.</a:t>
            </a:r>
            <a:endParaRPr lang="en-IN" dirty="0"/>
          </a:p>
        </p:txBody>
      </p:sp>
    </p:spTree>
    <p:extLst>
      <p:ext uri="{BB962C8B-B14F-4D97-AF65-F5344CB8AC3E}">
        <p14:creationId xmlns:p14="http://schemas.microsoft.com/office/powerpoint/2010/main" val="4051513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7793C-9D20-4CB3-B92E-1792DC7BC710}"/>
              </a:ext>
            </a:extLst>
          </p:cNvPr>
          <p:cNvSpPr>
            <a:spLocks noGrp="1"/>
          </p:cNvSpPr>
          <p:nvPr>
            <p:ph type="title"/>
          </p:nvPr>
        </p:nvSpPr>
        <p:spPr/>
        <p:txBody>
          <a:bodyPr/>
          <a:lstStyle/>
          <a:p>
            <a:r>
              <a:rPr lang="en-US" dirty="0"/>
              <a:t>Functions of Managers</a:t>
            </a:r>
            <a:endParaRPr lang="en-IN" dirty="0"/>
          </a:p>
        </p:txBody>
      </p:sp>
      <p:sp>
        <p:nvSpPr>
          <p:cNvPr id="3" name="Content Placeholder 2">
            <a:extLst>
              <a:ext uri="{FF2B5EF4-FFF2-40B4-BE49-F238E27FC236}">
                <a16:creationId xmlns:a16="http://schemas.microsoft.com/office/drawing/2014/main" id="{7497471A-BA62-4F87-9664-32E6625D4371}"/>
              </a:ext>
            </a:extLst>
          </p:cNvPr>
          <p:cNvSpPr>
            <a:spLocks noGrp="1"/>
          </p:cNvSpPr>
          <p:nvPr>
            <p:ph idx="1"/>
          </p:nvPr>
        </p:nvSpPr>
        <p:spPr/>
        <p:txBody>
          <a:bodyPr/>
          <a:lstStyle/>
          <a:p>
            <a:r>
              <a:rPr lang="en-US" dirty="0"/>
              <a:t>Planning </a:t>
            </a:r>
          </a:p>
          <a:p>
            <a:pPr marL="393192" lvl="1" indent="0" algn="just">
              <a:buNone/>
            </a:pPr>
            <a:endParaRPr lang="en-US" dirty="0"/>
          </a:p>
          <a:p>
            <a:pPr marL="393192" lvl="1" indent="0" algn="just">
              <a:buNone/>
            </a:pPr>
            <a:r>
              <a:rPr lang="en-US" dirty="0"/>
              <a:t>Planning can be defined as the process, by which, managers decide the mission and objectives of the firm. It involves taking necessary steps to achieve the desired objectives by establishing guidelines for future activities. Planning helps managers to decide on the activities to be performed with available resources</a:t>
            </a:r>
            <a:endParaRPr lang="en-IN" dirty="0"/>
          </a:p>
        </p:txBody>
      </p:sp>
    </p:spTree>
    <p:extLst>
      <p:ext uri="{BB962C8B-B14F-4D97-AF65-F5344CB8AC3E}">
        <p14:creationId xmlns:p14="http://schemas.microsoft.com/office/powerpoint/2010/main" val="2565764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3750-2C64-4B20-8DA8-98848639CA70}"/>
              </a:ext>
            </a:extLst>
          </p:cNvPr>
          <p:cNvSpPr>
            <a:spLocks noGrp="1"/>
          </p:cNvSpPr>
          <p:nvPr>
            <p:ph type="title"/>
          </p:nvPr>
        </p:nvSpPr>
        <p:spPr/>
        <p:txBody>
          <a:bodyPr/>
          <a:lstStyle/>
          <a:p>
            <a:r>
              <a:rPr lang="en-US" dirty="0"/>
              <a:t>Functions of Managers</a:t>
            </a:r>
            <a:endParaRPr lang="en-IN" dirty="0"/>
          </a:p>
        </p:txBody>
      </p:sp>
      <p:sp>
        <p:nvSpPr>
          <p:cNvPr id="3" name="Content Placeholder 2">
            <a:extLst>
              <a:ext uri="{FF2B5EF4-FFF2-40B4-BE49-F238E27FC236}">
                <a16:creationId xmlns:a16="http://schemas.microsoft.com/office/drawing/2014/main" id="{F5500D9B-15D1-47A7-98F8-FA498AE364BA}"/>
              </a:ext>
            </a:extLst>
          </p:cNvPr>
          <p:cNvSpPr>
            <a:spLocks noGrp="1"/>
          </p:cNvSpPr>
          <p:nvPr>
            <p:ph idx="1"/>
          </p:nvPr>
        </p:nvSpPr>
        <p:spPr/>
        <p:txBody>
          <a:bodyPr>
            <a:normAutofit fontScale="92500" lnSpcReduction="20000"/>
          </a:bodyPr>
          <a:lstStyle/>
          <a:p>
            <a:r>
              <a:rPr lang="en-US" dirty="0"/>
              <a:t>Organizing </a:t>
            </a:r>
          </a:p>
          <a:p>
            <a:pPr marL="0" indent="0">
              <a:buNone/>
            </a:pPr>
            <a:endParaRPr lang="en-US" dirty="0"/>
          </a:p>
          <a:p>
            <a:pPr marL="0" indent="0">
              <a:buNone/>
            </a:pPr>
            <a:r>
              <a:rPr lang="en-US" dirty="0"/>
              <a:t>Organizing is the process of assigning and allocating tasks, authority, and resources to enable a firm to achieve its organizational objectives. </a:t>
            </a:r>
          </a:p>
          <a:p>
            <a:pPr marL="0" indent="0">
              <a:buNone/>
            </a:pPr>
            <a:endParaRPr lang="en-US" dirty="0"/>
          </a:p>
          <a:p>
            <a:r>
              <a:rPr lang="en-US" dirty="0"/>
              <a:t>Staffing </a:t>
            </a:r>
          </a:p>
          <a:p>
            <a:endParaRPr lang="en-US" dirty="0"/>
          </a:p>
          <a:p>
            <a:pPr marL="0" indent="0" algn="just">
              <a:buNone/>
            </a:pPr>
            <a:r>
              <a:rPr lang="en-US" dirty="0"/>
              <a:t>Staffing involves manning the various positions in the organizational hierarchy. It involves activities such as identifying work-force requirements, recruitment, selection, and orientation of new employees.</a:t>
            </a:r>
            <a:endParaRPr lang="en-IN" dirty="0"/>
          </a:p>
        </p:txBody>
      </p:sp>
    </p:spTree>
    <p:extLst>
      <p:ext uri="{BB962C8B-B14F-4D97-AF65-F5344CB8AC3E}">
        <p14:creationId xmlns:p14="http://schemas.microsoft.com/office/powerpoint/2010/main" val="1000594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2B281-0E65-4A20-90ED-5A27C35227A0}"/>
              </a:ext>
            </a:extLst>
          </p:cNvPr>
          <p:cNvSpPr>
            <a:spLocks noGrp="1"/>
          </p:cNvSpPr>
          <p:nvPr>
            <p:ph type="title"/>
          </p:nvPr>
        </p:nvSpPr>
        <p:spPr/>
        <p:txBody>
          <a:bodyPr/>
          <a:lstStyle/>
          <a:p>
            <a:r>
              <a:rPr lang="en-US" dirty="0"/>
              <a:t>Functions of Managers</a:t>
            </a:r>
            <a:endParaRPr lang="en-IN" dirty="0"/>
          </a:p>
        </p:txBody>
      </p:sp>
      <p:sp>
        <p:nvSpPr>
          <p:cNvPr id="3" name="Content Placeholder 2">
            <a:extLst>
              <a:ext uri="{FF2B5EF4-FFF2-40B4-BE49-F238E27FC236}">
                <a16:creationId xmlns:a16="http://schemas.microsoft.com/office/drawing/2014/main" id="{30E27635-24CA-40C6-98DE-69F7E2887F16}"/>
              </a:ext>
            </a:extLst>
          </p:cNvPr>
          <p:cNvSpPr>
            <a:spLocks noGrp="1"/>
          </p:cNvSpPr>
          <p:nvPr>
            <p:ph idx="1"/>
          </p:nvPr>
        </p:nvSpPr>
        <p:spPr/>
        <p:txBody>
          <a:bodyPr>
            <a:normAutofit fontScale="77500" lnSpcReduction="20000"/>
          </a:bodyPr>
          <a:lstStyle/>
          <a:p>
            <a:r>
              <a:rPr lang="en-US" dirty="0"/>
              <a:t>Leading </a:t>
            </a:r>
          </a:p>
          <a:p>
            <a:pPr marL="0" indent="0" algn="just">
              <a:buNone/>
            </a:pPr>
            <a:r>
              <a:rPr lang="en-US" dirty="0"/>
              <a:t>Leading involves directing, influencing, and motivating employees towards achieving organizational objectives. </a:t>
            </a:r>
          </a:p>
          <a:p>
            <a:pPr marL="0" indent="0" algn="just">
              <a:buNone/>
            </a:pPr>
            <a:endParaRPr lang="en-US" dirty="0"/>
          </a:p>
          <a:p>
            <a:pPr algn="just"/>
            <a:r>
              <a:rPr lang="en-US" dirty="0"/>
              <a:t>Controlling </a:t>
            </a:r>
          </a:p>
          <a:p>
            <a:pPr marL="0" indent="0" algn="just">
              <a:buNone/>
            </a:pPr>
            <a:endParaRPr lang="en-US" dirty="0"/>
          </a:p>
          <a:p>
            <a:pPr marL="0" indent="0" algn="just">
              <a:buNone/>
            </a:pPr>
            <a:r>
              <a:rPr lang="en-US" dirty="0"/>
              <a:t>Controlling can be defined as the continuous measurement and analysis of actual operations against the established industry standards developed during the planning process and corrections of deviations, if any. </a:t>
            </a:r>
          </a:p>
          <a:p>
            <a:pPr marL="0" indent="0" algn="just">
              <a:buNone/>
            </a:pPr>
            <a:endParaRPr lang="en-US" dirty="0"/>
          </a:p>
          <a:p>
            <a:pPr marL="0" indent="0" algn="just">
              <a:buNone/>
            </a:pPr>
            <a:r>
              <a:rPr lang="en-US" dirty="0"/>
              <a:t>The main elements of the control process include establishing the standards of performance, measuring the actual performance, comparing the actual performance with the industry standards developed during the planning process, and taking corrective action in case of deviation.</a:t>
            </a:r>
            <a:endParaRPr lang="en-IN" dirty="0"/>
          </a:p>
        </p:txBody>
      </p:sp>
    </p:spTree>
    <p:extLst>
      <p:ext uri="{BB962C8B-B14F-4D97-AF65-F5344CB8AC3E}">
        <p14:creationId xmlns:p14="http://schemas.microsoft.com/office/powerpoint/2010/main" val="3738046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C6EC-8C6D-4E4E-B475-E7B7264210E8}"/>
              </a:ext>
            </a:extLst>
          </p:cNvPr>
          <p:cNvSpPr>
            <a:spLocks noGrp="1"/>
          </p:cNvSpPr>
          <p:nvPr>
            <p:ph type="title"/>
          </p:nvPr>
        </p:nvSpPr>
        <p:spPr/>
        <p:txBody>
          <a:bodyPr/>
          <a:lstStyle/>
          <a:p>
            <a:r>
              <a:rPr lang="en-US" dirty="0"/>
              <a:t>Nature of Management</a:t>
            </a:r>
            <a:endParaRPr lang="en-IN" dirty="0"/>
          </a:p>
        </p:txBody>
      </p:sp>
      <p:sp>
        <p:nvSpPr>
          <p:cNvPr id="3" name="Content Placeholder 2">
            <a:extLst>
              <a:ext uri="{FF2B5EF4-FFF2-40B4-BE49-F238E27FC236}">
                <a16:creationId xmlns:a16="http://schemas.microsoft.com/office/drawing/2014/main" id="{FE31667D-40F7-42CB-8D94-1F44497E7A92}"/>
              </a:ext>
            </a:extLst>
          </p:cNvPr>
          <p:cNvSpPr>
            <a:spLocks noGrp="1"/>
          </p:cNvSpPr>
          <p:nvPr>
            <p:ph idx="1"/>
          </p:nvPr>
        </p:nvSpPr>
        <p:spPr/>
        <p:txBody>
          <a:bodyPr/>
          <a:lstStyle/>
          <a:p>
            <a:pPr algn="just"/>
            <a:r>
              <a:rPr lang="en-US" dirty="0"/>
              <a:t>To understand the nature of management, the following aspects of management need to be understood. </a:t>
            </a:r>
          </a:p>
          <a:p>
            <a:pPr marL="0" indent="0">
              <a:buNone/>
            </a:pPr>
            <a:endParaRPr lang="en-US" dirty="0"/>
          </a:p>
          <a:p>
            <a:pPr>
              <a:buFont typeface="Wingdings" panose="05000000000000000000" pitchFamily="2" charset="2"/>
              <a:buChar char="q"/>
            </a:pPr>
            <a:r>
              <a:rPr lang="en-US" dirty="0"/>
              <a:t>What is management/ is it a science? </a:t>
            </a:r>
          </a:p>
          <a:p>
            <a:pPr>
              <a:buFont typeface="Wingdings" panose="05000000000000000000" pitchFamily="2" charset="2"/>
              <a:buChar char="q"/>
            </a:pPr>
            <a:r>
              <a:rPr lang="en-US" dirty="0"/>
              <a:t>Is it an art? </a:t>
            </a:r>
          </a:p>
          <a:p>
            <a:pPr>
              <a:buFont typeface="Wingdings" panose="05000000000000000000" pitchFamily="2" charset="2"/>
              <a:buChar char="q"/>
            </a:pPr>
            <a:r>
              <a:rPr lang="en-US" dirty="0"/>
              <a:t>Is it multidisciplinary in nature/ is it a profession?</a:t>
            </a:r>
            <a:endParaRPr lang="en-IN" dirty="0"/>
          </a:p>
        </p:txBody>
      </p:sp>
    </p:spTree>
    <p:extLst>
      <p:ext uri="{BB962C8B-B14F-4D97-AF65-F5344CB8AC3E}">
        <p14:creationId xmlns:p14="http://schemas.microsoft.com/office/powerpoint/2010/main" val="1640555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B6F3-3F80-4EE7-8058-D303C914EF44}"/>
              </a:ext>
            </a:extLst>
          </p:cNvPr>
          <p:cNvSpPr>
            <a:spLocks noGrp="1"/>
          </p:cNvSpPr>
          <p:nvPr>
            <p:ph type="title"/>
          </p:nvPr>
        </p:nvSpPr>
        <p:spPr/>
        <p:txBody>
          <a:bodyPr/>
          <a:lstStyle/>
          <a:p>
            <a:r>
              <a:rPr lang="en-US" dirty="0"/>
              <a:t>Management as Science</a:t>
            </a:r>
            <a:endParaRPr lang="en-IN" dirty="0"/>
          </a:p>
        </p:txBody>
      </p:sp>
      <p:sp>
        <p:nvSpPr>
          <p:cNvPr id="3" name="Content Placeholder 2">
            <a:extLst>
              <a:ext uri="{FF2B5EF4-FFF2-40B4-BE49-F238E27FC236}">
                <a16:creationId xmlns:a16="http://schemas.microsoft.com/office/drawing/2014/main" id="{EBF35468-B091-4C08-8271-5C3669397D6E}"/>
              </a:ext>
            </a:extLst>
          </p:cNvPr>
          <p:cNvSpPr>
            <a:spLocks noGrp="1"/>
          </p:cNvSpPr>
          <p:nvPr>
            <p:ph idx="1"/>
          </p:nvPr>
        </p:nvSpPr>
        <p:spPr/>
        <p:txBody>
          <a:bodyPr>
            <a:normAutofit/>
          </a:bodyPr>
          <a:lstStyle/>
          <a:p>
            <a:pPr algn="just"/>
            <a:r>
              <a:rPr lang="en-US" dirty="0"/>
              <a:t>Frederick Winslow Taylor was the first manager-theorist to apply scientific principles in the field of management. </a:t>
            </a:r>
          </a:p>
          <a:p>
            <a:pPr algn="just"/>
            <a:r>
              <a:rPr lang="en-US" dirty="0"/>
              <a:t>He attempted to find out the </a:t>
            </a:r>
            <a:r>
              <a:rPr lang="en-US" b="1" dirty="0"/>
              <a:t>one best way </a:t>
            </a:r>
            <a:r>
              <a:rPr lang="en-US" dirty="0"/>
              <a:t>of doing a task scientifically by observing, analyzing, and experimenting. </a:t>
            </a:r>
          </a:p>
          <a:p>
            <a:pPr algn="just"/>
            <a:r>
              <a:rPr lang="en-US" dirty="0"/>
              <a:t>With his knowledge and experience at a steel manufacturing company, he came up with a few scientific principles in management. </a:t>
            </a:r>
          </a:p>
        </p:txBody>
      </p:sp>
    </p:spTree>
    <p:extLst>
      <p:ext uri="{BB962C8B-B14F-4D97-AF65-F5344CB8AC3E}">
        <p14:creationId xmlns:p14="http://schemas.microsoft.com/office/powerpoint/2010/main" val="1234753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7930-C2FD-44CC-AE0B-BE50661F3EAE}"/>
              </a:ext>
            </a:extLst>
          </p:cNvPr>
          <p:cNvSpPr>
            <a:spLocks noGrp="1"/>
          </p:cNvSpPr>
          <p:nvPr>
            <p:ph type="title"/>
          </p:nvPr>
        </p:nvSpPr>
        <p:spPr/>
        <p:txBody>
          <a:bodyPr/>
          <a:lstStyle/>
          <a:p>
            <a:r>
              <a:rPr lang="en-US" dirty="0"/>
              <a:t>Management as Science</a:t>
            </a:r>
            <a:endParaRPr lang="en-IN" dirty="0"/>
          </a:p>
        </p:txBody>
      </p:sp>
      <p:sp>
        <p:nvSpPr>
          <p:cNvPr id="3" name="Content Placeholder 2">
            <a:extLst>
              <a:ext uri="{FF2B5EF4-FFF2-40B4-BE49-F238E27FC236}">
                <a16:creationId xmlns:a16="http://schemas.microsoft.com/office/drawing/2014/main" id="{B2918A59-48CC-4DBE-B9C6-95B46B7E57FD}"/>
              </a:ext>
            </a:extLst>
          </p:cNvPr>
          <p:cNvSpPr>
            <a:spLocks noGrp="1"/>
          </p:cNvSpPr>
          <p:nvPr>
            <p:ph idx="1"/>
          </p:nvPr>
        </p:nvSpPr>
        <p:spPr/>
        <p:txBody>
          <a:bodyPr/>
          <a:lstStyle/>
          <a:p>
            <a:r>
              <a:rPr lang="en-US" dirty="0"/>
              <a:t>Following the lead from F.W. Taylor, his followers, such as </a:t>
            </a:r>
            <a:r>
              <a:rPr lang="en-US" b="1" dirty="0"/>
              <a:t>Frank and Lilian </a:t>
            </a:r>
            <a:r>
              <a:rPr lang="en-US" b="1" dirty="0" err="1"/>
              <a:t>Gilberth</a:t>
            </a:r>
            <a:r>
              <a:rPr lang="en-US" dirty="0"/>
              <a:t>, developed few more scientific ways in management. </a:t>
            </a:r>
            <a:endParaRPr lang="en-IN" dirty="0"/>
          </a:p>
          <a:p>
            <a:endParaRPr lang="en-US" dirty="0"/>
          </a:p>
          <a:p>
            <a:r>
              <a:rPr lang="en-US" dirty="0"/>
              <a:t>Management is a social science and deals with human beings who are very complex, unlike inanimate things such as light or heat.</a:t>
            </a:r>
            <a:endParaRPr lang="en-IN" dirty="0"/>
          </a:p>
        </p:txBody>
      </p:sp>
    </p:spTree>
    <p:extLst>
      <p:ext uri="{BB962C8B-B14F-4D97-AF65-F5344CB8AC3E}">
        <p14:creationId xmlns:p14="http://schemas.microsoft.com/office/powerpoint/2010/main" val="2609564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B2BDC-01E4-45CD-9E93-B96243DB6296}"/>
              </a:ext>
            </a:extLst>
          </p:cNvPr>
          <p:cNvSpPr>
            <a:spLocks noGrp="1"/>
          </p:cNvSpPr>
          <p:nvPr>
            <p:ph type="title"/>
          </p:nvPr>
        </p:nvSpPr>
        <p:spPr/>
        <p:txBody>
          <a:bodyPr/>
          <a:lstStyle/>
          <a:p>
            <a:r>
              <a:rPr lang="en-US" dirty="0"/>
              <a:t>Management as Art</a:t>
            </a:r>
            <a:endParaRPr lang="en-IN" dirty="0"/>
          </a:p>
        </p:txBody>
      </p:sp>
      <p:sp>
        <p:nvSpPr>
          <p:cNvPr id="3" name="Content Placeholder 2">
            <a:extLst>
              <a:ext uri="{FF2B5EF4-FFF2-40B4-BE49-F238E27FC236}">
                <a16:creationId xmlns:a16="http://schemas.microsoft.com/office/drawing/2014/main" id="{1C628184-C030-4DD3-B370-E241E525D75F}"/>
              </a:ext>
            </a:extLst>
          </p:cNvPr>
          <p:cNvSpPr>
            <a:spLocks noGrp="1"/>
          </p:cNvSpPr>
          <p:nvPr>
            <p:ph idx="1"/>
          </p:nvPr>
        </p:nvSpPr>
        <p:spPr/>
        <p:txBody>
          <a:bodyPr/>
          <a:lstStyle/>
          <a:p>
            <a:r>
              <a:rPr lang="en-US" dirty="0"/>
              <a:t>Under science, one learns the </a:t>
            </a:r>
            <a:r>
              <a:rPr lang="en-US" b="1" dirty="0"/>
              <a:t>'why</a:t>
            </a:r>
            <a:r>
              <a:rPr lang="en-US" dirty="0"/>
              <a:t>' of a phenomenon, but under art, one learns the </a:t>
            </a:r>
            <a:r>
              <a:rPr lang="en-US" b="1" dirty="0"/>
              <a:t>'how</a:t>
            </a:r>
            <a:r>
              <a:rPr lang="en-US" dirty="0"/>
              <a:t> of a phenomenon.</a:t>
            </a:r>
          </a:p>
          <a:p>
            <a:r>
              <a:rPr lang="en-US" dirty="0"/>
              <a:t>Art is mainly concerned with bringing the desired result with the application of skills.</a:t>
            </a:r>
          </a:p>
          <a:p>
            <a:r>
              <a:rPr lang="en-US" dirty="0"/>
              <a:t>To get things done.</a:t>
            </a:r>
          </a:p>
          <a:p>
            <a:pPr algn="just"/>
            <a:r>
              <a:rPr lang="en-US" dirty="0"/>
              <a:t>Management discipline has both science and art components; it is both science and art. </a:t>
            </a:r>
          </a:p>
          <a:p>
            <a:pPr algn="just"/>
            <a:r>
              <a:rPr lang="en-US" dirty="0"/>
              <a:t>Science and art are not mutually exclusive; actually, they are complementary to each other</a:t>
            </a:r>
            <a:endParaRPr lang="en-IN" dirty="0"/>
          </a:p>
        </p:txBody>
      </p:sp>
    </p:spTree>
    <p:extLst>
      <p:ext uri="{BB962C8B-B14F-4D97-AF65-F5344CB8AC3E}">
        <p14:creationId xmlns:p14="http://schemas.microsoft.com/office/powerpoint/2010/main" val="2239865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34E11-8AD9-4B24-9C75-FD97BAECDE31}"/>
              </a:ext>
            </a:extLst>
          </p:cNvPr>
          <p:cNvSpPr>
            <a:spLocks noGrp="1"/>
          </p:cNvSpPr>
          <p:nvPr>
            <p:ph type="title"/>
          </p:nvPr>
        </p:nvSpPr>
        <p:spPr/>
        <p:txBody>
          <a:bodyPr/>
          <a:lstStyle/>
          <a:p>
            <a:r>
              <a:rPr lang="en-US" dirty="0"/>
              <a:t>Management as a Profession</a:t>
            </a:r>
            <a:endParaRPr lang="en-IN" dirty="0"/>
          </a:p>
        </p:txBody>
      </p:sp>
      <p:sp>
        <p:nvSpPr>
          <p:cNvPr id="3" name="Content Placeholder 2">
            <a:extLst>
              <a:ext uri="{FF2B5EF4-FFF2-40B4-BE49-F238E27FC236}">
                <a16:creationId xmlns:a16="http://schemas.microsoft.com/office/drawing/2014/main" id="{2382DDBF-387B-401C-85D3-18444859E4A6}"/>
              </a:ext>
            </a:extLst>
          </p:cNvPr>
          <p:cNvSpPr>
            <a:spLocks noGrp="1"/>
          </p:cNvSpPr>
          <p:nvPr>
            <p:ph idx="1"/>
          </p:nvPr>
        </p:nvSpPr>
        <p:spPr/>
        <p:txBody>
          <a:bodyPr>
            <a:normAutofit fontScale="92500" lnSpcReduction="10000"/>
          </a:bodyPr>
          <a:lstStyle/>
          <a:p>
            <a:pPr algn="just"/>
            <a:r>
              <a:rPr lang="en-US" dirty="0"/>
              <a:t>According to </a:t>
            </a:r>
            <a:r>
              <a:rPr lang="en-US" b="1" dirty="0"/>
              <a:t>McFarland</a:t>
            </a:r>
            <a:r>
              <a:rPr lang="en-US" dirty="0"/>
              <a:t>, a profession should have specialized knowledge, principles, and skills. </a:t>
            </a:r>
          </a:p>
          <a:p>
            <a:pPr algn="just"/>
            <a:r>
              <a:rPr lang="en-US" dirty="0"/>
              <a:t>A profession should have methods of acquiring training and experience. It should have formal ethical codes that guide the people practicing the profession. </a:t>
            </a:r>
          </a:p>
          <a:p>
            <a:pPr algn="just"/>
            <a:r>
              <a:rPr lang="en-US" dirty="0"/>
              <a:t>A professional practicing a profession charges fee for the services he/she provides to their clients. </a:t>
            </a:r>
          </a:p>
          <a:p>
            <a:pPr algn="just"/>
            <a:r>
              <a:rPr lang="en-US" dirty="0"/>
              <a:t>Unlike medicine or law, management is </a:t>
            </a:r>
            <a:r>
              <a:rPr lang="en-US" b="1" dirty="0"/>
              <a:t>not a prerequisite </a:t>
            </a:r>
            <a:r>
              <a:rPr lang="en-US" dirty="0"/>
              <a:t>for anyone to become managers. </a:t>
            </a:r>
          </a:p>
          <a:p>
            <a:pPr algn="just"/>
            <a:r>
              <a:rPr lang="en-US" dirty="0"/>
              <a:t>Even though management has few features to become a profession as of now, management </a:t>
            </a:r>
            <a:r>
              <a:rPr lang="en-US" b="1" dirty="0"/>
              <a:t>has not </a:t>
            </a:r>
            <a:r>
              <a:rPr lang="en-US" dirty="0"/>
              <a:t>achieved the </a:t>
            </a:r>
            <a:r>
              <a:rPr lang="en-US" b="1" dirty="0"/>
              <a:t>status</a:t>
            </a:r>
            <a:r>
              <a:rPr lang="en-US" dirty="0"/>
              <a:t> of a profession.</a:t>
            </a:r>
            <a:endParaRPr lang="en-IN" dirty="0"/>
          </a:p>
        </p:txBody>
      </p:sp>
    </p:spTree>
    <p:extLst>
      <p:ext uri="{BB962C8B-B14F-4D97-AF65-F5344CB8AC3E}">
        <p14:creationId xmlns:p14="http://schemas.microsoft.com/office/powerpoint/2010/main" val="2925214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B3EC-777A-4F19-B9F9-088C19F981BC}"/>
              </a:ext>
            </a:extLst>
          </p:cNvPr>
          <p:cNvSpPr>
            <a:spLocks noGrp="1"/>
          </p:cNvSpPr>
          <p:nvPr>
            <p:ph type="title"/>
          </p:nvPr>
        </p:nvSpPr>
        <p:spPr/>
        <p:txBody>
          <a:bodyPr/>
          <a:lstStyle/>
          <a:p>
            <a:r>
              <a:rPr lang="en-US" dirty="0"/>
              <a:t>Management Vs Administration</a:t>
            </a:r>
            <a:endParaRPr lang="en-IN" dirty="0"/>
          </a:p>
        </p:txBody>
      </p:sp>
      <p:sp>
        <p:nvSpPr>
          <p:cNvPr id="3" name="Content Placeholder 2">
            <a:extLst>
              <a:ext uri="{FF2B5EF4-FFF2-40B4-BE49-F238E27FC236}">
                <a16:creationId xmlns:a16="http://schemas.microsoft.com/office/drawing/2014/main" id="{0D7F0D91-C2FD-4B42-8B76-3768D79E46C5}"/>
              </a:ext>
            </a:extLst>
          </p:cNvPr>
          <p:cNvSpPr>
            <a:spLocks noGrp="1"/>
          </p:cNvSpPr>
          <p:nvPr>
            <p:ph idx="1"/>
          </p:nvPr>
        </p:nvSpPr>
        <p:spPr/>
        <p:txBody>
          <a:bodyPr/>
          <a:lstStyle/>
          <a:p>
            <a:pPr algn="just"/>
            <a:r>
              <a:rPr lang="en-US" dirty="0">
                <a:hlinkClick r:id="rId2">
                  <a:extLst>
                    <a:ext uri="{A12FA001-AC4F-418D-AE19-62706E023703}">
                      <ahyp:hlinkClr xmlns:ahyp="http://schemas.microsoft.com/office/drawing/2018/hyperlinkcolor" val="tx"/>
                    </a:ext>
                  </a:extLst>
                </a:hlinkClick>
              </a:rPr>
              <a:t>Management</a:t>
            </a:r>
            <a:r>
              <a:rPr lang="en-US" dirty="0"/>
              <a:t> refers to the process of planning, </a:t>
            </a:r>
            <a:r>
              <a:rPr lang="en-US" dirty="0" err="1"/>
              <a:t>organising</a:t>
            </a:r>
            <a:r>
              <a:rPr lang="en-US" dirty="0"/>
              <a:t>, staffing, directing and controlling the activities of an </a:t>
            </a:r>
            <a:r>
              <a:rPr lang="en-US" dirty="0" err="1"/>
              <a:t>organisation</a:t>
            </a:r>
            <a:r>
              <a:rPr lang="en-US" dirty="0"/>
              <a:t> to achieve its goals efficiently and effectively. </a:t>
            </a:r>
          </a:p>
          <a:p>
            <a:pPr algn="just"/>
            <a:endParaRPr lang="en-US" dirty="0"/>
          </a:p>
          <a:p>
            <a:pPr algn="just"/>
            <a:r>
              <a:rPr lang="en-US" dirty="0"/>
              <a:t>It focuses on getting work done through people by motivating them, guiding their efforts and coordinating their activities. Management is action oriented and concerned with the execution of plans and policies.</a:t>
            </a:r>
            <a:endParaRPr lang="en-IN" dirty="0"/>
          </a:p>
        </p:txBody>
      </p:sp>
    </p:spTree>
    <p:extLst>
      <p:ext uri="{BB962C8B-B14F-4D97-AF65-F5344CB8AC3E}">
        <p14:creationId xmlns:p14="http://schemas.microsoft.com/office/powerpoint/2010/main" val="4158363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D4A3-2823-43D8-A379-3AAC561FE006}"/>
              </a:ext>
            </a:extLst>
          </p:cNvPr>
          <p:cNvSpPr>
            <a:spLocks noGrp="1"/>
          </p:cNvSpPr>
          <p:nvPr>
            <p:ph type="title"/>
          </p:nvPr>
        </p:nvSpPr>
        <p:spPr/>
        <p:txBody>
          <a:bodyPr/>
          <a:lstStyle/>
          <a:p>
            <a:r>
              <a:rPr lang="en-US" dirty="0"/>
              <a:t>Management Vs Administration</a:t>
            </a:r>
            <a:endParaRPr lang="en-IN" dirty="0"/>
          </a:p>
        </p:txBody>
      </p:sp>
      <p:sp>
        <p:nvSpPr>
          <p:cNvPr id="3" name="Content Placeholder 2">
            <a:extLst>
              <a:ext uri="{FF2B5EF4-FFF2-40B4-BE49-F238E27FC236}">
                <a16:creationId xmlns:a16="http://schemas.microsoft.com/office/drawing/2014/main" id="{6DC739BA-D7C9-461A-8D49-2945396DB938}"/>
              </a:ext>
            </a:extLst>
          </p:cNvPr>
          <p:cNvSpPr>
            <a:spLocks noGrp="1"/>
          </p:cNvSpPr>
          <p:nvPr>
            <p:ph idx="1"/>
          </p:nvPr>
        </p:nvSpPr>
        <p:spPr/>
        <p:txBody>
          <a:bodyPr/>
          <a:lstStyle/>
          <a:p>
            <a:pPr algn="just"/>
            <a:r>
              <a:rPr lang="en-US" dirty="0"/>
              <a:t>Managers operate at different levels such as top, middle and lower levels. At each level, management ensures that </a:t>
            </a:r>
            <a:r>
              <a:rPr lang="en-US" dirty="0" err="1"/>
              <a:t>organisational</a:t>
            </a:r>
            <a:r>
              <a:rPr lang="en-US" dirty="0"/>
              <a:t> objectives are translated into practical actions. </a:t>
            </a:r>
          </a:p>
          <a:p>
            <a:pPr algn="just"/>
            <a:endParaRPr lang="en-US" dirty="0"/>
          </a:p>
          <a:p>
            <a:pPr algn="just"/>
            <a:r>
              <a:rPr lang="en-US" dirty="0"/>
              <a:t>It deals with both human and non human resources and aims to </a:t>
            </a:r>
            <a:r>
              <a:rPr lang="en-US" dirty="0" err="1"/>
              <a:t>maximise</a:t>
            </a:r>
            <a:r>
              <a:rPr lang="en-US" dirty="0"/>
              <a:t> productivity while maintaining harmony within the </a:t>
            </a:r>
            <a:r>
              <a:rPr lang="en-US" dirty="0" err="1"/>
              <a:t>organisation</a:t>
            </a:r>
            <a:r>
              <a:rPr lang="en-US" dirty="0"/>
              <a:t>.</a:t>
            </a:r>
            <a:endParaRPr lang="en-IN" dirty="0"/>
          </a:p>
        </p:txBody>
      </p:sp>
    </p:spTree>
    <p:extLst>
      <p:ext uri="{BB962C8B-B14F-4D97-AF65-F5344CB8AC3E}">
        <p14:creationId xmlns:p14="http://schemas.microsoft.com/office/powerpoint/2010/main" val="2564402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5263B-140B-4196-89D8-AD6575841A29}"/>
              </a:ext>
            </a:extLst>
          </p:cNvPr>
          <p:cNvSpPr>
            <a:spLocks noGrp="1"/>
          </p:cNvSpPr>
          <p:nvPr>
            <p:ph type="title"/>
          </p:nvPr>
        </p:nvSpPr>
        <p:spPr/>
        <p:txBody>
          <a:bodyPr/>
          <a:lstStyle/>
          <a:p>
            <a:r>
              <a:rPr lang="en-US" dirty="0"/>
              <a:t>Management Vs Administration</a:t>
            </a:r>
            <a:endParaRPr lang="en-IN" dirty="0"/>
          </a:p>
        </p:txBody>
      </p:sp>
      <p:sp>
        <p:nvSpPr>
          <p:cNvPr id="3" name="Content Placeholder 2">
            <a:extLst>
              <a:ext uri="{FF2B5EF4-FFF2-40B4-BE49-F238E27FC236}">
                <a16:creationId xmlns:a16="http://schemas.microsoft.com/office/drawing/2014/main" id="{7EEF4C3F-D2FA-481E-BCC7-7CC711AE7800}"/>
              </a:ext>
            </a:extLst>
          </p:cNvPr>
          <p:cNvSpPr>
            <a:spLocks noGrp="1"/>
          </p:cNvSpPr>
          <p:nvPr>
            <p:ph idx="1"/>
          </p:nvPr>
        </p:nvSpPr>
        <p:spPr>
          <a:xfrm>
            <a:off x="457200" y="1935480"/>
            <a:ext cx="8229600" cy="4389120"/>
          </a:xfrm>
        </p:spPr>
        <p:txBody>
          <a:bodyPr/>
          <a:lstStyle/>
          <a:p>
            <a:pPr algn="just"/>
            <a:r>
              <a:rPr lang="en-US" dirty="0"/>
              <a:t>Administration refers to the process of formulating policies, setting objectives and laying down the overall framework within which an </a:t>
            </a:r>
            <a:r>
              <a:rPr lang="en-US" dirty="0" err="1"/>
              <a:t>organisation</a:t>
            </a:r>
            <a:r>
              <a:rPr lang="en-US" dirty="0"/>
              <a:t> operates. </a:t>
            </a:r>
          </a:p>
          <a:p>
            <a:pPr algn="just"/>
            <a:endParaRPr lang="en-US" dirty="0"/>
          </a:p>
          <a:p>
            <a:pPr algn="just"/>
            <a:r>
              <a:rPr lang="en-US" dirty="0"/>
              <a:t>It is concerned with determining </a:t>
            </a:r>
            <a:r>
              <a:rPr lang="en-US" dirty="0" err="1"/>
              <a:t>organisational</a:t>
            </a:r>
            <a:r>
              <a:rPr lang="en-US" dirty="0"/>
              <a:t> goals and the broad strategies to achieve them. Administration is mainly focused on decision making at the top level and provides direction to management.</a:t>
            </a:r>
            <a:endParaRPr lang="en-IN" dirty="0"/>
          </a:p>
        </p:txBody>
      </p:sp>
    </p:spTree>
    <p:extLst>
      <p:ext uri="{BB962C8B-B14F-4D97-AF65-F5344CB8AC3E}">
        <p14:creationId xmlns:p14="http://schemas.microsoft.com/office/powerpoint/2010/main" val="1168645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709C-B37D-4E2F-9FB7-3E5D7C41A4F4}"/>
              </a:ext>
            </a:extLst>
          </p:cNvPr>
          <p:cNvSpPr>
            <a:spLocks noGrp="1"/>
          </p:cNvSpPr>
          <p:nvPr>
            <p:ph type="title"/>
          </p:nvPr>
        </p:nvSpPr>
        <p:spPr/>
        <p:txBody>
          <a:bodyPr/>
          <a:lstStyle/>
          <a:p>
            <a:r>
              <a:rPr lang="en-US" dirty="0"/>
              <a:t>Management Vs Administration</a:t>
            </a:r>
            <a:endParaRPr lang="en-IN" dirty="0"/>
          </a:p>
        </p:txBody>
      </p:sp>
      <p:sp>
        <p:nvSpPr>
          <p:cNvPr id="3" name="Content Placeholder 2">
            <a:extLst>
              <a:ext uri="{FF2B5EF4-FFF2-40B4-BE49-F238E27FC236}">
                <a16:creationId xmlns:a16="http://schemas.microsoft.com/office/drawing/2014/main" id="{4952E22E-82DB-46BA-A484-903A233EAA38}"/>
              </a:ext>
            </a:extLst>
          </p:cNvPr>
          <p:cNvSpPr>
            <a:spLocks noGrp="1"/>
          </p:cNvSpPr>
          <p:nvPr>
            <p:ph idx="1"/>
          </p:nvPr>
        </p:nvSpPr>
        <p:spPr/>
        <p:txBody>
          <a:bodyPr/>
          <a:lstStyle/>
          <a:p>
            <a:pPr algn="just"/>
            <a:r>
              <a:rPr lang="en-US" dirty="0"/>
              <a:t>Administrators represent the ownership or governing body of the </a:t>
            </a:r>
            <a:r>
              <a:rPr lang="en-US" dirty="0" err="1"/>
              <a:t>organisation</a:t>
            </a:r>
            <a:r>
              <a:rPr lang="en-US" dirty="0"/>
              <a:t>. Their role is more intellectual and strategic in nature. </a:t>
            </a:r>
          </a:p>
          <a:p>
            <a:pPr algn="just"/>
            <a:endParaRPr lang="en-US" dirty="0"/>
          </a:p>
          <a:p>
            <a:pPr algn="just"/>
            <a:r>
              <a:rPr lang="en-US" dirty="0"/>
              <a:t>They ensure that the </a:t>
            </a:r>
            <a:r>
              <a:rPr lang="en-US" dirty="0" err="1"/>
              <a:t>organisation</a:t>
            </a:r>
            <a:r>
              <a:rPr lang="en-US" dirty="0"/>
              <a:t> functions in accordance with its mission, vision, values and legal requirements.</a:t>
            </a:r>
            <a:endParaRPr lang="en-IN" dirty="0"/>
          </a:p>
        </p:txBody>
      </p:sp>
    </p:spTree>
    <p:extLst>
      <p:ext uri="{BB962C8B-B14F-4D97-AF65-F5344CB8AC3E}">
        <p14:creationId xmlns:p14="http://schemas.microsoft.com/office/powerpoint/2010/main" val="2105545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2DC9E-83B5-42C4-87EE-CA9657FF095E}"/>
              </a:ext>
            </a:extLst>
          </p:cNvPr>
          <p:cNvSpPr>
            <a:spLocks noGrp="1"/>
          </p:cNvSpPr>
          <p:nvPr>
            <p:ph type="title"/>
          </p:nvPr>
        </p:nvSpPr>
        <p:spPr/>
        <p:txBody>
          <a:bodyPr/>
          <a:lstStyle/>
          <a:p>
            <a:r>
              <a:rPr lang="en-US" dirty="0"/>
              <a:t>Management Vs Administration</a:t>
            </a:r>
            <a:endParaRPr lang="en-IN" dirty="0"/>
          </a:p>
        </p:txBody>
      </p:sp>
      <p:pic>
        <p:nvPicPr>
          <p:cNvPr id="4" name="Content Placeholder 3">
            <a:extLst>
              <a:ext uri="{FF2B5EF4-FFF2-40B4-BE49-F238E27FC236}">
                <a16:creationId xmlns:a16="http://schemas.microsoft.com/office/drawing/2014/main" id="{1137700D-5B35-414A-9885-5A5031585222}"/>
              </a:ext>
            </a:extLst>
          </p:cNvPr>
          <p:cNvPicPr>
            <a:picLocks noGrp="1" noChangeAspect="1"/>
          </p:cNvPicPr>
          <p:nvPr>
            <p:ph idx="1"/>
          </p:nvPr>
        </p:nvPicPr>
        <p:blipFill>
          <a:blip r:embed="rId2"/>
          <a:stretch>
            <a:fillRect/>
          </a:stretch>
        </p:blipFill>
        <p:spPr>
          <a:xfrm>
            <a:off x="1308333" y="1935163"/>
            <a:ext cx="6527334" cy="4389437"/>
          </a:xfrm>
          <a:prstGeom prst="rect">
            <a:avLst/>
          </a:prstGeom>
        </p:spPr>
      </p:pic>
    </p:spTree>
    <p:extLst>
      <p:ext uri="{BB962C8B-B14F-4D97-AF65-F5344CB8AC3E}">
        <p14:creationId xmlns:p14="http://schemas.microsoft.com/office/powerpoint/2010/main" val="205508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9CEC3-7968-4B1E-A11A-D06DF72126D4}"/>
              </a:ext>
            </a:extLst>
          </p:cNvPr>
          <p:cNvSpPr>
            <a:spLocks noGrp="1"/>
          </p:cNvSpPr>
          <p:nvPr>
            <p:ph type="title"/>
          </p:nvPr>
        </p:nvSpPr>
        <p:spPr/>
        <p:txBody>
          <a:bodyPr/>
          <a:lstStyle/>
          <a:p>
            <a:r>
              <a:rPr lang="en-US" dirty="0"/>
              <a:t>Levels of Management</a:t>
            </a:r>
            <a:endParaRPr lang="en-IN" dirty="0"/>
          </a:p>
        </p:txBody>
      </p:sp>
      <p:sp>
        <p:nvSpPr>
          <p:cNvPr id="3" name="Content Placeholder 2">
            <a:extLst>
              <a:ext uri="{FF2B5EF4-FFF2-40B4-BE49-F238E27FC236}">
                <a16:creationId xmlns:a16="http://schemas.microsoft.com/office/drawing/2014/main" id="{9D4E19DB-93C6-479D-AECF-7C967948F059}"/>
              </a:ext>
            </a:extLst>
          </p:cNvPr>
          <p:cNvSpPr>
            <a:spLocks noGrp="1"/>
          </p:cNvSpPr>
          <p:nvPr>
            <p:ph idx="1"/>
          </p:nvPr>
        </p:nvSpPr>
        <p:spPr/>
        <p:txBody>
          <a:bodyPr/>
          <a:lstStyle/>
          <a:p>
            <a:pPr algn="just"/>
            <a:r>
              <a:rPr lang="en-US" dirty="0"/>
              <a:t>Top-level Managers The top-level management is responsible for the overall activities of an organization. It establishes plans and goals that influence the entire organization. </a:t>
            </a:r>
          </a:p>
          <a:p>
            <a:pPr algn="just"/>
            <a:endParaRPr lang="en-US" dirty="0"/>
          </a:p>
          <a:p>
            <a:pPr algn="just"/>
            <a:r>
              <a:rPr lang="en-US" dirty="0"/>
              <a:t>Top-level managers are few in number and occupy the posts of ‘Chief Executive Officer’, ‘Chairman’, ‘President’, ‘Vice-President’, ‘Director’ etc. </a:t>
            </a:r>
            <a:endParaRPr lang="en-IN" dirty="0"/>
          </a:p>
        </p:txBody>
      </p:sp>
    </p:spTree>
    <p:extLst>
      <p:ext uri="{BB962C8B-B14F-4D97-AF65-F5344CB8AC3E}">
        <p14:creationId xmlns:p14="http://schemas.microsoft.com/office/powerpoint/2010/main" val="204236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9D8C-A4BD-4FD3-887A-E6D283B2CDC0}"/>
              </a:ext>
            </a:extLst>
          </p:cNvPr>
          <p:cNvSpPr>
            <a:spLocks noGrp="1"/>
          </p:cNvSpPr>
          <p:nvPr>
            <p:ph type="title"/>
          </p:nvPr>
        </p:nvSpPr>
        <p:spPr/>
        <p:txBody>
          <a:bodyPr/>
          <a:lstStyle/>
          <a:p>
            <a:r>
              <a:rPr lang="en-US" dirty="0"/>
              <a:t>Levels of Management</a:t>
            </a:r>
            <a:endParaRPr lang="en-IN" dirty="0"/>
          </a:p>
        </p:txBody>
      </p:sp>
      <p:sp>
        <p:nvSpPr>
          <p:cNvPr id="3" name="Content Placeholder 2">
            <a:extLst>
              <a:ext uri="{FF2B5EF4-FFF2-40B4-BE49-F238E27FC236}">
                <a16:creationId xmlns:a16="http://schemas.microsoft.com/office/drawing/2014/main" id="{E173040C-F326-4C2D-A138-82AE05E021AD}"/>
              </a:ext>
            </a:extLst>
          </p:cNvPr>
          <p:cNvSpPr>
            <a:spLocks noGrp="1"/>
          </p:cNvSpPr>
          <p:nvPr>
            <p:ph idx="1"/>
          </p:nvPr>
        </p:nvSpPr>
        <p:spPr/>
        <p:txBody>
          <a:bodyPr/>
          <a:lstStyle/>
          <a:p>
            <a:pPr algn="just"/>
            <a:r>
              <a:rPr lang="en-US" dirty="0"/>
              <a:t>Middle-level Managers Middle-level managers are directly responsible for managing the performance of first-level managers. </a:t>
            </a:r>
          </a:p>
          <a:p>
            <a:pPr algn="just"/>
            <a:endParaRPr lang="en-US" dirty="0"/>
          </a:p>
          <a:p>
            <a:pPr algn="just"/>
            <a:r>
              <a:rPr lang="en-US" dirty="0"/>
              <a:t>They are responsible for the operational efficiency of various departments in an organization and review daily and weekly reports on production or sales. </a:t>
            </a:r>
          </a:p>
          <a:p>
            <a:pPr algn="just"/>
            <a:endParaRPr lang="en-US" dirty="0"/>
          </a:p>
          <a:p>
            <a:pPr algn="just"/>
            <a:r>
              <a:rPr lang="en-US" dirty="0"/>
              <a:t>They hold designations such as ‘Department Heads’, ‘Project Leader’, ‘Plant Manager’ and ‘Divisional Head. </a:t>
            </a:r>
            <a:endParaRPr lang="en-IN" dirty="0"/>
          </a:p>
        </p:txBody>
      </p:sp>
    </p:spTree>
    <p:extLst>
      <p:ext uri="{BB962C8B-B14F-4D97-AF65-F5344CB8AC3E}">
        <p14:creationId xmlns:p14="http://schemas.microsoft.com/office/powerpoint/2010/main" val="535307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BC15-AAAD-4DEC-8096-E5382752EFD5}"/>
              </a:ext>
            </a:extLst>
          </p:cNvPr>
          <p:cNvSpPr>
            <a:spLocks noGrp="1"/>
          </p:cNvSpPr>
          <p:nvPr>
            <p:ph type="title"/>
          </p:nvPr>
        </p:nvSpPr>
        <p:spPr/>
        <p:txBody>
          <a:bodyPr/>
          <a:lstStyle/>
          <a:p>
            <a:r>
              <a:rPr lang="en-US" dirty="0"/>
              <a:t>Levels of Management</a:t>
            </a:r>
            <a:endParaRPr lang="en-IN" dirty="0"/>
          </a:p>
        </p:txBody>
      </p:sp>
      <p:sp>
        <p:nvSpPr>
          <p:cNvPr id="3" name="Content Placeholder 2">
            <a:extLst>
              <a:ext uri="{FF2B5EF4-FFF2-40B4-BE49-F238E27FC236}">
                <a16:creationId xmlns:a16="http://schemas.microsoft.com/office/drawing/2014/main" id="{6155307D-5362-4FF3-B13B-DCA67CCB6B6E}"/>
              </a:ext>
            </a:extLst>
          </p:cNvPr>
          <p:cNvSpPr>
            <a:spLocks noGrp="1"/>
          </p:cNvSpPr>
          <p:nvPr>
            <p:ph idx="1"/>
          </p:nvPr>
        </p:nvSpPr>
        <p:spPr/>
        <p:txBody>
          <a:bodyPr/>
          <a:lstStyle/>
          <a:p>
            <a:pPr algn="just"/>
            <a:r>
              <a:rPr lang="en-US" dirty="0"/>
              <a:t>First-level Managers </a:t>
            </a:r>
            <a:r>
              <a:rPr lang="en-US" dirty="0" err="1"/>
              <a:t>Managers</a:t>
            </a:r>
            <a:r>
              <a:rPr lang="en-US" dirty="0"/>
              <a:t> at the first-level have the responsibility to manage the performance of the non-managerial personnel in an organization and ensure implementation of operational plans. They are also called Supervisors. </a:t>
            </a:r>
          </a:p>
          <a:p>
            <a:pPr algn="just"/>
            <a:endParaRPr lang="en-US" dirty="0"/>
          </a:p>
          <a:p>
            <a:pPr algn="just"/>
            <a:r>
              <a:rPr lang="en-US" dirty="0"/>
              <a:t>They are given different titles in different companies like ‘Foreman’, Clerical Supervisor’, ‘Technical Supervisor’, etc.</a:t>
            </a:r>
            <a:endParaRPr lang="en-IN" dirty="0"/>
          </a:p>
        </p:txBody>
      </p:sp>
    </p:spTree>
    <p:extLst>
      <p:ext uri="{BB962C8B-B14F-4D97-AF65-F5344CB8AC3E}">
        <p14:creationId xmlns:p14="http://schemas.microsoft.com/office/powerpoint/2010/main" val="879222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AD11C-F16E-4BAA-A22B-A0F8F6E356B9}"/>
              </a:ext>
            </a:extLst>
          </p:cNvPr>
          <p:cNvSpPr>
            <a:spLocks noGrp="1"/>
          </p:cNvSpPr>
          <p:nvPr>
            <p:ph type="title"/>
          </p:nvPr>
        </p:nvSpPr>
        <p:spPr/>
        <p:txBody>
          <a:bodyPr/>
          <a:lstStyle/>
          <a:p>
            <a:r>
              <a:rPr lang="en-US" dirty="0"/>
              <a:t>Levels of Management</a:t>
            </a:r>
            <a:endParaRPr lang="en-IN" dirty="0"/>
          </a:p>
        </p:txBody>
      </p:sp>
      <p:pic>
        <p:nvPicPr>
          <p:cNvPr id="4" name="Content Placeholder 3">
            <a:extLst>
              <a:ext uri="{FF2B5EF4-FFF2-40B4-BE49-F238E27FC236}">
                <a16:creationId xmlns:a16="http://schemas.microsoft.com/office/drawing/2014/main" id="{541903E6-DF53-4A27-BBC3-FEAA29E4380E}"/>
              </a:ext>
            </a:extLst>
          </p:cNvPr>
          <p:cNvPicPr>
            <a:picLocks noGrp="1" noChangeAspect="1"/>
          </p:cNvPicPr>
          <p:nvPr>
            <p:ph idx="1"/>
          </p:nvPr>
        </p:nvPicPr>
        <p:blipFill>
          <a:blip r:embed="rId2"/>
          <a:stretch>
            <a:fillRect/>
          </a:stretch>
        </p:blipFill>
        <p:spPr>
          <a:xfrm>
            <a:off x="457200" y="2348880"/>
            <a:ext cx="8229600" cy="3670160"/>
          </a:xfrm>
          <a:prstGeom prst="rect">
            <a:avLst/>
          </a:prstGeom>
        </p:spPr>
      </p:pic>
    </p:spTree>
    <p:extLst>
      <p:ext uri="{BB962C8B-B14F-4D97-AF65-F5344CB8AC3E}">
        <p14:creationId xmlns:p14="http://schemas.microsoft.com/office/powerpoint/2010/main" val="3767794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863D-52BB-48EE-AF34-CB31B0B6BC93}"/>
              </a:ext>
            </a:extLst>
          </p:cNvPr>
          <p:cNvSpPr>
            <a:spLocks noGrp="1"/>
          </p:cNvSpPr>
          <p:nvPr>
            <p:ph type="title"/>
          </p:nvPr>
        </p:nvSpPr>
        <p:spPr/>
        <p:txBody>
          <a:bodyPr>
            <a:normAutofit fontScale="90000"/>
          </a:bodyPr>
          <a:lstStyle/>
          <a:p>
            <a:r>
              <a:rPr lang="en-US" dirty="0"/>
              <a:t>Evolution of Management Thought </a:t>
            </a:r>
            <a:endParaRPr lang="en-IN" dirty="0"/>
          </a:p>
        </p:txBody>
      </p:sp>
      <p:sp>
        <p:nvSpPr>
          <p:cNvPr id="3" name="Content Placeholder 2">
            <a:extLst>
              <a:ext uri="{FF2B5EF4-FFF2-40B4-BE49-F238E27FC236}">
                <a16:creationId xmlns:a16="http://schemas.microsoft.com/office/drawing/2014/main" id="{1F4CC442-1EB4-4137-B4D7-9C2CB305078A}"/>
              </a:ext>
            </a:extLst>
          </p:cNvPr>
          <p:cNvSpPr>
            <a:spLocks noGrp="1"/>
          </p:cNvSpPr>
          <p:nvPr>
            <p:ph idx="1"/>
          </p:nvPr>
        </p:nvSpPr>
        <p:spPr/>
        <p:txBody>
          <a:bodyPr>
            <a:normAutofit/>
          </a:bodyPr>
          <a:lstStyle/>
          <a:p>
            <a:r>
              <a:rPr lang="en-US" dirty="0"/>
              <a:t>Classical Approach</a:t>
            </a:r>
          </a:p>
          <a:p>
            <a:pPr lvl="1"/>
            <a:r>
              <a:rPr lang="en-US" sz="2200" dirty="0"/>
              <a:t>Administrative Functional or Process Approach (Henri Fayol)</a:t>
            </a:r>
          </a:p>
          <a:p>
            <a:pPr lvl="1"/>
            <a:r>
              <a:rPr lang="en-US" sz="2200" dirty="0"/>
              <a:t>Scientific Management (F. W. Taylor)</a:t>
            </a:r>
          </a:p>
          <a:p>
            <a:pPr lvl="1"/>
            <a:r>
              <a:rPr lang="en-US" sz="2200" dirty="0"/>
              <a:t>Bureaucratic Approach (Max Weber)</a:t>
            </a:r>
          </a:p>
          <a:p>
            <a:r>
              <a:rPr lang="en-US" dirty="0"/>
              <a:t>Neo-Classical Approach</a:t>
            </a:r>
          </a:p>
          <a:p>
            <a:pPr lvl="1"/>
            <a:r>
              <a:rPr lang="en-US" sz="2200" dirty="0" err="1"/>
              <a:t>Hawthrone</a:t>
            </a:r>
            <a:r>
              <a:rPr lang="en-US" sz="2200" dirty="0"/>
              <a:t> Experiments</a:t>
            </a:r>
          </a:p>
          <a:p>
            <a:r>
              <a:rPr lang="en-US" dirty="0" err="1"/>
              <a:t>Behavioural</a:t>
            </a:r>
            <a:r>
              <a:rPr lang="en-US" dirty="0"/>
              <a:t> Science Approach</a:t>
            </a:r>
          </a:p>
          <a:p>
            <a:r>
              <a:rPr lang="en-US" dirty="0"/>
              <a:t>Social System Approach</a:t>
            </a:r>
          </a:p>
          <a:p>
            <a:r>
              <a:rPr lang="en-US" dirty="0"/>
              <a:t>Contingency Approach</a:t>
            </a:r>
          </a:p>
          <a:p>
            <a:pPr marL="393192" lvl="1" indent="0">
              <a:buNone/>
            </a:pPr>
            <a:endParaRPr lang="en-IN" dirty="0"/>
          </a:p>
        </p:txBody>
      </p:sp>
    </p:spTree>
    <p:extLst>
      <p:ext uri="{BB962C8B-B14F-4D97-AF65-F5344CB8AC3E}">
        <p14:creationId xmlns:p14="http://schemas.microsoft.com/office/powerpoint/2010/main" val="2016946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D0F1-2FA1-4A4F-BDD1-3F660E7E7521}"/>
              </a:ext>
            </a:extLst>
          </p:cNvPr>
          <p:cNvSpPr>
            <a:spLocks noGrp="1"/>
          </p:cNvSpPr>
          <p:nvPr>
            <p:ph type="title"/>
          </p:nvPr>
        </p:nvSpPr>
        <p:spPr/>
        <p:txBody>
          <a:bodyPr>
            <a:normAutofit/>
          </a:bodyPr>
          <a:lstStyle/>
          <a:p>
            <a:r>
              <a:rPr lang="en-US" dirty="0"/>
              <a:t>Classical Approach</a:t>
            </a:r>
            <a:endParaRPr lang="en-IN" sz="2200" dirty="0"/>
          </a:p>
        </p:txBody>
      </p:sp>
      <p:sp>
        <p:nvSpPr>
          <p:cNvPr id="3" name="Content Placeholder 2">
            <a:extLst>
              <a:ext uri="{FF2B5EF4-FFF2-40B4-BE49-F238E27FC236}">
                <a16:creationId xmlns:a16="http://schemas.microsoft.com/office/drawing/2014/main" id="{54F6C2FE-CF21-4238-AFCB-A411A5115BFE}"/>
              </a:ext>
            </a:extLst>
          </p:cNvPr>
          <p:cNvSpPr>
            <a:spLocks noGrp="1"/>
          </p:cNvSpPr>
          <p:nvPr>
            <p:ph idx="1"/>
          </p:nvPr>
        </p:nvSpPr>
        <p:spPr>
          <a:xfrm>
            <a:off x="457200" y="1916832"/>
            <a:ext cx="8229600" cy="4389120"/>
          </a:xfrm>
        </p:spPr>
        <p:txBody>
          <a:bodyPr>
            <a:normAutofit lnSpcReduction="10000"/>
          </a:bodyPr>
          <a:lstStyle/>
          <a:p>
            <a:r>
              <a:rPr lang="en-US" dirty="0"/>
              <a:t>Beginning of systematic study of the organization.</a:t>
            </a:r>
          </a:p>
          <a:p>
            <a:r>
              <a:rPr lang="en-US" dirty="0"/>
              <a:t>Emphasis on:</a:t>
            </a:r>
          </a:p>
          <a:p>
            <a:pPr lvl="1"/>
            <a:r>
              <a:rPr lang="en-US" dirty="0"/>
              <a:t>Planning of work</a:t>
            </a:r>
          </a:p>
          <a:p>
            <a:pPr lvl="1"/>
            <a:r>
              <a:rPr lang="en-US" dirty="0"/>
              <a:t>Technical requirements of the organization</a:t>
            </a:r>
          </a:p>
          <a:p>
            <a:pPr lvl="1"/>
            <a:r>
              <a:rPr lang="en-US" dirty="0"/>
              <a:t>Principles of management</a:t>
            </a:r>
          </a:p>
          <a:p>
            <a:pPr lvl="1"/>
            <a:r>
              <a:rPr lang="en-US" dirty="0"/>
              <a:t>Assumptions of rational and logical behavior</a:t>
            </a:r>
          </a:p>
          <a:p>
            <a:pPr lvl="1"/>
            <a:endParaRPr lang="en-US" dirty="0"/>
          </a:p>
          <a:p>
            <a:pPr lvl="1">
              <a:buFont typeface="Wingdings" panose="05000000000000000000" pitchFamily="2" charset="2"/>
              <a:buChar char="v"/>
            </a:pPr>
            <a:r>
              <a:rPr lang="en-US" dirty="0"/>
              <a:t>It ignored the impact of external environment on the working of the organization.</a:t>
            </a:r>
          </a:p>
          <a:p>
            <a:pPr lvl="1">
              <a:buFont typeface="Wingdings" panose="05000000000000000000" pitchFamily="2" charset="2"/>
              <a:buChar char="v"/>
            </a:pPr>
            <a:r>
              <a:rPr lang="en-US" dirty="0"/>
              <a:t>Thus, it treated organizations as closed systems.</a:t>
            </a:r>
            <a:endParaRPr lang="en-IN" dirty="0"/>
          </a:p>
        </p:txBody>
      </p:sp>
    </p:spTree>
    <p:extLst>
      <p:ext uri="{BB962C8B-B14F-4D97-AF65-F5344CB8AC3E}">
        <p14:creationId xmlns:p14="http://schemas.microsoft.com/office/powerpoint/2010/main" val="2247541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7F11F-FE11-4E0B-B37B-48675F3380C5}"/>
              </a:ext>
            </a:extLst>
          </p:cNvPr>
          <p:cNvSpPr>
            <a:spLocks noGrp="1"/>
          </p:cNvSpPr>
          <p:nvPr>
            <p:ph type="title"/>
          </p:nvPr>
        </p:nvSpPr>
        <p:spPr/>
        <p:txBody>
          <a:bodyPr>
            <a:normAutofit/>
          </a:bodyPr>
          <a:lstStyle/>
          <a:p>
            <a:r>
              <a:rPr lang="en-US" dirty="0"/>
              <a:t>Classical Approach</a:t>
            </a:r>
            <a:br>
              <a:rPr lang="en-US" dirty="0"/>
            </a:br>
            <a:r>
              <a:rPr lang="en-US" sz="2200" dirty="0"/>
              <a:t>Administrative Functional or Process Approach (Henri Fayol)</a:t>
            </a:r>
            <a:endParaRPr lang="en-IN" sz="2200" dirty="0"/>
          </a:p>
        </p:txBody>
      </p:sp>
      <p:sp>
        <p:nvSpPr>
          <p:cNvPr id="3" name="Content Placeholder 2">
            <a:extLst>
              <a:ext uri="{FF2B5EF4-FFF2-40B4-BE49-F238E27FC236}">
                <a16:creationId xmlns:a16="http://schemas.microsoft.com/office/drawing/2014/main" id="{E5B60537-962D-4880-9242-C5409A18BFF6}"/>
              </a:ext>
            </a:extLst>
          </p:cNvPr>
          <p:cNvSpPr>
            <a:spLocks noGrp="1"/>
          </p:cNvSpPr>
          <p:nvPr>
            <p:ph idx="1"/>
          </p:nvPr>
        </p:nvSpPr>
        <p:spPr/>
        <p:txBody>
          <a:bodyPr/>
          <a:lstStyle/>
          <a:p>
            <a:pPr algn="just"/>
            <a:r>
              <a:rPr lang="en-US" dirty="0"/>
              <a:t>An organization grew and became more complex.</a:t>
            </a:r>
          </a:p>
          <a:p>
            <a:pPr algn="just"/>
            <a:r>
              <a:rPr lang="en-US" dirty="0"/>
              <a:t>Need to systematic understanding of overall management process. </a:t>
            </a:r>
          </a:p>
          <a:p>
            <a:pPr algn="just"/>
            <a:r>
              <a:rPr lang="en-US" dirty="0"/>
              <a:t>Managers are concerned about management of organization rather than increasing the efficiency of individual jobs. </a:t>
            </a:r>
          </a:p>
          <a:p>
            <a:pPr algn="just"/>
            <a:endParaRPr lang="en-US" dirty="0"/>
          </a:p>
          <a:p>
            <a:pPr algn="just">
              <a:buFont typeface="Wingdings" panose="05000000000000000000" pitchFamily="2" charset="2"/>
              <a:buChar char="v"/>
            </a:pPr>
            <a:r>
              <a:rPr lang="en-US" dirty="0"/>
              <a:t>Henry Fayol- </a:t>
            </a:r>
            <a:r>
              <a:rPr lang="en-US" b="1" dirty="0"/>
              <a:t>Father</a:t>
            </a:r>
            <a:r>
              <a:rPr lang="en-US" dirty="0"/>
              <a:t> of General Management</a:t>
            </a:r>
          </a:p>
          <a:p>
            <a:endParaRPr lang="en-IN" dirty="0"/>
          </a:p>
        </p:txBody>
      </p:sp>
    </p:spTree>
    <p:extLst>
      <p:ext uri="{BB962C8B-B14F-4D97-AF65-F5344CB8AC3E}">
        <p14:creationId xmlns:p14="http://schemas.microsoft.com/office/powerpoint/2010/main" val="431596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dirty="0"/>
              <a:t>Henri </a:t>
            </a:r>
            <a:r>
              <a:rPr lang="en-US" sz="3500" dirty="0" err="1"/>
              <a:t>Fayol’s</a:t>
            </a:r>
            <a:r>
              <a:rPr lang="en-US" sz="3500" dirty="0"/>
              <a:t> 14 Principles of Management</a:t>
            </a:r>
          </a:p>
        </p:txBody>
      </p:sp>
      <p:sp>
        <p:nvSpPr>
          <p:cNvPr id="3" name="Content Placeholder 2"/>
          <p:cNvSpPr>
            <a:spLocks noGrp="1"/>
          </p:cNvSpPr>
          <p:nvPr>
            <p:ph idx="1"/>
          </p:nvPr>
        </p:nvSpPr>
        <p:spPr/>
        <p:txBody>
          <a:bodyPr/>
          <a:lstStyle/>
          <a:p>
            <a:r>
              <a:rPr lang="en-US" b="1" dirty="0"/>
              <a:t>Division of Work:</a:t>
            </a:r>
            <a:r>
              <a:rPr lang="en-US" dirty="0"/>
              <a:t> Specialization increases output by making employees more efficient.</a:t>
            </a:r>
          </a:p>
          <a:p>
            <a:r>
              <a:rPr lang="en-US" b="1" dirty="0"/>
              <a:t>Authority and Responsibility:</a:t>
            </a:r>
            <a:r>
              <a:rPr lang="en-US" dirty="0"/>
              <a:t> Managers must have the authority to give orders, balanced with responsibility for results.</a:t>
            </a:r>
          </a:p>
          <a:p>
            <a:r>
              <a:rPr lang="en-US" b="1" dirty="0"/>
              <a:t>Discipline:</a:t>
            </a:r>
            <a:r>
              <a:rPr lang="en-US" dirty="0"/>
              <a:t> Employees must obey and respect rules, as guided by effective leadership.</a:t>
            </a:r>
          </a:p>
          <a:p>
            <a:r>
              <a:rPr lang="en-US" b="1" dirty="0"/>
              <a:t>Unity of Command:</a:t>
            </a:r>
            <a:r>
              <a:rPr lang="en-US" dirty="0"/>
              <a:t> Each employee should receive orders from only one superior to avoid conflict.</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dirty="0"/>
              <a:t>Henri </a:t>
            </a:r>
            <a:r>
              <a:rPr lang="en-US" sz="3500" dirty="0" err="1"/>
              <a:t>Fayol’s</a:t>
            </a:r>
            <a:r>
              <a:rPr lang="en-US" sz="3500" dirty="0"/>
              <a:t> 14 Principles of Management</a:t>
            </a:r>
          </a:p>
        </p:txBody>
      </p:sp>
      <p:sp>
        <p:nvSpPr>
          <p:cNvPr id="3" name="Content Placeholder 2"/>
          <p:cNvSpPr>
            <a:spLocks noGrp="1"/>
          </p:cNvSpPr>
          <p:nvPr>
            <p:ph idx="1"/>
          </p:nvPr>
        </p:nvSpPr>
        <p:spPr/>
        <p:txBody>
          <a:bodyPr>
            <a:normAutofit fontScale="92500"/>
          </a:bodyPr>
          <a:lstStyle/>
          <a:p>
            <a:r>
              <a:rPr lang="en-US" b="1" dirty="0"/>
              <a:t>Unity of Direction:</a:t>
            </a:r>
            <a:r>
              <a:rPr lang="en-US" dirty="0"/>
              <a:t> Activities with the same objective should be directed by one manager using one plan.</a:t>
            </a:r>
          </a:p>
          <a:p>
            <a:r>
              <a:rPr lang="en-US" b="1" dirty="0"/>
              <a:t>Subordination of Individual Interest:</a:t>
            </a:r>
            <a:r>
              <a:rPr lang="en-US" dirty="0"/>
              <a:t> The interests of the organization take precedence over personal interests.</a:t>
            </a:r>
          </a:p>
          <a:p>
            <a:r>
              <a:rPr lang="en-US" b="1" dirty="0"/>
              <a:t>Remuneration:</a:t>
            </a:r>
            <a:r>
              <a:rPr lang="en-US" dirty="0"/>
              <a:t> Fair pay is essential to motivate employees.</a:t>
            </a:r>
          </a:p>
          <a:p>
            <a:r>
              <a:rPr lang="en-US" b="1" dirty="0"/>
              <a:t>Centralization:</a:t>
            </a:r>
            <a:r>
              <a:rPr lang="en-US" dirty="0"/>
              <a:t> A proper balance between centralized authority and delegation (decentralization) is required.</a:t>
            </a:r>
          </a:p>
          <a:p>
            <a:r>
              <a:rPr lang="en-US" b="1" dirty="0"/>
              <a:t>Scalar Chain:</a:t>
            </a:r>
            <a:r>
              <a:rPr lang="en-US" dirty="0"/>
              <a:t> A clear, direct line of authority from top management to the lowest ranks.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dirty="0"/>
              <a:t>Henri </a:t>
            </a:r>
            <a:r>
              <a:rPr lang="en-US" sz="3500" dirty="0" err="1"/>
              <a:t>Fayol’s</a:t>
            </a:r>
            <a:r>
              <a:rPr lang="en-US" sz="3500" dirty="0"/>
              <a:t> 14 Principles of Management</a:t>
            </a:r>
          </a:p>
        </p:txBody>
      </p:sp>
      <p:sp>
        <p:nvSpPr>
          <p:cNvPr id="3" name="Content Placeholder 2"/>
          <p:cNvSpPr>
            <a:spLocks noGrp="1"/>
          </p:cNvSpPr>
          <p:nvPr>
            <p:ph idx="1"/>
          </p:nvPr>
        </p:nvSpPr>
        <p:spPr/>
        <p:txBody>
          <a:bodyPr/>
          <a:lstStyle/>
          <a:p>
            <a:r>
              <a:rPr lang="en-US" b="1" dirty="0"/>
              <a:t>Order:</a:t>
            </a:r>
            <a:r>
              <a:rPr lang="en-US" dirty="0"/>
              <a:t> Both material and social resources should be in the right place at the right time.</a:t>
            </a:r>
          </a:p>
          <a:p>
            <a:r>
              <a:rPr lang="en-US" b="1" dirty="0"/>
              <a:t>Equity:</a:t>
            </a:r>
            <a:r>
              <a:rPr lang="en-US" dirty="0"/>
              <a:t> Managers should treat employees with kindness and fairness.</a:t>
            </a:r>
          </a:p>
          <a:p>
            <a:r>
              <a:rPr lang="en-US" b="1" dirty="0"/>
              <a:t>Stability of Tenure:</a:t>
            </a:r>
            <a:r>
              <a:rPr lang="en-US" dirty="0"/>
              <a:t> High employee turnover should be avoided to ensure efficiency and stability.</a:t>
            </a:r>
          </a:p>
          <a:p>
            <a:r>
              <a:rPr lang="en-US" b="1" dirty="0"/>
              <a:t>Initiative:</a:t>
            </a:r>
            <a:r>
              <a:rPr lang="en-US" dirty="0"/>
              <a:t> Employees should be encouraged to create and carry out plans.</a:t>
            </a:r>
          </a:p>
          <a:p>
            <a:r>
              <a:rPr lang="en-US" b="1" dirty="0"/>
              <a:t>Esprit de Corps:</a:t>
            </a:r>
            <a:r>
              <a:rPr lang="en-US" dirty="0"/>
              <a:t> Promoting team spirit and harmony to build unity within the organization. </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55DF-79D7-4C86-AA07-CC4FCBA466AC}"/>
              </a:ext>
            </a:extLst>
          </p:cNvPr>
          <p:cNvSpPr>
            <a:spLocks noGrp="1"/>
          </p:cNvSpPr>
          <p:nvPr>
            <p:ph type="title"/>
          </p:nvPr>
        </p:nvSpPr>
        <p:spPr/>
        <p:txBody>
          <a:bodyPr>
            <a:normAutofit/>
          </a:bodyPr>
          <a:lstStyle/>
          <a:p>
            <a:r>
              <a:rPr lang="en-US" dirty="0"/>
              <a:t>Classical Approach</a:t>
            </a:r>
            <a:br>
              <a:rPr lang="en-US" dirty="0"/>
            </a:br>
            <a:r>
              <a:rPr lang="en-US" sz="2200" dirty="0"/>
              <a:t>Scientific Management (F. W. Taylor)</a:t>
            </a:r>
            <a:endParaRPr lang="en-IN" sz="2200" dirty="0"/>
          </a:p>
        </p:txBody>
      </p:sp>
      <p:sp>
        <p:nvSpPr>
          <p:cNvPr id="3" name="Content Placeholder 2">
            <a:extLst>
              <a:ext uri="{FF2B5EF4-FFF2-40B4-BE49-F238E27FC236}">
                <a16:creationId xmlns:a16="http://schemas.microsoft.com/office/drawing/2014/main" id="{81F17892-2D31-4C6D-AEE8-0A391843D726}"/>
              </a:ext>
            </a:extLst>
          </p:cNvPr>
          <p:cNvSpPr>
            <a:spLocks noGrp="1"/>
          </p:cNvSpPr>
          <p:nvPr>
            <p:ph idx="1"/>
          </p:nvPr>
        </p:nvSpPr>
        <p:spPr/>
        <p:txBody>
          <a:bodyPr>
            <a:normAutofit lnSpcReduction="10000"/>
          </a:bodyPr>
          <a:lstStyle/>
          <a:p>
            <a:r>
              <a:rPr lang="en-US" dirty="0"/>
              <a:t>Scientific management means knowing exactly what you want men to do and seeing that they do it in best and cheapest way.</a:t>
            </a:r>
          </a:p>
          <a:p>
            <a:pPr marL="0" indent="0">
              <a:buNone/>
            </a:pPr>
            <a:endParaRPr lang="en-US" dirty="0"/>
          </a:p>
          <a:p>
            <a:r>
              <a:rPr lang="en-US" dirty="0"/>
              <a:t>It means conducting business activities according to standardized tools, methods and trained personnel in order to increase the output, improve its quality and reduce costs and waste.</a:t>
            </a:r>
          </a:p>
          <a:p>
            <a:pPr marL="0" indent="0">
              <a:buNone/>
            </a:pPr>
            <a:endParaRPr lang="en-US" dirty="0"/>
          </a:p>
          <a:p>
            <a:pPr algn="just">
              <a:buFont typeface="Wingdings" panose="05000000000000000000" pitchFamily="2" charset="2"/>
              <a:buChar char="v"/>
            </a:pPr>
            <a:r>
              <a:rPr lang="en-IN" dirty="0"/>
              <a:t>Frederick Winslow Taylor– </a:t>
            </a:r>
            <a:r>
              <a:rPr lang="en-IN" b="1" dirty="0"/>
              <a:t>Father</a:t>
            </a:r>
            <a:r>
              <a:rPr lang="en-IN" dirty="0"/>
              <a:t> of Scientific Management</a:t>
            </a:r>
          </a:p>
        </p:txBody>
      </p:sp>
    </p:spTree>
    <p:extLst>
      <p:ext uri="{BB962C8B-B14F-4D97-AF65-F5344CB8AC3E}">
        <p14:creationId xmlns:p14="http://schemas.microsoft.com/office/powerpoint/2010/main" val="4047826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02C6-763F-4CBD-8EEC-D681B6631BB7}"/>
              </a:ext>
            </a:extLst>
          </p:cNvPr>
          <p:cNvSpPr>
            <a:spLocks noGrp="1"/>
          </p:cNvSpPr>
          <p:nvPr>
            <p:ph type="title"/>
          </p:nvPr>
        </p:nvSpPr>
        <p:spPr/>
        <p:txBody>
          <a:bodyPr>
            <a:normAutofit/>
          </a:bodyPr>
          <a:lstStyle/>
          <a:p>
            <a:r>
              <a:rPr lang="en-US" sz="4400" dirty="0"/>
              <a:t>Principles of Scientific Management</a:t>
            </a:r>
            <a:endParaRPr lang="en-IN" sz="4400" dirty="0"/>
          </a:p>
        </p:txBody>
      </p:sp>
      <p:sp>
        <p:nvSpPr>
          <p:cNvPr id="3" name="Content Placeholder 2">
            <a:extLst>
              <a:ext uri="{FF2B5EF4-FFF2-40B4-BE49-F238E27FC236}">
                <a16:creationId xmlns:a16="http://schemas.microsoft.com/office/drawing/2014/main" id="{134ECFA9-1F68-43D5-A83B-4E037CF20262}"/>
              </a:ext>
            </a:extLst>
          </p:cNvPr>
          <p:cNvSpPr>
            <a:spLocks noGrp="1"/>
          </p:cNvSpPr>
          <p:nvPr>
            <p:ph idx="1"/>
          </p:nvPr>
        </p:nvSpPr>
        <p:spPr/>
        <p:txBody>
          <a:bodyPr/>
          <a:lstStyle/>
          <a:p>
            <a:r>
              <a:rPr lang="en-US" dirty="0"/>
              <a:t>1) Science, not rule of thumb</a:t>
            </a:r>
          </a:p>
          <a:p>
            <a:r>
              <a:rPr lang="en-US" dirty="0"/>
              <a:t>2) Harmony, not discord</a:t>
            </a:r>
          </a:p>
          <a:p>
            <a:r>
              <a:rPr lang="en-US" dirty="0"/>
              <a:t>3) Cooperation, not individualism</a:t>
            </a:r>
          </a:p>
          <a:p>
            <a:r>
              <a:rPr lang="en-US" dirty="0"/>
              <a:t>4) Development of workers to their greatest efficiency and Prosperity</a:t>
            </a:r>
            <a:endParaRPr lang="en-IN" dirty="0"/>
          </a:p>
        </p:txBody>
      </p:sp>
    </p:spTree>
    <p:extLst>
      <p:ext uri="{BB962C8B-B14F-4D97-AF65-F5344CB8AC3E}">
        <p14:creationId xmlns:p14="http://schemas.microsoft.com/office/powerpoint/2010/main" val="1172407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89EB-6247-4D44-8312-2BA14BEC6DDA}"/>
              </a:ext>
            </a:extLst>
          </p:cNvPr>
          <p:cNvSpPr>
            <a:spLocks noGrp="1"/>
          </p:cNvSpPr>
          <p:nvPr>
            <p:ph type="title"/>
          </p:nvPr>
        </p:nvSpPr>
        <p:spPr/>
        <p:txBody>
          <a:bodyPr>
            <a:normAutofit/>
          </a:bodyPr>
          <a:lstStyle/>
          <a:p>
            <a:r>
              <a:rPr lang="en-US" dirty="0"/>
              <a:t>Classical Approach</a:t>
            </a:r>
            <a:br>
              <a:rPr lang="en-US" dirty="0"/>
            </a:br>
            <a:r>
              <a:rPr lang="en-US" sz="2200" dirty="0"/>
              <a:t>Bureaucratic Approach (Max Weber)</a:t>
            </a:r>
            <a:endParaRPr lang="en-IN" sz="2200" dirty="0"/>
          </a:p>
        </p:txBody>
      </p:sp>
      <p:sp>
        <p:nvSpPr>
          <p:cNvPr id="3" name="Content Placeholder 2">
            <a:extLst>
              <a:ext uri="{FF2B5EF4-FFF2-40B4-BE49-F238E27FC236}">
                <a16:creationId xmlns:a16="http://schemas.microsoft.com/office/drawing/2014/main" id="{0342A16F-75CA-446E-A206-741F9C910D13}"/>
              </a:ext>
            </a:extLst>
          </p:cNvPr>
          <p:cNvSpPr>
            <a:spLocks noGrp="1"/>
          </p:cNvSpPr>
          <p:nvPr>
            <p:ph idx="1"/>
          </p:nvPr>
        </p:nvSpPr>
        <p:spPr/>
        <p:txBody>
          <a:bodyPr>
            <a:normAutofit lnSpcReduction="10000"/>
          </a:bodyPr>
          <a:lstStyle/>
          <a:p>
            <a:r>
              <a:rPr lang="en-US" dirty="0"/>
              <a:t>It is a theory of organization emphasizing a strict, rational hierarchy, specialized roles, and impersonal, rule-based management to achieve maximum efficiency and predictability.</a:t>
            </a:r>
          </a:p>
          <a:p>
            <a:r>
              <a:rPr lang="en-US" dirty="0"/>
              <a:t>Principles:</a:t>
            </a:r>
          </a:p>
          <a:p>
            <a:pPr lvl="1"/>
            <a:r>
              <a:rPr lang="en-US" dirty="0"/>
              <a:t>Division of work</a:t>
            </a:r>
          </a:p>
          <a:p>
            <a:pPr lvl="1"/>
            <a:r>
              <a:rPr lang="en-US" dirty="0"/>
              <a:t>Rules and Regulations</a:t>
            </a:r>
          </a:p>
          <a:p>
            <a:pPr lvl="1"/>
            <a:r>
              <a:rPr lang="en-US" dirty="0"/>
              <a:t>Hierarchy of authority</a:t>
            </a:r>
          </a:p>
          <a:p>
            <a:pPr lvl="1"/>
            <a:r>
              <a:rPr lang="en-US" dirty="0"/>
              <a:t>Technical competence</a:t>
            </a:r>
          </a:p>
          <a:p>
            <a:pPr lvl="1"/>
            <a:r>
              <a:rPr lang="en-US" dirty="0"/>
              <a:t>Record keeping</a:t>
            </a:r>
          </a:p>
          <a:p>
            <a:pPr lvl="1"/>
            <a:r>
              <a:rPr lang="en-US" dirty="0"/>
              <a:t>Impersonal relations</a:t>
            </a:r>
            <a:endParaRPr lang="en-IN" dirty="0"/>
          </a:p>
        </p:txBody>
      </p:sp>
    </p:spTree>
    <p:extLst>
      <p:ext uri="{BB962C8B-B14F-4D97-AF65-F5344CB8AC3E}">
        <p14:creationId xmlns:p14="http://schemas.microsoft.com/office/powerpoint/2010/main" val="2296023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26E42-75DF-4B8D-92A2-28CFABBEA5FD}"/>
              </a:ext>
            </a:extLst>
          </p:cNvPr>
          <p:cNvSpPr>
            <a:spLocks noGrp="1"/>
          </p:cNvSpPr>
          <p:nvPr>
            <p:ph type="title"/>
          </p:nvPr>
        </p:nvSpPr>
        <p:spPr/>
        <p:txBody>
          <a:bodyPr>
            <a:normAutofit/>
          </a:bodyPr>
          <a:lstStyle/>
          <a:p>
            <a:r>
              <a:rPr lang="en-US" dirty="0"/>
              <a:t>Neo-Classical approach</a:t>
            </a:r>
            <a:br>
              <a:rPr lang="en-US" dirty="0"/>
            </a:br>
            <a:r>
              <a:rPr lang="en-US" sz="2200" dirty="0"/>
              <a:t>(Hawthorne Experiments-Elton Mayo)</a:t>
            </a:r>
            <a:endParaRPr lang="en-IN" sz="2200" dirty="0"/>
          </a:p>
        </p:txBody>
      </p:sp>
      <p:sp>
        <p:nvSpPr>
          <p:cNvPr id="3" name="Content Placeholder 2">
            <a:extLst>
              <a:ext uri="{FF2B5EF4-FFF2-40B4-BE49-F238E27FC236}">
                <a16:creationId xmlns:a16="http://schemas.microsoft.com/office/drawing/2014/main" id="{8DA6E4D7-4195-400D-A60A-D8DD6EE546F4}"/>
              </a:ext>
            </a:extLst>
          </p:cNvPr>
          <p:cNvSpPr>
            <a:spLocks noGrp="1"/>
          </p:cNvSpPr>
          <p:nvPr>
            <p:ph idx="1"/>
          </p:nvPr>
        </p:nvSpPr>
        <p:spPr/>
        <p:txBody>
          <a:bodyPr>
            <a:normAutofit lnSpcReduction="10000"/>
          </a:bodyPr>
          <a:lstStyle/>
          <a:p>
            <a:r>
              <a:rPr lang="en-US" dirty="0"/>
              <a:t>The classical writers neglected the human relations aspect.</a:t>
            </a:r>
          </a:p>
          <a:p>
            <a:endParaRPr lang="en-US" dirty="0"/>
          </a:p>
          <a:p>
            <a:r>
              <a:rPr lang="en-US" dirty="0"/>
              <a:t>It focused on human aspect of the industry.</a:t>
            </a:r>
          </a:p>
          <a:p>
            <a:endParaRPr lang="en-US" dirty="0"/>
          </a:p>
          <a:p>
            <a:r>
              <a:rPr lang="en-US" dirty="0"/>
              <a:t>Inter-personal relations and informal groups at the workplace.</a:t>
            </a:r>
          </a:p>
          <a:p>
            <a:endParaRPr lang="en-US" dirty="0"/>
          </a:p>
          <a:p>
            <a:pPr>
              <a:buFont typeface="Wingdings" panose="05000000000000000000" pitchFamily="2" charset="2"/>
              <a:buChar char="v"/>
            </a:pPr>
            <a:r>
              <a:rPr lang="en-US" dirty="0"/>
              <a:t> </a:t>
            </a:r>
            <a:r>
              <a:rPr lang="en-IN" dirty="0"/>
              <a:t>George Elton Mayo – </a:t>
            </a:r>
            <a:r>
              <a:rPr lang="en-IN" b="1" dirty="0"/>
              <a:t>Father</a:t>
            </a:r>
            <a:r>
              <a:rPr lang="en-IN" dirty="0"/>
              <a:t> of Human relations approach</a:t>
            </a:r>
          </a:p>
        </p:txBody>
      </p:sp>
    </p:spTree>
    <p:extLst>
      <p:ext uri="{BB962C8B-B14F-4D97-AF65-F5344CB8AC3E}">
        <p14:creationId xmlns:p14="http://schemas.microsoft.com/office/powerpoint/2010/main" val="2288509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7C7F-C28B-4945-99BC-DAE409F375C7}"/>
              </a:ext>
            </a:extLst>
          </p:cNvPr>
          <p:cNvSpPr>
            <a:spLocks noGrp="1"/>
          </p:cNvSpPr>
          <p:nvPr>
            <p:ph type="title"/>
          </p:nvPr>
        </p:nvSpPr>
        <p:spPr/>
        <p:txBody>
          <a:bodyPr>
            <a:normAutofit/>
          </a:bodyPr>
          <a:lstStyle/>
          <a:p>
            <a:r>
              <a:rPr lang="en-US" sz="5400" dirty="0"/>
              <a:t>Hawthorne Experiments</a:t>
            </a:r>
            <a:endParaRPr lang="en-IN" dirty="0"/>
          </a:p>
        </p:txBody>
      </p:sp>
      <p:sp>
        <p:nvSpPr>
          <p:cNvPr id="3" name="Content Placeholder 2">
            <a:extLst>
              <a:ext uri="{FF2B5EF4-FFF2-40B4-BE49-F238E27FC236}">
                <a16:creationId xmlns:a16="http://schemas.microsoft.com/office/drawing/2014/main" id="{955678E3-8A7F-468D-ADDA-EDAAAA205A2D}"/>
              </a:ext>
            </a:extLst>
          </p:cNvPr>
          <p:cNvSpPr>
            <a:spLocks noGrp="1"/>
          </p:cNvSpPr>
          <p:nvPr>
            <p:ph idx="1"/>
          </p:nvPr>
        </p:nvSpPr>
        <p:spPr/>
        <p:txBody>
          <a:bodyPr/>
          <a:lstStyle/>
          <a:p>
            <a:r>
              <a:rPr lang="en-US" dirty="0"/>
              <a:t>These experiments were conducted during 1920’s at a plant of the Western Electric Company. </a:t>
            </a:r>
          </a:p>
          <a:p>
            <a:r>
              <a:rPr lang="en-US" dirty="0"/>
              <a:t>The plant was located at Hawthorne near Chicago in the USA. </a:t>
            </a:r>
          </a:p>
          <a:p>
            <a:r>
              <a:rPr lang="en-US" dirty="0"/>
              <a:t>The experiments were conducted in 4 phases. </a:t>
            </a:r>
          </a:p>
          <a:p>
            <a:endParaRPr lang="en-IN" dirty="0"/>
          </a:p>
        </p:txBody>
      </p:sp>
    </p:spTree>
    <p:extLst>
      <p:ext uri="{BB962C8B-B14F-4D97-AF65-F5344CB8AC3E}">
        <p14:creationId xmlns:p14="http://schemas.microsoft.com/office/powerpoint/2010/main" val="3219380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BDDD-09A8-4B8C-8498-3636E88C209D}"/>
              </a:ext>
            </a:extLst>
          </p:cNvPr>
          <p:cNvSpPr>
            <a:spLocks noGrp="1"/>
          </p:cNvSpPr>
          <p:nvPr>
            <p:ph type="title"/>
          </p:nvPr>
        </p:nvSpPr>
        <p:spPr/>
        <p:txBody>
          <a:bodyPr/>
          <a:lstStyle/>
          <a:p>
            <a:r>
              <a:rPr lang="en-US" sz="4800" dirty="0"/>
              <a:t>Hawthorne Experiments-Phase 1</a:t>
            </a:r>
            <a:endParaRPr lang="en-IN" dirty="0"/>
          </a:p>
        </p:txBody>
      </p:sp>
      <p:sp>
        <p:nvSpPr>
          <p:cNvPr id="3" name="Content Placeholder 2">
            <a:extLst>
              <a:ext uri="{FF2B5EF4-FFF2-40B4-BE49-F238E27FC236}">
                <a16:creationId xmlns:a16="http://schemas.microsoft.com/office/drawing/2014/main" id="{5B909DBD-C5B3-4344-AAB5-6ACF4E0E0AD2}"/>
              </a:ext>
            </a:extLst>
          </p:cNvPr>
          <p:cNvSpPr>
            <a:spLocks noGrp="1"/>
          </p:cNvSpPr>
          <p:nvPr>
            <p:ph idx="1"/>
          </p:nvPr>
        </p:nvSpPr>
        <p:spPr/>
        <p:txBody>
          <a:bodyPr>
            <a:normAutofit fontScale="92500" lnSpcReduction="10000"/>
          </a:bodyPr>
          <a:lstStyle/>
          <a:p>
            <a:r>
              <a:rPr lang="en-US" b="1" dirty="0"/>
              <a:t>Phase 1 – Illumination Experiment (1924-1927)</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r>
              <a:rPr lang="en-US" dirty="0"/>
              <a:t>Tested lighting levels; productivity rose regardless of lighting changes.</a:t>
            </a:r>
          </a:p>
          <a:p>
            <a:pPr marL="0" indent="0">
              <a:buNone/>
            </a:pPr>
            <a:endParaRPr lang="en-IN" b="1" dirty="0"/>
          </a:p>
        </p:txBody>
      </p:sp>
      <p:pic>
        <p:nvPicPr>
          <p:cNvPr id="4" name="Picture 3">
            <a:extLst>
              <a:ext uri="{FF2B5EF4-FFF2-40B4-BE49-F238E27FC236}">
                <a16:creationId xmlns:a16="http://schemas.microsoft.com/office/drawing/2014/main" id="{81E55887-713D-4E0B-AD9B-F7114E834CCA}"/>
              </a:ext>
            </a:extLst>
          </p:cNvPr>
          <p:cNvPicPr>
            <a:picLocks noChangeAspect="1"/>
          </p:cNvPicPr>
          <p:nvPr/>
        </p:nvPicPr>
        <p:blipFill>
          <a:blip r:embed="rId2"/>
          <a:stretch>
            <a:fillRect/>
          </a:stretch>
        </p:blipFill>
        <p:spPr>
          <a:xfrm>
            <a:off x="1331640" y="2348880"/>
            <a:ext cx="4464496" cy="3192060"/>
          </a:xfrm>
          <a:prstGeom prst="rect">
            <a:avLst/>
          </a:prstGeom>
        </p:spPr>
      </p:pic>
    </p:spTree>
    <p:extLst>
      <p:ext uri="{BB962C8B-B14F-4D97-AF65-F5344CB8AC3E}">
        <p14:creationId xmlns:p14="http://schemas.microsoft.com/office/powerpoint/2010/main" val="3594895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81447-8EF5-407B-932C-2607842B6799}"/>
              </a:ext>
            </a:extLst>
          </p:cNvPr>
          <p:cNvSpPr>
            <a:spLocks noGrp="1"/>
          </p:cNvSpPr>
          <p:nvPr>
            <p:ph type="title"/>
          </p:nvPr>
        </p:nvSpPr>
        <p:spPr/>
        <p:txBody>
          <a:bodyPr>
            <a:normAutofit/>
          </a:bodyPr>
          <a:lstStyle/>
          <a:p>
            <a:r>
              <a:rPr lang="en-US" sz="4500" dirty="0"/>
              <a:t>Hawthorne Experiments-Phase 2</a:t>
            </a:r>
            <a:endParaRPr lang="en-IN" sz="4500" dirty="0"/>
          </a:p>
        </p:txBody>
      </p:sp>
      <p:sp>
        <p:nvSpPr>
          <p:cNvPr id="3" name="Content Placeholder 2">
            <a:extLst>
              <a:ext uri="{FF2B5EF4-FFF2-40B4-BE49-F238E27FC236}">
                <a16:creationId xmlns:a16="http://schemas.microsoft.com/office/drawing/2014/main" id="{E8D665D8-8411-46CB-897D-FECC28969CAB}"/>
              </a:ext>
            </a:extLst>
          </p:cNvPr>
          <p:cNvSpPr>
            <a:spLocks noGrp="1"/>
          </p:cNvSpPr>
          <p:nvPr>
            <p:ph idx="1"/>
          </p:nvPr>
        </p:nvSpPr>
        <p:spPr/>
        <p:txBody>
          <a:bodyPr/>
          <a:lstStyle/>
          <a:p>
            <a:r>
              <a:rPr lang="en-US" b="1" dirty="0"/>
              <a:t>Phase 2 – Relay Assembly Test Room (1927-1929)</a:t>
            </a:r>
          </a:p>
          <a:p>
            <a:endParaRPr lang="en-IN" b="1" dirty="0"/>
          </a:p>
        </p:txBody>
      </p:sp>
      <p:pic>
        <p:nvPicPr>
          <p:cNvPr id="4" name="Picture 3">
            <a:extLst>
              <a:ext uri="{FF2B5EF4-FFF2-40B4-BE49-F238E27FC236}">
                <a16:creationId xmlns:a16="http://schemas.microsoft.com/office/drawing/2014/main" id="{85A2139C-6631-46C5-9520-657E5D148FA0}"/>
              </a:ext>
            </a:extLst>
          </p:cNvPr>
          <p:cNvPicPr>
            <a:picLocks noChangeAspect="1"/>
          </p:cNvPicPr>
          <p:nvPr/>
        </p:nvPicPr>
        <p:blipFill>
          <a:blip r:embed="rId2"/>
          <a:stretch>
            <a:fillRect/>
          </a:stretch>
        </p:blipFill>
        <p:spPr>
          <a:xfrm>
            <a:off x="457849" y="2687549"/>
            <a:ext cx="4276019" cy="3456384"/>
          </a:xfrm>
          <a:prstGeom prst="rect">
            <a:avLst/>
          </a:prstGeom>
        </p:spPr>
      </p:pic>
      <p:sp>
        <p:nvSpPr>
          <p:cNvPr id="5" name="Rectangle 4">
            <a:extLst>
              <a:ext uri="{FF2B5EF4-FFF2-40B4-BE49-F238E27FC236}">
                <a16:creationId xmlns:a16="http://schemas.microsoft.com/office/drawing/2014/main" id="{1001D8B6-7395-4B4C-B8C7-6BFB6414941A}"/>
              </a:ext>
            </a:extLst>
          </p:cNvPr>
          <p:cNvSpPr/>
          <p:nvPr/>
        </p:nvSpPr>
        <p:spPr>
          <a:xfrm>
            <a:off x="3347864" y="3140968"/>
            <a:ext cx="5544616" cy="2031325"/>
          </a:xfrm>
          <a:prstGeom prst="rect">
            <a:avLst/>
          </a:prstGeom>
        </p:spPr>
        <p:txBody>
          <a:bodyPr wrap="square">
            <a:spAutoFit/>
          </a:bodyPr>
          <a:lstStyle/>
          <a:p>
            <a:pPr marL="2114550" lvl="4" indent="-285750">
              <a:buFont typeface="Arial" panose="020B0604020202020204" pitchFamily="34" charset="0"/>
              <a:buChar char="•"/>
            </a:pPr>
            <a:r>
              <a:rPr lang="en-US" b="1" dirty="0"/>
              <a:t>Shorter working hours</a:t>
            </a:r>
          </a:p>
          <a:p>
            <a:pPr marL="2114550" lvl="4" indent="-285750">
              <a:buFont typeface="Arial" panose="020B0604020202020204" pitchFamily="34" charset="0"/>
              <a:buChar char="•"/>
            </a:pPr>
            <a:r>
              <a:rPr lang="en-US" b="1" dirty="0"/>
              <a:t>Rest pauses</a:t>
            </a:r>
          </a:p>
          <a:p>
            <a:pPr marL="2114550" lvl="4" indent="-285750">
              <a:buFont typeface="Arial" panose="020B0604020202020204" pitchFamily="34" charset="0"/>
              <a:buChar char="•"/>
            </a:pPr>
            <a:r>
              <a:rPr lang="en-US" b="1" dirty="0"/>
              <a:t>Improved physical conditions</a:t>
            </a:r>
          </a:p>
          <a:p>
            <a:pPr marL="2114550" lvl="4" indent="-285750">
              <a:buFont typeface="Arial" panose="020B0604020202020204" pitchFamily="34" charset="0"/>
              <a:buChar char="•"/>
            </a:pPr>
            <a:r>
              <a:rPr lang="en-US" b="1" dirty="0"/>
              <a:t>Friendly and informal supervision</a:t>
            </a:r>
          </a:p>
          <a:p>
            <a:pPr marL="2114550" lvl="4" indent="-285750">
              <a:buFont typeface="Arial" panose="020B0604020202020204" pitchFamily="34" charset="0"/>
              <a:buChar char="•"/>
            </a:pPr>
            <a:r>
              <a:rPr lang="en-US" b="1" dirty="0"/>
              <a:t>Free social interaction among group members</a:t>
            </a:r>
          </a:p>
        </p:txBody>
      </p:sp>
      <p:sp>
        <p:nvSpPr>
          <p:cNvPr id="6" name="Rectangle 5">
            <a:extLst>
              <a:ext uri="{FF2B5EF4-FFF2-40B4-BE49-F238E27FC236}">
                <a16:creationId xmlns:a16="http://schemas.microsoft.com/office/drawing/2014/main" id="{98D1DE3A-32EA-4B00-90C6-9DA3BE630DD2}"/>
              </a:ext>
            </a:extLst>
          </p:cNvPr>
          <p:cNvSpPr/>
          <p:nvPr/>
        </p:nvSpPr>
        <p:spPr>
          <a:xfrm>
            <a:off x="-1116632" y="6228020"/>
            <a:ext cx="6228184" cy="369332"/>
          </a:xfrm>
          <a:prstGeom prst="rect">
            <a:avLst/>
          </a:prstGeom>
        </p:spPr>
        <p:txBody>
          <a:bodyPr wrap="square">
            <a:spAutoFit/>
          </a:bodyPr>
          <a:lstStyle/>
          <a:p>
            <a:pPr marL="2114550" lvl="4" indent="-285750">
              <a:buFont typeface="Arial" panose="020B0604020202020204" pitchFamily="34" charset="0"/>
              <a:buChar char="•"/>
            </a:pPr>
            <a:r>
              <a:rPr lang="en-US" b="1" dirty="0"/>
              <a:t>Morale and productivity increased</a:t>
            </a:r>
          </a:p>
        </p:txBody>
      </p:sp>
    </p:spTree>
    <p:extLst>
      <p:ext uri="{BB962C8B-B14F-4D97-AF65-F5344CB8AC3E}">
        <p14:creationId xmlns:p14="http://schemas.microsoft.com/office/powerpoint/2010/main" val="29066136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C246-811F-47B1-AD72-186CEBF1B384}"/>
              </a:ext>
            </a:extLst>
          </p:cNvPr>
          <p:cNvSpPr>
            <a:spLocks noGrp="1"/>
          </p:cNvSpPr>
          <p:nvPr>
            <p:ph type="title"/>
          </p:nvPr>
        </p:nvSpPr>
        <p:spPr/>
        <p:txBody>
          <a:bodyPr>
            <a:normAutofit/>
          </a:bodyPr>
          <a:lstStyle/>
          <a:p>
            <a:r>
              <a:rPr lang="en-US" sz="4500" dirty="0"/>
              <a:t>Hawthorne Experiments-Phase 3</a:t>
            </a:r>
            <a:endParaRPr lang="en-IN" sz="4500" dirty="0"/>
          </a:p>
        </p:txBody>
      </p:sp>
      <p:sp>
        <p:nvSpPr>
          <p:cNvPr id="3" name="Content Placeholder 2">
            <a:extLst>
              <a:ext uri="{FF2B5EF4-FFF2-40B4-BE49-F238E27FC236}">
                <a16:creationId xmlns:a16="http://schemas.microsoft.com/office/drawing/2014/main" id="{42F386EF-802A-47E1-9E5E-E391DE55687C}"/>
              </a:ext>
            </a:extLst>
          </p:cNvPr>
          <p:cNvSpPr>
            <a:spLocks noGrp="1"/>
          </p:cNvSpPr>
          <p:nvPr>
            <p:ph idx="1"/>
          </p:nvPr>
        </p:nvSpPr>
        <p:spPr/>
        <p:txBody>
          <a:bodyPr/>
          <a:lstStyle/>
          <a:p>
            <a:r>
              <a:rPr lang="en-US" b="1" dirty="0"/>
              <a:t>Phase 3 – Mass Interview Program</a:t>
            </a:r>
          </a:p>
          <a:p>
            <a:pPr marL="0" indent="0">
              <a:buNone/>
            </a:pPr>
            <a:r>
              <a:rPr lang="en-US" sz="2300" dirty="0"/>
              <a:t>Approximately 20,000 to 21,000 employees were interviewed between 1928 and 1930.</a:t>
            </a:r>
          </a:p>
          <a:p>
            <a:pPr marL="0" indent="0">
              <a:buNone/>
            </a:pPr>
            <a:endParaRPr lang="en-IN" dirty="0"/>
          </a:p>
        </p:txBody>
      </p:sp>
      <p:pic>
        <p:nvPicPr>
          <p:cNvPr id="4" name="Picture 3">
            <a:extLst>
              <a:ext uri="{FF2B5EF4-FFF2-40B4-BE49-F238E27FC236}">
                <a16:creationId xmlns:a16="http://schemas.microsoft.com/office/drawing/2014/main" id="{2A0A4120-28C6-4746-8465-1546CE4ED0A2}"/>
              </a:ext>
            </a:extLst>
          </p:cNvPr>
          <p:cNvPicPr>
            <a:picLocks noChangeAspect="1"/>
          </p:cNvPicPr>
          <p:nvPr/>
        </p:nvPicPr>
        <p:blipFill>
          <a:blip r:embed="rId2"/>
          <a:stretch>
            <a:fillRect/>
          </a:stretch>
        </p:blipFill>
        <p:spPr>
          <a:xfrm>
            <a:off x="683568" y="3284984"/>
            <a:ext cx="4391531" cy="3318244"/>
          </a:xfrm>
          <a:prstGeom prst="rect">
            <a:avLst/>
          </a:prstGeom>
        </p:spPr>
      </p:pic>
      <p:sp>
        <p:nvSpPr>
          <p:cNvPr id="5" name="Rectangle 4">
            <a:extLst>
              <a:ext uri="{FF2B5EF4-FFF2-40B4-BE49-F238E27FC236}">
                <a16:creationId xmlns:a16="http://schemas.microsoft.com/office/drawing/2014/main" id="{D1381898-044B-4266-A8B1-5FE9C20D9FBF}"/>
              </a:ext>
            </a:extLst>
          </p:cNvPr>
          <p:cNvSpPr/>
          <p:nvPr/>
        </p:nvSpPr>
        <p:spPr>
          <a:xfrm>
            <a:off x="5508104" y="3573016"/>
            <a:ext cx="3096344" cy="1754326"/>
          </a:xfrm>
          <a:prstGeom prst="rect">
            <a:avLst/>
          </a:prstGeom>
        </p:spPr>
        <p:txBody>
          <a:bodyPr wrap="square">
            <a:spAutoFit/>
          </a:bodyPr>
          <a:lstStyle/>
          <a:p>
            <a:pPr marL="285750" indent="-285750" algn="just">
              <a:buFont typeface="Arial" panose="020B0604020202020204" pitchFamily="34" charset="0"/>
              <a:buChar char="•"/>
            </a:pPr>
            <a:r>
              <a:rPr lang="en-US" dirty="0"/>
              <a:t>It was found that the opportunity to talk freely about things that are important to workers has a positive effect on their morale and productivity.</a:t>
            </a:r>
            <a:endParaRPr lang="en-IN" dirty="0"/>
          </a:p>
        </p:txBody>
      </p:sp>
    </p:spTree>
    <p:extLst>
      <p:ext uri="{BB962C8B-B14F-4D97-AF65-F5344CB8AC3E}">
        <p14:creationId xmlns:p14="http://schemas.microsoft.com/office/powerpoint/2010/main" val="24684041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5AE40-9F5E-4CE3-87D9-CC573BE97680}"/>
              </a:ext>
            </a:extLst>
          </p:cNvPr>
          <p:cNvSpPr>
            <a:spLocks noGrp="1"/>
          </p:cNvSpPr>
          <p:nvPr>
            <p:ph type="title"/>
          </p:nvPr>
        </p:nvSpPr>
        <p:spPr/>
        <p:txBody>
          <a:bodyPr>
            <a:normAutofit/>
          </a:bodyPr>
          <a:lstStyle/>
          <a:p>
            <a:r>
              <a:rPr lang="en-US" sz="4500" dirty="0"/>
              <a:t>Hawthorne Experiments-Phase 4</a:t>
            </a:r>
            <a:endParaRPr lang="en-IN" sz="4500" dirty="0"/>
          </a:p>
        </p:txBody>
      </p:sp>
      <p:sp>
        <p:nvSpPr>
          <p:cNvPr id="3" name="Content Placeholder 2">
            <a:extLst>
              <a:ext uri="{FF2B5EF4-FFF2-40B4-BE49-F238E27FC236}">
                <a16:creationId xmlns:a16="http://schemas.microsoft.com/office/drawing/2014/main" id="{7A2E02B2-7C23-4DF8-A0AB-8DDC6F94C19A}"/>
              </a:ext>
            </a:extLst>
          </p:cNvPr>
          <p:cNvSpPr>
            <a:spLocks noGrp="1"/>
          </p:cNvSpPr>
          <p:nvPr>
            <p:ph idx="1"/>
          </p:nvPr>
        </p:nvSpPr>
        <p:spPr/>
        <p:txBody>
          <a:bodyPr/>
          <a:lstStyle/>
          <a:p>
            <a:r>
              <a:rPr lang="en-US" b="1" dirty="0"/>
              <a:t>Phase 4 – Bank Wiring Observation Room Study</a:t>
            </a:r>
          </a:p>
          <a:p>
            <a:endParaRPr lang="en-US" b="1" dirty="0"/>
          </a:p>
          <a:p>
            <a:r>
              <a:rPr lang="en-US" dirty="0"/>
              <a:t>A group of 14 male workers</a:t>
            </a:r>
          </a:p>
          <a:p>
            <a:endParaRPr lang="en-US" b="1" dirty="0"/>
          </a:p>
          <a:p>
            <a:pPr marL="0" indent="0" algn="just">
              <a:buNone/>
            </a:pPr>
            <a:r>
              <a:rPr lang="en-US" sz="2400" dirty="0"/>
              <a:t>The experiment showed that workers followed </a:t>
            </a:r>
            <a:r>
              <a:rPr lang="en-US" sz="2400" b="1" dirty="0"/>
              <a:t>informal group norms and restricted their output</a:t>
            </a:r>
            <a:r>
              <a:rPr lang="en-US" sz="2400" dirty="0"/>
              <a:t>, proving that </a:t>
            </a:r>
            <a:r>
              <a:rPr lang="en-US" sz="2400" b="1" dirty="0"/>
              <a:t>social factors and group pressure influence productivity more than financial incentives</a:t>
            </a:r>
            <a:r>
              <a:rPr lang="en-US" dirty="0"/>
              <a:t>.</a:t>
            </a:r>
            <a:endParaRPr lang="en-IN" b="1" dirty="0"/>
          </a:p>
        </p:txBody>
      </p:sp>
    </p:spTree>
    <p:extLst>
      <p:ext uri="{BB962C8B-B14F-4D97-AF65-F5344CB8AC3E}">
        <p14:creationId xmlns:p14="http://schemas.microsoft.com/office/powerpoint/2010/main" val="17709818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347DA-11A3-46B8-A0FF-300045855294}"/>
              </a:ext>
            </a:extLst>
          </p:cNvPr>
          <p:cNvSpPr>
            <a:spLocks noGrp="1"/>
          </p:cNvSpPr>
          <p:nvPr>
            <p:ph type="title"/>
          </p:nvPr>
        </p:nvSpPr>
        <p:spPr/>
        <p:txBody>
          <a:bodyPr>
            <a:normAutofit/>
          </a:bodyPr>
          <a:lstStyle/>
          <a:p>
            <a:r>
              <a:rPr lang="en-US" dirty="0" err="1"/>
              <a:t>Behavioural</a:t>
            </a:r>
            <a:r>
              <a:rPr lang="en-US" dirty="0"/>
              <a:t> Science Approach</a:t>
            </a:r>
            <a:endParaRPr lang="en-IN" dirty="0"/>
          </a:p>
        </p:txBody>
      </p:sp>
      <p:sp>
        <p:nvSpPr>
          <p:cNvPr id="3" name="Content Placeholder 2">
            <a:extLst>
              <a:ext uri="{FF2B5EF4-FFF2-40B4-BE49-F238E27FC236}">
                <a16:creationId xmlns:a16="http://schemas.microsoft.com/office/drawing/2014/main" id="{45541E35-7117-4901-9F24-73ABCE7320E0}"/>
              </a:ext>
            </a:extLst>
          </p:cNvPr>
          <p:cNvSpPr>
            <a:spLocks noGrp="1"/>
          </p:cNvSpPr>
          <p:nvPr>
            <p:ph idx="1"/>
          </p:nvPr>
        </p:nvSpPr>
        <p:spPr/>
        <p:txBody>
          <a:bodyPr/>
          <a:lstStyle/>
          <a:p>
            <a:pPr algn="just"/>
            <a:r>
              <a:rPr lang="en-US" dirty="0"/>
              <a:t>The human relations movement focused n interpersonal relations and overlooked the wider subject of organizational </a:t>
            </a:r>
            <a:r>
              <a:rPr lang="en-US" dirty="0" err="1"/>
              <a:t>behaviour</a:t>
            </a:r>
            <a:r>
              <a:rPr lang="en-IN" dirty="0"/>
              <a:t>.</a:t>
            </a:r>
          </a:p>
          <a:p>
            <a:pPr algn="just"/>
            <a:endParaRPr lang="en-US" dirty="0"/>
          </a:p>
          <a:p>
            <a:pPr algn="just"/>
            <a:r>
              <a:rPr lang="en-US" dirty="0"/>
              <a:t>O</a:t>
            </a:r>
            <a:r>
              <a:rPr lang="en-IN" dirty="0" err="1"/>
              <a:t>rganizational</a:t>
            </a:r>
            <a:r>
              <a:rPr lang="en-IN" dirty="0"/>
              <a:t> behaviour involves the study of attitudes, behaviour, and performance of individuals and groups in an organizational setting.</a:t>
            </a:r>
            <a:endParaRPr lang="en-US" dirty="0"/>
          </a:p>
        </p:txBody>
      </p:sp>
    </p:spTree>
    <p:extLst>
      <p:ext uri="{BB962C8B-B14F-4D97-AF65-F5344CB8AC3E}">
        <p14:creationId xmlns:p14="http://schemas.microsoft.com/office/powerpoint/2010/main" val="220283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68DD-C856-4125-BC75-02BDA470D367}"/>
              </a:ext>
            </a:extLst>
          </p:cNvPr>
          <p:cNvSpPr>
            <a:spLocks noGrp="1"/>
          </p:cNvSpPr>
          <p:nvPr>
            <p:ph type="title"/>
          </p:nvPr>
        </p:nvSpPr>
        <p:spPr/>
        <p:txBody>
          <a:bodyPr/>
          <a:lstStyle/>
          <a:p>
            <a:r>
              <a:rPr lang="en-US" dirty="0" err="1"/>
              <a:t>Behavioural</a:t>
            </a:r>
            <a:r>
              <a:rPr lang="en-US" dirty="0"/>
              <a:t> Science Approach</a:t>
            </a:r>
            <a:endParaRPr lang="en-IN" dirty="0"/>
          </a:p>
        </p:txBody>
      </p:sp>
      <p:sp>
        <p:nvSpPr>
          <p:cNvPr id="3" name="Content Placeholder 2">
            <a:extLst>
              <a:ext uri="{FF2B5EF4-FFF2-40B4-BE49-F238E27FC236}">
                <a16:creationId xmlns:a16="http://schemas.microsoft.com/office/drawing/2014/main" id="{93B76969-CCCC-4E22-BCE5-EC70C39F55A4}"/>
              </a:ext>
            </a:extLst>
          </p:cNvPr>
          <p:cNvSpPr>
            <a:spLocks noGrp="1"/>
          </p:cNvSpPr>
          <p:nvPr>
            <p:ph idx="1"/>
          </p:nvPr>
        </p:nvSpPr>
        <p:spPr/>
        <p:txBody>
          <a:bodyPr/>
          <a:lstStyle/>
          <a:p>
            <a:r>
              <a:rPr lang="en-US" sz="1700" b="1" dirty="0">
                <a:cs typeface="Times New Roman" panose="02020603050405020304" pitchFamily="18" charset="0"/>
              </a:rPr>
              <a:t>Major conclusions </a:t>
            </a:r>
            <a:r>
              <a:rPr lang="en-US" sz="1700" dirty="0">
                <a:cs typeface="Times New Roman" panose="02020603050405020304" pitchFamily="18" charset="0"/>
              </a:rPr>
              <a:t>of the contributions made by </a:t>
            </a:r>
            <a:r>
              <a:rPr lang="en-US" sz="1700" dirty="0" err="1">
                <a:cs typeface="Times New Roman" panose="02020603050405020304" pitchFamily="18" charset="0"/>
              </a:rPr>
              <a:t>behaviouralists</a:t>
            </a:r>
            <a:r>
              <a:rPr lang="en-US" sz="1700" dirty="0">
                <a:cs typeface="Times New Roman" panose="02020603050405020304" pitchFamily="18" charset="0"/>
              </a:rPr>
              <a:t> are as follows:</a:t>
            </a:r>
          </a:p>
          <a:p>
            <a:pPr lvl="4"/>
            <a:r>
              <a:rPr lang="en-US" sz="1500" dirty="0" err="1">
                <a:cs typeface="Times New Roman" panose="02020603050405020304" pitchFamily="18" charset="0"/>
              </a:rPr>
              <a:t>i</a:t>
            </a:r>
            <a:r>
              <a:rPr lang="en-US" sz="1500" dirty="0">
                <a:cs typeface="Times New Roman" panose="02020603050405020304" pitchFamily="18" charset="0"/>
              </a:rPr>
              <a:t>. People </a:t>
            </a:r>
            <a:r>
              <a:rPr lang="en-US" sz="1500" b="1" dirty="0">
                <a:cs typeface="Times New Roman" panose="02020603050405020304" pitchFamily="18" charset="0"/>
              </a:rPr>
              <a:t>do not dislike </a:t>
            </a:r>
            <a:r>
              <a:rPr lang="en-US" sz="1500" dirty="0">
                <a:cs typeface="Times New Roman" panose="02020603050405020304" pitchFamily="18" charset="0"/>
              </a:rPr>
              <a:t>work. If they have been helped to establish objectives, they will want to achieve them. </a:t>
            </a:r>
          </a:p>
          <a:p>
            <a:pPr lvl="4"/>
            <a:r>
              <a:rPr lang="en-US" sz="1500" dirty="0">
                <a:cs typeface="Times New Roman" panose="02020603050405020304" pitchFamily="18" charset="0"/>
              </a:rPr>
              <a:t>ii. Their untapped potential remains </a:t>
            </a:r>
            <a:r>
              <a:rPr lang="en-US" sz="1500" b="1" dirty="0">
                <a:cs typeface="Times New Roman" panose="02020603050405020304" pitchFamily="18" charset="0"/>
              </a:rPr>
              <a:t>unutilized</a:t>
            </a:r>
            <a:r>
              <a:rPr lang="en-US" sz="1500" dirty="0">
                <a:cs typeface="Times New Roman" panose="02020603050405020304" pitchFamily="18" charset="0"/>
              </a:rPr>
              <a:t>. </a:t>
            </a:r>
          </a:p>
          <a:p>
            <a:pPr lvl="4"/>
            <a:r>
              <a:rPr lang="en-US" sz="1500" dirty="0">
                <a:cs typeface="Times New Roman" panose="02020603050405020304" pitchFamily="18" charset="0"/>
              </a:rPr>
              <a:t>iii. Managers’ basic job is to use untapped human potential in the organization. </a:t>
            </a:r>
          </a:p>
          <a:p>
            <a:pPr lvl="4"/>
            <a:r>
              <a:rPr lang="en-US" sz="1500" dirty="0">
                <a:cs typeface="Times New Roman" panose="02020603050405020304" pitchFamily="18" charset="0"/>
              </a:rPr>
              <a:t>iv. The manager should create a </a:t>
            </a:r>
            <a:r>
              <a:rPr lang="en-US" sz="1500" b="1" dirty="0">
                <a:cs typeface="Times New Roman" panose="02020603050405020304" pitchFamily="18" charset="0"/>
              </a:rPr>
              <a:t>healthy environment </a:t>
            </a:r>
            <a:r>
              <a:rPr lang="en-US" sz="1500" dirty="0">
                <a:cs typeface="Times New Roman" panose="02020603050405020304" pitchFamily="18" charset="0"/>
              </a:rPr>
              <a:t>wherein all persons can contribute to the best of their capacity.. </a:t>
            </a:r>
          </a:p>
          <a:p>
            <a:pPr lvl="4"/>
            <a:r>
              <a:rPr lang="en-US" sz="1500" dirty="0">
                <a:cs typeface="Times New Roman" panose="02020603050405020304" pitchFamily="18" charset="0"/>
              </a:rPr>
              <a:t>v. Managers should provide </a:t>
            </a:r>
            <a:r>
              <a:rPr lang="en-US" sz="1500" b="1" dirty="0">
                <a:cs typeface="Times New Roman" panose="02020603050405020304" pitchFamily="18" charset="0"/>
              </a:rPr>
              <a:t>opportunities for self-direction </a:t>
            </a:r>
            <a:r>
              <a:rPr lang="en-US" sz="1500" dirty="0">
                <a:cs typeface="Times New Roman" panose="02020603050405020304" pitchFamily="18" charset="0"/>
              </a:rPr>
              <a:t>to their subordinates. </a:t>
            </a:r>
          </a:p>
          <a:p>
            <a:pPr lvl="4"/>
            <a:r>
              <a:rPr lang="en-US" sz="1500" dirty="0">
                <a:cs typeface="Times New Roman" panose="02020603050405020304" pitchFamily="18" charset="0"/>
              </a:rPr>
              <a:t>vi. Operating efficiency can be improved by </a:t>
            </a:r>
            <a:r>
              <a:rPr lang="en-US" sz="1500" b="1" dirty="0">
                <a:cs typeface="Times New Roman" panose="02020603050405020304" pitchFamily="18" charset="0"/>
              </a:rPr>
              <a:t>expanding subordinate influence</a:t>
            </a:r>
            <a:r>
              <a:rPr lang="en-US" sz="1500" dirty="0">
                <a:cs typeface="Times New Roman" panose="02020603050405020304" pitchFamily="18" charset="0"/>
              </a:rPr>
              <a:t>, self-direction, and self-control. </a:t>
            </a:r>
          </a:p>
          <a:p>
            <a:pPr lvl="4"/>
            <a:r>
              <a:rPr lang="en-US" sz="1500" dirty="0">
                <a:cs typeface="Times New Roman" panose="02020603050405020304" pitchFamily="18" charset="0"/>
              </a:rPr>
              <a:t>vii. </a:t>
            </a:r>
            <a:r>
              <a:rPr lang="en-US" sz="1500" b="1" dirty="0">
                <a:cs typeface="Times New Roman" panose="02020603050405020304" pitchFamily="18" charset="0"/>
              </a:rPr>
              <a:t>Work satisfaction may improve </a:t>
            </a:r>
            <a:r>
              <a:rPr lang="en-US" sz="1500" dirty="0">
                <a:cs typeface="Times New Roman" panose="02020603050405020304" pitchFamily="18" charset="0"/>
              </a:rPr>
              <a:t>as a ‘by-product’ of subordinates making full use of their potential.</a:t>
            </a:r>
            <a:endParaRPr lang="en-IN" sz="1500" dirty="0">
              <a:cs typeface="Times New Roman" panose="02020603050405020304" pitchFamily="18" charset="0"/>
            </a:endParaRPr>
          </a:p>
        </p:txBody>
      </p:sp>
    </p:spTree>
    <p:extLst>
      <p:ext uri="{BB962C8B-B14F-4D97-AF65-F5344CB8AC3E}">
        <p14:creationId xmlns:p14="http://schemas.microsoft.com/office/powerpoint/2010/main" val="1097989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0487-05D1-480E-A71C-40F73CB7789A}"/>
              </a:ext>
            </a:extLst>
          </p:cNvPr>
          <p:cNvSpPr>
            <a:spLocks noGrp="1"/>
          </p:cNvSpPr>
          <p:nvPr>
            <p:ph type="title"/>
          </p:nvPr>
        </p:nvSpPr>
        <p:spPr/>
        <p:txBody>
          <a:bodyPr>
            <a:normAutofit/>
          </a:bodyPr>
          <a:lstStyle/>
          <a:p>
            <a:r>
              <a:rPr lang="en-US" dirty="0"/>
              <a:t>Social System Approach</a:t>
            </a:r>
            <a:endParaRPr lang="en-IN" dirty="0"/>
          </a:p>
        </p:txBody>
      </p:sp>
      <p:sp>
        <p:nvSpPr>
          <p:cNvPr id="3" name="Content Placeholder 2">
            <a:extLst>
              <a:ext uri="{FF2B5EF4-FFF2-40B4-BE49-F238E27FC236}">
                <a16:creationId xmlns:a16="http://schemas.microsoft.com/office/drawing/2014/main" id="{6BE9B200-416B-491E-9FE3-4B8E09C3A727}"/>
              </a:ext>
            </a:extLst>
          </p:cNvPr>
          <p:cNvSpPr>
            <a:spLocks noGrp="1"/>
          </p:cNvSpPr>
          <p:nvPr>
            <p:ph idx="1"/>
          </p:nvPr>
        </p:nvSpPr>
        <p:spPr/>
        <p:txBody>
          <a:bodyPr>
            <a:normAutofit lnSpcReduction="10000"/>
          </a:bodyPr>
          <a:lstStyle/>
          <a:p>
            <a:pPr algn="just"/>
            <a:r>
              <a:rPr lang="en-US" dirty="0"/>
              <a:t>Organization is a system and its components are interrelated and interdependent.</a:t>
            </a:r>
          </a:p>
          <a:p>
            <a:pPr algn="just"/>
            <a:r>
              <a:rPr lang="en-US" dirty="0"/>
              <a:t>The Social System Approach views an organization as a living, dynamic system comprising interrelated, interdependent people operating within a social environment. </a:t>
            </a:r>
          </a:p>
          <a:p>
            <a:pPr algn="just"/>
            <a:r>
              <a:rPr lang="en-US" dirty="0"/>
              <a:t>It acknowledges that organizations are open systems that interact with their external environment. </a:t>
            </a:r>
          </a:p>
          <a:p>
            <a:pPr algn="just"/>
            <a:r>
              <a:rPr lang="en-US" dirty="0"/>
              <a:t>This approach emphasizes the social relationships, values, norms, and communication patterns that affect the organization’s internal functions and performance.</a:t>
            </a:r>
            <a:endParaRPr lang="en-IN" dirty="0"/>
          </a:p>
        </p:txBody>
      </p:sp>
    </p:spTree>
    <p:extLst>
      <p:ext uri="{BB962C8B-B14F-4D97-AF65-F5344CB8AC3E}">
        <p14:creationId xmlns:p14="http://schemas.microsoft.com/office/powerpoint/2010/main" val="3683972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B0802-888B-41CD-BD12-661419C8243A}"/>
              </a:ext>
            </a:extLst>
          </p:cNvPr>
          <p:cNvSpPr>
            <a:spLocks noGrp="1"/>
          </p:cNvSpPr>
          <p:nvPr>
            <p:ph type="title"/>
          </p:nvPr>
        </p:nvSpPr>
        <p:spPr/>
        <p:txBody>
          <a:bodyPr/>
          <a:lstStyle/>
          <a:p>
            <a:r>
              <a:rPr lang="en-US" dirty="0"/>
              <a:t>Contingency Approach</a:t>
            </a:r>
            <a:endParaRPr lang="en-IN" dirty="0"/>
          </a:p>
        </p:txBody>
      </p:sp>
      <p:sp>
        <p:nvSpPr>
          <p:cNvPr id="3" name="Content Placeholder 2">
            <a:extLst>
              <a:ext uri="{FF2B5EF4-FFF2-40B4-BE49-F238E27FC236}">
                <a16:creationId xmlns:a16="http://schemas.microsoft.com/office/drawing/2014/main" id="{F4DAA9F4-FA02-4618-8016-1EA015CA165B}"/>
              </a:ext>
            </a:extLst>
          </p:cNvPr>
          <p:cNvSpPr>
            <a:spLocks noGrp="1"/>
          </p:cNvSpPr>
          <p:nvPr>
            <p:ph idx="1"/>
          </p:nvPr>
        </p:nvSpPr>
        <p:spPr/>
        <p:txBody>
          <a:bodyPr/>
          <a:lstStyle/>
          <a:p>
            <a:r>
              <a:rPr lang="en-US" dirty="0"/>
              <a:t>The contingency approach is based on the belief that there is no one best way to tackle the problems of management. </a:t>
            </a:r>
            <a:endParaRPr lang="en-IN" dirty="0"/>
          </a:p>
        </p:txBody>
      </p:sp>
    </p:spTree>
    <p:extLst>
      <p:ext uri="{BB962C8B-B14F-4D97-AF65-F5344CB8AC3E}">
        <p14:creationId xmlns:p14="http://schemas.microsoft.com/office/powerpoint/2010/main" val="1551459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C824-4EA1-111C-1DA8-D18764581926}"/>
              </a:ext>
            </a:extLst>
          </p:cNvPr>
          <p:cNvSpPr>
            <a:spLocks noGrp="1"/>
          </p:cNvSpPr>
          <p:nvPr>
            <p:ph type="title"/>
          </p:nvPr>
        </p:nvSpPr>
        <p:spPr/>
        <p:txBody>
          <a:bodyPr>
            <a:normAutofit fontScale="90000"/>
          </a:bodyPr>
          <a:lstStyle/>
          <a:p>
            <a:r>
              <a:rPr lang="en-US" b="1" dirty="0"/>
              <a:t>Key Contemporary Management Issues</a:t>
            </a:r>
            <a:endParaRPr lang="en-IN" dirty="0"/>
          </a:p>
        </p:txBody>
      </p:sp>
      <p:sp>
        <p:nvSpPr>
          <p:cNvPr id="3" name="Content Placeholder 2">
            <a:extLst>
              <a:ext uri="{FF2B5EF4-FFF2-40B4-BE49-F238E27FC236}">
                <a16:creationId xmlns:a16="http://schemas.microsoft.com/office/drawing/2014/main" id="{67301E57-E619-6DA0-C664-6B1D3689267F}"/>
              </a:ext>
            </a:extLst>
          </p:cNvPr>
          <p:cNvSpPr>
            <a:spLocks noGrp="1"/>
          </p:cNvSpPr>
          <p:nvPr>
            <p:ph idx="1"/>
          </p:nvPr>
        </p:nvSpPr>
        <p:spPr/>
        <p:txBody>
          <a:bodyPr>
            <a:normAutofit fontScale="92500" lnSpcReduction="20000"/>
          </a:bodyPr>
          <a:lstStyle/>
          <a:p>
            <a:pPr lvl="0"/>
            <a:r>
              <a:rPr lang="en-US" b="1" dirty="0">
                <a:hlinkClick r:id="rId2"/>
              </a:rPr>
              <a:t>Technological Advancement &amp; AI</a:t>
            </a:r>
            <a:r>
              <a:rPr lang="en-US" b="1" dirty="0"/>
              <a:t>:</a:t>
            </a:r>
            <a:r>
              <a:rPr lang="en-US" dirty="0"/>
              <a:t> Integrating AI, machine learning, and automation into operations while upskilling the workforce is a major challenge and opportunity.</a:t>
            </a:r>
            <a:endParaRPr lang="en-IN" dirty="0"/>
          </a:p>
          <a:p>
            <a:pPr lvl="0"/>
            <a:r>
              <a:rPr lang="en-US" b="1" dirty="0">
                <a:hlinkClick r:id="rId3"/>
              </a:rPr>
              <a:t>Digital Transformation &amp; Cybersecurity</a:t>
            </a:r>
            <a:r>
              <a:rPr lang="en-US" dirty="0"/>
              <a:t>: Shifting to digital, managing legacy systems, and protecting data from evolving threats.</a:t>
            </a:r>
            <a:endParaRPr lang="en-IN" dirty="0"/>
          </a:p>
          <a:p>
            <a:pPr lvl="0"/>
            <a:r>
              <a:rPr lang="en-US" b="1" dirty="0">
                <a:hlinkClick r:id="rId4"/>
              </a:rPr>
              <a:t>Hybrid Work &amp; Workforce Dynamics</a:t>
            </a:r>
            <a:r>
              <a:rPr lang="en-US" dirty="0"/>
              <a:t>: Managing remote/hybrid teams, maintaining company culture, and ensuring work-life balance.</a:t>
            </a:r>
            <a:endParaRPr lang="en-IN" dirty="0"/>
          </a:p>
          <a:p>
            <a:pPr lvl="0"/>
            <a:r>
              <a:rPr lang="en-US" b="1" dirty="0">
                <a:hlinkClick r:id="rId5"/>
              </a:rPr>
              <a:t>Sustainability &amp; ESG</a:t>
            </a:r>
            <a:r>
              <a:rPr lang="en-US" b="1" dirty="0"/>
              <a:t>:</a:t>
            </a:r>
            <a:r>
              <a:rPr lang="en-US" dirty="0"/>
              <a:t> Addressing environmental concerns, ethical supply chains, and Corporate Social Responsibility (CSR).</a:t>
            </a:r>
            <a:endParaRPr lang="en-IN" dirty="0"/>
          </a:p>
          <a:p>
            <a:endParaRPr lang="en-IN" dirty="0"/>
          </a:p>
        </p:txBody>
      </p:sp>
    </p:spTree>
    <p:extLst>
      <p:ext uri="{BB962C8B-B14F-4D97-AF65-F5344CB8AC3E}">
        <p14:creationId xmlns:p14="http://schemas.microsoft.com/office/powerpoint/2010/main" val="33219918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3D4F3-370E-DDDB-7C81-87978A0DC7D0}"/>
              </a:ext>
            </a:extLst>
          </p:cNvPr>
          <p:cNvSpPr>
            <a:spLocks noGrp="1"/>
          </p:cNvSpPr>
          <p:nvPr>
            <p:ph type="title"/>
          </p:nvPr>
        </p:nvSpPr>
        <p:spPr/>
        <p:txBody>
          <a:bodyPr>
            <a:normAutofit fontScale="90000"/>
          </a:bodyPr>
          <a:lstStyle/>
          <a:p>
            <a:r>
              <a:rPr lang="en-US" b="1" dirty="0"/>
              <a:t>Key Contemporary Management Issues</a:t>
            </a:r>
            <a:endParaRPr lang="en-IN" dirty="0"/>
          </a:p>
        </p:txBody>
      </p:sp>
      <p:sp>
        <p:nvSpPr>
          <p:cNvPr id="3" name="Content Placeholder 2">
            <a:extLst>
              <a:ext uri="{FF2B5EF4-FFF2-40B4-BE49-F238E27FC236}">
                <a16:creationId xmlns:a16="http://schemas.microsoft.com/office/drawing/2014/main" id="{3922267B-F1D9-D63D-827D-DDA5A5EDDC8B}"/>
              </a:ext>
            </a:extLst>
          </p:cNvPr>
          <p:cNvSpPr>
            <a:spLocks noGrp="1"/>
          </p:cNvSpPr>
          <p:nvPr>
            <p:ph idx="1"/>
          </p:nvPr>
        </p:nvSpPr>
        <p:spPr/>
        <p:txBody>
          <a:bodyPr>
            <a:normAutofit fontScale="92500" lnSpcReduction="20000"/>
          </a:bodyPr>
          <a:lstStyle/>
          <a:p>
            <a:pPr lvl="0"/>
            <a:r>
              <a:rPr lang="en-US" b="1" dirty="0">
                <a:hlinkClick r:id="rId2"/>
              </a:rPr>
              <a:t>Diversity, Equity, and Inclusion (DEI)</a:t>
            </a:r>
            <a:r>
              <a:rPr lang="en-US" b="1" dirty="0"/>
              <a:t>:</a:t>
            </a:r>
            <a:r>
              <a:rPr lang="en-US" dirty="0"/>
              <a:t> Navigating cultural, ethnic, and social differences in a global workforce to enhance innovation.</a:t>
            </a:r>
            <a:endParaRPr lang="en-IN" dirty="0"/>
          </a:p>
          <a:p>
            <a:pPr lvl="0"/>
            <a:r>
              <a:rPr lang="en-US" b="1" dirty="0">
                <a:hlinkClick r:id="rId3"/>
              </a:rPr>
              <a:t>Change Management &amp; Agility</a:t>
            </a:r>
            <a:r>
              <a:rPr lang="en-US" b="1" dirty="0"/>
              <a:t>:</a:t>
            </a:r>
            <a:r>
              <a:rPr lang="en-US" dirty="0"/>
              <a:t> Quickly adapting to economic, political, and market instability.</a:t>
            </a:r>
            <a:endParaRPr lang="en-IN" dirty="0"/>
          </a:p>
          <a:p>
            <a:pPr lvl="0"/>
            <a:r>
              <a:rPr lang="en-US" b="1" dirty="0">
                <a:hlinkClick r:id="rId4"/>
              </a:rPr>
              <a:t>Ethical Leadership &amp; Governance</a:t>
            </a:r>
            <a:r>
              <a:rPr lang="en-US" b="1" dirty="0"/>
              <a:t>:</a:t>
            </a:r>
            <a:r>
              <a:rPr lang="en-US" dirty="0"/>
              <a:t> Shifting to stakeholder-centric, transparent, and ethical business practices.</a:t>
            </a:r>
            <a:endParaRPr lang="en-IN" dirty="0"/>
          </a:p>
          <a:p>
            <a:pPr lvl="0"/>
            <a:r>
              <a:rPr lang="en-US" b="1" dirty="0">
                <a:hlinkClick r:id="rId5"/>
              </a:rPr>
              <a:t>Talent Management &amp; Retention</a:t>
            </a:r>
            <a:r>
              <a:rPr lang="en-US" b="1" dirty="0"/>
              <a:t>:</a:t>
            </a:r>
            <a:r>
              <a:rPr lang="en-US" dirty="0"/>
              <a:t> Finding and retaining skilled manpower in a competitive market. Managers must adopt flexible, strategic, and human-centric approaches to turn these challenges into opportunities for growth. </a:t>
            </a:r>
            <a:endParaRPr lang="en-IN" dirty="0"/>
          </a:p>
          <a:p>
            <a:r>
              <a:rPr lang="en-US" dirty="0"/>
              <a:t> </a:t>
            </a:r>
            <a:endParaRPr lang="en-IN" dirty="0"/>
          </a:p>
          <a:p>
            <a:pPr marL="0" indent="0">
              <a:buNone/>
            </a:pPr>
            <a:endParaRPr lang="en-IN" dirty="0"/>
          </a:p>
        </p:txBody>
      </p:sp>
    </p:spTree>
    <p:extLst>
      <p:ext uri="{BB962C8B-B14F-4D97-AF65-F5344CB8AC3E}">
        <p14:creationId xmlns:p14="http://schemas.microsoft.com/office/powerpoint/2010/main" val="12130617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305</TotalTime>
  <Words>3020</Words>
  <Application>Microsoft Office PowerPoint</Application>
  <PresentationFormat>On-screen Show (4:3)</PresentationFormat>
  <Paragraphs>310</Paragraphs>
  <Slides>52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Constantia</vt:lpstr>
      <vt:lpstr>Times New Roman</vt:lpstr>
      <vt:lpstr>Wingdings</vt:lpstr>
      <vt:lpstr>Wingdings 2</vt:lpstr>
      <vt:lpstr>Flow</vt:lpstr>
      <vt:lpstr>Module 1</vt:lpstr>
      <vt:lpstr>Introduction</vt:lpstr>
      <vt:lpstr>Definitions</vt:lpstr>
      <vt:lpstr>Objectives</vt:lpstr>
      <vt:lpstr>Objectives</vt:lpstr>
      <vt:lpstr>Objectives</vt:lpstr>
      <vt:lpstr>Objectives</vt:lpstr>
      <vt:lpstr>Objectives</vt:lpstr>
      <vt:lpstr>Objectives</vt:lpstr>
      <vt:lpstr>Objectives</vt:lpstr>
      <vt:lpstr>Objectives</vt:lpstr>
      <vt:lpstr>Objectives</vt:lpstr>
      <vt:lpstr>Objectives</vt:lpstr>
      <vt:lpstr>Objectives</vt:lpstr>
      <vt:lpstr>Functions of Managers</vt:lpstr>
      <vt:lpstr>Functions of Managers</vt:lpstr>
      <vt:lpstr>Functions of Managers</vt:lpstr>
      <vt:lpstr>Nature of Management</vt:lpstr>
      <vt:lpstr>Management as Science</vt:lpstr>
      <vt:lpstr>Management as Science</vt:lpstr>
      <vt:lpstr>Management as Art</vt:lpstr>
      <vt:lpstr>Management as a Profession</vt:lpstr>
      <vt:lpstr>Management Vs Administration</vt:lpstr>
      <vt:lpstr>Management Vs Administration</vt:lpstr>
      <vt:lpstr>Management Vs Administration</vt:lpstr>
      <vt:lpstr>Management Vs Administration</vt:lpstr>
      <vt:lpstr>Management Vs Administration</vt:lpstr>
      <vt:lpstr>Levels of Management</vt:lpstr>
      <vt:lpstr>Levels of Management</vt:lpstr>
      <vt:lpstr>Levels of Management</vt:lpstr>
      <vt:lpstr>Levels of Management</vt:lpstr>
      <vt:lpstr>Evolution of Management Thought </vt:lpstr>
      <vt:lpstr>Classical Approach</vt:lpstr>
      <vt:lpstr>Classical Approach Administrative Functional or Process Approach (Henri Fayol)</vt:lpstr>
      <vt:lpstr>Henri Fayol’s 14 Principles of Management</vt:lpstr>
      <vt:lpstr>Henri Fayol’s 14 Principles of Management</vt:lpstr>
      <vt:lpstr>Henri Fayol’s 14 Principles of Management</vt:lpstr>
      <vt:lpstr>Classical Approach Scientific Management (F. W. Taylor)</vt:lpstr>
      <vt:lpstr>Principles of Scientific Management</vt:lpstr>
      <vt:lpstr>Classical Approach Bureaucratic Approach (Max Weber)</vt:lpstr>
      <vt:lpstr>Neo-Classical approach (Hawthorne Experiments-Elton Mayo)</vt:lpstr>
      <vt:lpstr>Hawthorne Experiments</vt:lpstr>
      <vt:lpstr>Hawthorne Experiments-Phase 1</vt:lpstr>
      <vt:lpstr>Hawthorne Experiments-Phase 2</vt:lpstr>
      <vt:lpstr>Hawthorne Experiments-Phase 3</vt:lpstr>
      <vt:lpstr>Hawthorne Experiments-Phase 4</vt:lpstr>
      <vt:lpstr>Behavioural Science Approach</vt:lpstr>
      <vt:lpstr>Behavioural Science Approach</vt:lpstr>
      <vt:lpstr>Social System Approach</vt:lpstr>
      <vt:lpstr>Contingency Approach</vt:lpstr>
      <vt:lpstr>Key Contemporary Management Issues</vt:lpstr>
      <vt:lpstr>Key Contemporary Management Issues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Windows User</dc:creator>
  <cp:lastModifiedBy>Haribabu Pengonda</cp:lastModifiedBy>
  <cp:revision>51</cp:revision>
  <dcterms:created xsi:type="dcterms:W3CDTF">2026-03-02T08:06:20Z</dcterms:created>
  <dcterms:modified xsi:type="dcterms:W3CDTF">2026-03-15T02:17:27Z</dcterms:modified>
</cp:coreProperties>
</file>