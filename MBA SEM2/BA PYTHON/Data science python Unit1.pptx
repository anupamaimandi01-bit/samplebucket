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3784435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156147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408277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812028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71729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4232346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3878715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2564187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275561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1376676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0D2B8DE-7D48-4005-9F52-C85BB90EC758}" type="datetimeFigureOut">
              <a:rPr lang="en-IN" smtClean="0"/>
              <a:pPr/>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C90965-7C44-4684-8AB7-1E3A5807383C}" type="slidenum">
              <a:rPr lang="en-IN" smtClean="0"/>
              <a:pPr/>
              <a:t>‹#›</a:t>
            </a:fld>
            <a:endParaRPr lang="en-IN"/>
          </a:p>
        </p:txBody>
      </p:sp>
    </p:spTree>
    <p:extLst>
      <p:ext uri="{BB962C8B-B14F-4D97-AF65-F5344CB8AC3E}">
        <p14:creationId xmlns:p14="http://schemas.microsoft.com/office/powerpoint/2010/main" val="3047026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B8DE-7D48-4005-9F52-C85BB90EC758}" type="datetimeFigureOut">
              <a:rPr lang="en-IN" smtClean="0"/>
              <a:pPr/>
              <a:t>24-03-2026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C90965-7C44-4684-8AB7-1E3A5807383C}" type="slidenum">
              <a:rPr lang="en-IN" smtClean="0"/>
              <a:pPr/>
              <a:t>‹#›</a:t>
            </a:fld>
            <a:endParaRPr lang="en-IN"/>
          </a:p>
        </p:txBody>
      </p:sp>
    </p:spTree>
    <p:extLst>
      <p:ext uri="{BB962C8B-B14F-4D97-AF65-F5344CB8AC3E}">
        <p14:creationId xmlns:p14="http://schemas.microsoft.com/office/powerpoint/2010/main" val="173134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tutorialspoint.com/python/python_modules.htm" TargetMode="External"/><Relationship Id="rId2" Type="http://schemas.openxmlformats.org/officeDocument/2006/relationships/hyperlink" Target="https://www.tutorialspoint.com/python/python_built_in_functions.htm" TargetMode="External"/><Relationship Id="rId1" Type="http://schemas.openxmlformats.org/officeDocument/2006/relationships/slideLayout" Target="../slideLayouts/slideLayout7.xml"/><Relationship Id="rId5" Type="http://schemas.openxmlformats.org/officeDocument/2006/relationships/hyperlink" Target="https://www.tutorialspoint.com/python/python-float-function.htm" TargetMode="External"/><Relationship Id="rId4" Type="http://schemas.openxmlformats.org/officeDocument/2006/relationships/hyperlink" Target="https://www.tutorialspoint.com/python/python-int-function.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2267744" y="188640"/>
            <a:ext cx="4081951" cy="369332"/>
          </a:xfrm>
          <a:prstGeom prst="rect">
            <a:avLst/>
          </a:prstGeom>
        </p:spPr>
        <p:txBody>
          <a:bodyPr wrap="none">
            <a:spAutoFit/>
          </a:bodyPr>
          <a:lstStyle/>
          <a:p>
            <a:pPr marL="444500">
              <a:spcBef>
                <a:spcPts val="580"/>
              </a:spcBef>
              <a:spcAft>
                <a:spcPts val="0"/>
              </a:spcAft>
            </a:pPr>
            <a:r>
              <a:rPr lang="en-US" b="1" dirty="0">
                <a:effectLst/>
                <a:latin typeface="Times New Roman"/>
                <a:ea typeface="Calibri"/>
                <a:cs typeface="Calibri"/>
              </a:rPr>
              <a:t>Introduction </a:t>
            </a:r>
            <a:r>
              <a:rPr lang="en-US" b="1" dirty="0"/>
              <a:t>Python Programming </a:t>
            </a:r>
            <a:r>
              <a:rPr lang="en-US" b="1" dirty="0">
                <a:effectLst/>
                <a:latin typeface="Times New Roman"/>
                <a:ea typeface="Calibri"/>
                <a:cs typeface="Calibri"/>
              </a:rPr>
              <a:t> </a:t>
            </a:r>
            <a:endParaRPr lang="en-IN" sz="2400" dirty="0">
              <a:ea typeface="Calibri"/>
            </a:endParaRPr>
          </a:p>
        </p:txBody>
      </p:sp>
      <p:sp>
        <p:nvSpPr>
          <p:cNvPr id="15" name="Rectangle 11"/>
          <p:cNvSpPr>
            <a:spLocks noChangeArrowheads="1"/>
          </p:cNvSpPr>
          <p:nvPr/>
        </p:nvSpPr>
        <p:spPr bwMode="auto">
          <a:xfrm>
            <a:off x="611560" y="1180633"/>
            <a:ext cx="828092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fontAlgn="base">
              <a:spcBef>
                <a:spcPct val="0"/>
              </a:spcBef>
              <a:spcAft>
                <a:spcPct val="0"/>
              </a:spcAft>
              <a:buFont typeface="Wingdings" pitchFamily="2" charset="2"/>
              <a:buChar char="Ø"/>
              <a:tabLst>
                <a:tab pos="673100" algn="l"/>
              </a:tabLst>
            </a:pPr>
            <a:r>
              <a:rPr kumimoji="0" lang="en-US" sz="12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Python is a general purpose high level programming language.</a:t>
            </a:r>
          </a:p>
          <a:p>
            <a:pPr marL="171450" indent="-171450" fontAlgn="base">
              <a:spcBef>
                <a:spcPct val="0"/>
              </a:spcBef>
              <a:spcAft>
                <a:spcPct val="0"/>
              </a:spcAft>
              <a:buFont typeface="Wingdings" pitchFamily="2" charset="2"/>
              <a:buChar char="Ø"/>
              <a:tabLst>
                <a:tab pos="673100" algn="l"/>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171450" marR="0" lvl="0" indent="-171450" algn="l" defTabSz="914400" rtl="0" eaLnBrk="1" fontAlgn="base" latinLnBrk="0" hangingPunct="1">
              <a:lnSpc>
                <a:spcPct val="100000"/>
              </a:lnSpc>
              <a:spcBef>
                <a:spcPct val="0"/>
              </a:spcBef>
              <a:spcAft>
                <a:spcPct val="0"/>
              </a:spcAft>
              <a:buClrTx/>
              <a:buSzTx/>
              <a:buFont typeface="Wingdings" pitchFamily="2" charset="2"/>
              <a:buChar char="Ø"/>
              <a:tabLst>
                <a:tab pos="673100" algn="l"/>
              </a:tabLst>
            </a:pPr>
            <a:r>
              <a:rPr kumimoji="0" lang="en-US" sz="12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Python was developed by Guido Van </a:t>
            </a:r>
            <a:r>
              <a:rPr kumimoji="0" lang="en-US" sz="12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Rossam</a:t>
            </a:r>
            <a:r>
              <a:rPr kumimoji="0" lang="en-US" sz="12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in 1989 while working at National Research Institute at Netherlands.</a:t>
            </a:r>
          </a:p>
          <a:p>
            <a:pPr marR="0" lvl="0" algn="l" defTabSz="914400" rtl="0" eaLnBrk="1" fontAlgn="base" latinLnBrk="0" hangingPunct="1">
              <a:lnSpc>
                <a:spcPct val="100000"/>
              </a:lnSpc>
              <a:spcBef>
                <a:spcPct val="0"/>
              </a:spcBef>
              <a:spcAft>
                <a:spcPct val="0"/>
              </a:spcAft>
              <a:buClrTx/>
              <a:buSzTx/>
              <a:tabLst>
                <a:tab pos="673100" algn="l"/>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itchFamily="2" charset="2"/>
              <a:buChar char="Ø"/>
              <a:tabLst>
                <a:tab pos="673100" algn="l"/>
              </a:tabLst>
            </a:pPr>
            <a:r>
              <a:rPr kumimoji="0" lang="en-US" sz="12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But officially Python was made available to public in 1991. </a:t>
            </a:r>
          </a:p>
          <a:p>
            <a:pPr marR="0" lvl="0" algn="l" defTabSz="914400" rtl="0" eaLnBrk="0" fontAlgn="base" latinLnBrk="0" hangingPunct="0">
              <a:lnSpc>
                <a:spcPct val="100000"/>
              </a:lnSpc>
              <a:spcBef>
                <a:spcPct val="0"/>
              </a:spcBef>
              <a:spcAft>
                <a:spcPct val="0"/>
              </a:spcAft>
              <a:buClrTx/>
              <a:buSzTx/>
              <a:tabLst>
                <a:tab pos="673100" algn="l"/>
              </a:tabLst>
            </a:pPr>
            <a:endParaRPr kumimoji="0" lang="en-US" sz="12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itchFamily="2" charset="2"/>
              <a:buChar char="Ø"/>
              <a:tabLst>
                <a:tab pos="673100" algn="l"/>
              </a:tabLst>
            </a:pPr>
            <a:r>
              <a:rPr kumimoji="0" lang="en-US" sz="12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official Date of Birth for Python is : Feb 20th 1991.</a:t>
            </a:r>
          </a:p>
          <a:p>
            <a:pPr marR="0" lvl="0" algn="l" defTabSz="914400" rtl="0" eaLnBrk="0" fontAlgn="base" latinLnBrk="0" hangingPunct="0">
              <a:lnSpc>
                <a:spcPct val="100000"/>
              </a:lnSpc>
              <a:spcBef>
                <a:spcPct val="0"/>
              </a:spcBef>
              <a:spcAft>
                <a:spcPct val="0"/>
              </a:spcAft>
              <a:buClrTx/>
              <a:buSzTx/>
              <a:tabLst>
                <a:tab pos="673100" algn="l"/>
              </a:tabLst>
            </a:pPr>
            <a:endParaRPr kumimoji="0" lang="en-US"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itchFamily="2" charset="2"/>
              <a:buChar char="Ø"/>
              <a:tabLst>
                <a:tab pos="673100" algn="l"/>
              </a:tabLst>
            </a:pPr>
            <a:r>
              <a:rPr kumimoji="0" lang="en-US"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Python is recommended as first programming language for beginners.</a:t>
            </a:r>
            <a:r>
              <a:rPr kumimoji="0" lang="en-US" sz="12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p>
          <a:p>
            <a:pPr marL="171450" marR="0" lvl="0" indent="-171450" algn="l" defTabSz="914400" rtl="0" eaLnBrk="0" fontAlgn="base" latinLnBrk="0" hangingPunct="0">
              <a:lnSpc>
                <a:spcPct val="100000"/>
              </a:lnSpc>
              <a:spcBef>
                <a:spcPct val="0"/>
              </a:spcBef>
              <a:spcAft>
                <a:spcPct val="0"/>
              </a:spcAft>
              <a:buClrTx/>
              <a:buSzTx/>
              <a:buFont typeface="Wingdings" pitchFamily="2" charset="2"/>
              <a:buChar char="Ø"/>
              <a:tabLst>
                <a:tab pos="673100" algn="l"/>
              </a:tabLst>
            </a:pPr>
            <a:endParaRPr lang="en-US" sz="1200" b="1" u="sng" dirty="0">
              <a:latin typeface="Times New Roman" pitchFamily="18" charset="0"/>
              <a:ea typeface="Calibri" pitchFamily="34" charset="0"/>
              <a:cs typeface="Times New Roman" pitchFamily="18" charset="0"/>
            </a:endParaRPr>
          </a:p>
          <a:p>
            <a:pPr marL="171450" lvl="0" indent="-171450" eaLnBrk="0" fontAlgn="base" hangingPunct="0">
              <a:spcBef>
                <a:spcPct val="0"/>
              </a:spcBef>
              <a:spcAft>
                <a:spcPct val="0"/>
              </a:spcAft>
              <a:buFont typeface="Wingdings" pitchFamily="2" charset="2"/>
              <a:buChar char="Ø"/>
              <a:tabLst>
                <a:tab pos="673100" algn="l"/>
              </a:tabLst>
            </a:pPr>
            <a:r>
              <a:rPr lang="en-US" sz="1200" b="1" dirty="0"/>
              <a:t>The name Python was selected from the TV Show "The Complete Monty Python's Circus", which was   </a:t>
            </a:r>
          </a:p>
          <a:p>
            <a:pPr lvl="0" eaLnBrk="0" fontAlgn="base" hangingPunct="0">
              <a:spcBef>
                <a:spcPct val="0"/>
              </a:spcBef>
              <a:spcAft>
                <a:spcPct val="0"/>
              </a:spcAft>
              <a:tabLst>
                <a:tab pos="673100" algn="l"/>
              </a:tabLst>
            </a:pPr>
            <a:r>
              <a:rPr lang="en-US" sz="1200" b="1" dirty="0"/>
              <a:t>broadcasted in BBC channel from 1969 to 1974</a:t>
            </a:r>
          </a:p>
          <a:p>
            <a:pPr lvl="0" eaLnBrk="0" fontAlgn="base" hangingPunct="0">
              <a:spcBef>
                <a:spcPct val="0"/>
              </a:spcBef>
              <a:spcAft>
                <a:spcPct val="0"/>
              </a:spcAft>
              <a:tabLst>
                <a:tab pos="673100" algn="l"/>
              </a:tabLst>
            </a:pPr>
            <a:endParaRPr kumimoji="0" lang="en-US" sz="12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r>
              <a:rPr lang="en-US" sz="1400" b="1" dirty="0"/>
              <a:t>Guido developed Python language by taking almost all programming features from different languages</a:t>
            </a:r>
          </a:p>
          <a:p>
            <a:endParaRPr lang="en-IN" sz="1400" dirty="0"/>
          </a:p>
          <a:p>
            <a:pPr marL="171450" lvl="0" indent="-171450">
              <a:buFont typeface="Wingdings" pitchFamily="2" charset="2"/>
              <a:buChar char="Ø"/>
            </a:pPr>
            <a:r>
              <a:rPr lang="en-US" sz="1200" b="1" dirty="0"/>
              <a:t>Functional Programming Features from C</a:t>
            </a:r>
          </a:p>
          <a:p>
            <a:pPr lvl="0"/>
            <a:endParaRPr lang="en-IN" sz="1200" b="1" dirty="0"/>
          </a:p>
          <a:p>
            <a:pPr marL="171450" lvl="0" indent="-171450">
              <a:buFont typeface="Wingdings" pitchFamily="2" charset="2"/>
              <a:buChar char="Ø"/>
            </a:pPr>
            <a:r>
              <a:rPr lang="en-US" sz="1200" b="1" dirty="0"/>
              <a:t>Object Oriented Programming Features from C++</a:t>
            </a:r>
          </a:p>
          <a:p>
            <a:pPr lvl="0"/>
            <a:endParaRPr lang="en-IN" sz="1200" b="1" dirty="0"/>
          </a:p>
          <a:p>
            <a:pPr marL="171450" lvl="0" indent="-171450">
              <a:buFont typeface="Wingdings" pitchFamily="2" charset="2"/>
              <a:buChar char="Ø"/>
            </a:pPr>
            <a:r>
              <a:rPr lang="en-US" sz="1200" b="1" dirty="0"/>
              <a:t>Scripting Language Features from Perl and Shell Script</a:t>
            </a:r>
          </a:p>
          <a:p>
            <a:pPr marL="171450" lvl="0" indent="-171450">
              <a:buFont typeface="Wingdings" pitchFamily="2" charset="2"/>
              <a:buChar char="Ø"/>
            </a:pPr>
            <a:endParaRPr lang="en-IN" sz="1200" b="1" dirty="0"/>
          </a:p>
          <a:p>
            <a:pPr marL="171450" lvl="0" indent="-171450">
              <a:buFont typeface="Wingdings" pitchFamily="2" charset="2"/>
              <a:buChar char="Ø"/>
            </a:pPr>
            <a:r>
              <a:rPr lang="en-US" sz="1200" b="1" dirty="0"/>
              <a:t>Modular Programming Features from Modula-3</a:t>
            </a:r>
          </a:p>
          <a:p>
            <a:pPr lvl="0"/>
            <a:endParaRPr lang="en-IN" sz="1200" b="1" dirty="0"/>
          </a:p>
          <a:p>
            <a:r>
              <a:rPr lang="en-US" sz="1200" b="1" dirty="0"/>
              <a:t>Most of syntax in Python Derived from C and ABC languages. </a:t>
            </a:r>
            <a:endParaRPr kumimoji="0" lang="en-US" sz="1200" b="1" i="0" u="sng"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R="0" lvl="0" algn="l" defTabSz="914400" rtl="0" eaLnBrk="0" fontAlgn="base" latinLnBrk="0" hangingPunct="0">
              <a:lnSpc>
                <a:spcPct val="100000"/>
              </a:lnSpc>
              <a:spcBef>
                <a:spcPct val="0"/>
              </a:spcBef>
              <a:spcAft>
                <a:spcPct val="0"/>
              </a:spcAft>
              <a:buClrTx/>
              <a:buSzTx/>
              <a:tabLst>
                <a:tab pos="673100" algn="l"/>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3588355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971600" y="980728"/>
            <a:ext cx="5742384" cy="3693319"/>
          </a:xfrm>
          <a:prstGeom prst="rect">
            <a:avLst/>
          </a:prstGeom>
        </p:spPr>
        <p:txBody>
          <a:bodyPr wrap="square">
            <a:spAutoFit/>
          </a:bodyPr>
          <a:lstStyle/>
          <a:p>
            <a:r>
              <a:rPr lang="en-US" dirty="0"/>
              <a:t>We can use everywhere. The most common important application areas are</a:t>
            </a:r>
          </a:p>
          <a:p>
            <a:endParaRPr lang="en-US" dirty="0"/>
          </a:p>
          <a:p>
            <a:endParaRPr lang="en-US" dirty="0"/>
          </a:p>
          <a:p>
            <a:pPr marL="285750" indent="-285750">
              <a:buFont typeface="Wingdings" pitchFamily="2" charset="2"/>
              <a:buChar char="Ø"/>
            </a:pPr>
            <a:r>
              <a:rPr lang="en-US" dirty="0"/>
              <a:t>For developing Desktop Applications</a:t>
            </a:r>
          </a:p>
          <a:p>
            <a:pPr marL="285750" indent="-285750">
              <a:buFont typeface="Wingdings" pitchFamily="2" charset="2"/>
              <a:buChar char="Ø"/>
            </a:pPr>
            <a:r>
              <a:rPr lang="en-US" dirty="0"/>
              <a:t>For developing web Applications</a:t>
            </a:r>
          </a:p>
          <a:p>
            <a:pPr marL="285750" indent="-285750">
              <a:buFont typeface="Wingdings" pitchFamily="2" charset="2"/>
              <a:buChar char="Ø"/>
            </a:pPr>
            <a:r>
              <a:rPr lang="en-US" dirty="0"/>
              <a:t>For developing database Applications</a:t>
            </a:r>
          </a:p>
          <a:p>
            <a:pPr marL="285750" indent="-285750">
              <a:buFont typeface="Wingdings" pitchFamily="2" charset="2"/>
              <a:buChar char="Ø"/>
            </a:pPr>
            <a:r>
              <a:rPr lang="en-US" dirty="0"/>
              <a:t>For Network Programming</a:t>
            </a:r>
          </a:p>
          <a:p>
            <a:pPr marL="285750" indent="-285750">
              <a:buFont typeface="Wingdings" pitchFamily="2" charset="2"/>
              <a:buChar char="Ø"/>
            </a:pPr>
            <a:r>
              <a:rPr lang="en-US" dirty="0"/>
              <a:t>For developing games</a:t>
            </a:r>
          </a:p>
          <a:p>
            <a:pPr marL="285750" indent="-285750">
              <a:buFont typeface="Wingdings" pitchFamily="2" charset="2"/>
              <a:buChar char="Ø"/>
            </a:pPr>
            <a:r>
              <a:rPr lang="en-US" dirty="0"/>
              <a:t>For Data Analysis Applications</a:t>
            </a:r>
          </a:p>
          <a:p>
            <a:pPr marL="285750" indent="-285750">
              <a:buFont typeface="Wingdings" pitchFamily="2" charset="2"/>
              <a:buChar char="Ø"/>
            </a:pPr>
            <a:r>
              <a:rPr lang="en-US" dirty="0"/>
              <a:t>For Machine Learning</a:t>
            </a:r>
          </a:p>
          <a:p>
            <a:pPr marL="285750" indent="-285750">
              <a:buFont typeface="Wingdings" pitchFamily="2" charset="2"/>
              <a:buChar char="Ø"/>
            </a:pPr>
            <a:r>
              <a:rPr lang="en-US" dirty="0"/>
              <a:t>For developing Artificial Intelligence Applications</a:t>
            </a:r>
          </a:p>
          <a:p>
            <a:pPr marL="285750" indent="-285750">
              <a:buFont typeface="Wingdings" pitchFamily="2" charset="2"/>
              <a:buChar char="Ø"/>
            </a:pPr>
            <a:r>
              <a:rPr lang="en-US" dirty="0"/>
              <a:t>For IOT</a:t>
            </a:r>
          </a:p>
        </p:txBody>
      </p:sp>
      <p:sp>
        <p:nvSpPr>
          <p:cNvPr id="3" name="Rectangle 2"/>
          <p:cNvSpPr/>
          <p:nvPr/>
        </p:nvSpPr>
        <p:spPr>
          <a:xfrm>
            <a:off x="2461902" y="404664"/>
            <a:ext cx="2582758" cy="369332"/>
          </a:xfrm>
          <a:prstGeom prst="rect">
            <a:avLst/>
          </a:prstGeom>
        </p:spPr>
        <p:txBody>
          <a:bodyPr wrap="none">
            <a:spAutoFit/>
          </a:bodyPr>
          <a:lstStyle/>
          <a:p>
            <a:r>
              <a:rPr lang="en-US" dirty="0">
                <a:latin typeface="Times New Roman" pitchFamily="18" charset="0"/>
                <a:cs typeface="Times New Roman" pitchFamily="18" charset="0"/>
              </a:rPr>
              <a:t>Where we can use Python</a:t>
            </a:r>
          </a:p>
        </p:txBody>
      </p:sp>
      <p:sp>
        <p:nvSpPr>
          <p:cNvPr id="4" name="Rectangle 3"/>
          <p:cNvSpPr/>
          <p:nvPr/>
        </p:nvSpPr>
        <p:spPr>
          <a:xfrm>
            <a:off x="827584" y="4725144"/>
            <a:ext cx="7632848" cy="1200329"/>
          </a:xfrm>
          <a:prstGeom prst="rect">
            <a:avLst/>
          </a:prstGeom>
        </p:spPr>
        <p:txBody>
          <a:bodyPr wrap="square">
            <a:spAutoFit/>
          </a:bodyPr>
          <a:lstStyle/>
          <a:p>
            <a:r>
              <a:rPr lang="en-US" b="1" u="heavy" dirty="0"/>
              <a:t>Note:</a:t>
            </a:r>
            <a:endParaRPr lang="en-IN" dirty="0"/>
          </a:p>
          <a:p>
            <a:r>
              <a:rPr lang="en-US" b="1" dirty="0"/>
              <a:t>Internally Google and </a:t>
            </a:r>
            <a:r>
              <a:rPr lang="en-US" b="1" dirty="0" err="1"/>
              <a:t>Youtube</a:t>
            </a:r>
            <a:r>
              <a:rPr lang="en-US" b="1" dirty="0"/>
              <a:t> use Python coding</a:t>
            </a:r>
            <a:endParaRPr lang="en-IN" dirty="0"/>
          </a:p>
          <a:p>
            <a:r>
              <a:rPr lang="en-US" b="1" dirty="0"/>
              <a:t>NASA and </a:t>
            </a:r>
            <a:r>
              <a:rPr lang="en-US" b="1" dirty="0" err="1"/>
              <a:t>Nework</a:t>
            </a:r>
            <a:r>
              <a:rPr lang="en-US" b="1" dirty="0"/>
              <a:t> Stock Exchange Applications developed by Python. Top Software companies like Google, Microsoft, IBM, Yahoo using Python. </a:t>
            </a:r>
            <a:endParaRPr lang="en-IN" dirty="0"/>
          </a:p>
        </p:txBody>
      </p:sp>
    </p:spTree>
    <p:extLst>
      <p:ext uri="{BB962C8B-B14F-4D97-AF65-F5344CB8AC3E}">
        <p14:creationId xmlns:p14="http://schemas.microsoft.com/office/powerpoint/2010/main" val="2316908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99592" y="476672"/>
            <a:ext cx="4572000" cy="923330"/>
          </a:xfrm>
          <a:prstGeom prst="rect">
            <a:avLst/>
          </a:prstGeom>
        </p:spPr>
        <p:txBody>
          <a:bodyPr>
            <a:spAutoFit/>
          </a:bodyPr>
          <a:lstStyle/>
          <a:p>
            <a:pPr lvl="0"/>
            <a:r>
              <a:rPr lang="en-US" b="1" u="heavy" dirty="0"/>
              <a:t>Eg1:</a:t>
            </a:r>
            <a:r>
              <a:rPr lang="en-US" b="1" dirty="0"/>
              <a:t> To print </a:t>
            </a:r>
            <a:r>
              <a:rPr lang="en-US" b="1" dirty="0" err="1"/>
              <a:t>Helloworld</a:t>
            </a:r>
            <a:r>
              <a:rPr lang="en-US" b="1" dirty="0"/>
              <a:t>:</a:t>
            </a:r>
            <a:endParaRPr lang="en-IN" dirty="0"/>
          </a:p>
          <a:p>
            <a:r>
              <a:rPr lang="en-US" b="1" u="heavy" dirty="0"/>
              <a:t>Python:</a:t>
            </a:r>
            <a:endParaRPr lang="en-IN" dirty="0"/>
          </a:p>
          <a:p>
            <a:r>
              <a:rPr lang="en-US" b="1" dirty="0"/>
              <a:t>print("Hello World")</a:t>
            </a:r>
            <a:endParaRPr lang="en-IN" dirty="0"/>
          </a:p>
        </p:txBody>
      </p:sp>
      <p:sp>
        <p:nvSpPr>
          <p:cNvPr id="7" name="Rectangle 6"/>
          <p:cNvSpPr/>
          <p:nvPr/>
        </p:nvSpPr>
        <p:spPr>
          <a:xfrm>
            <a:off x="933007" y="1628800"/>
            <a:ext cx="3569375" cy="369332"/>
          </a:xfrm>
          <a:prstGeom prst="rect">
            <a:avLst/>
          </a:prstGeom>
        </p:spPr>
        <p:txBody>
          <a:bodyPr wrap="none">
            <a:spAutoFit/>
          </a:bodyPr>
          <a:lstStyle/>
          <a:p>
            <a:r>
              <a:rPr lang="en-US" b="1" u="heavy" dirty="0"/>
              <a:t>Eg2:</a:t>
            </a:r>
            <a:r>
              <a:rPr lang="en-US" b="1" dirty="0"/>
              <a:t> To print the sum of 2 numbers </a:t>
            </a:r>
            <a:endParaRPr lang="en-IN" dirty="0"/>
          </a:p>
        </p:txBody>
      </p:sp>
      <p:graphicFrame>
        <p:nvGraphicFramePr>
          <p:cNvPr id="9" name="Table 8"/>
          <p:cNvGraphicFramePr>
            <a:graphicFrameLocks noGrp="1"/>
          </p:cNvGraphicFramePr>
          <p:nvPr>
            <p:extLst>
              <p:ext uri="{D42A27DB-BD31-4B8C-83A1-F6EECF244321}">
                <p14:modId xmlns:p14="http://schemas.microsoft.com/office/powerpoint/2010/main" val="3562635987"/>
              </p:ext>
            </p:extLst>
          </p:nvPr>
        </p:nvGraphicFramePr>
        <p:xfrm>
          <a:off x="1187624" y="2132856"/>
          <a:ext cx="5553075" cy="1440160"/>
        </p:xfrm>
        <a:graphic>
          <a:graphicData uri="http://schemas.openxmlformats.org/drawingml/2006/table">
            <a:tbl>
              <a:tblPr firstRow="1" firstCol="1" lastRow="1" lastCol="1" bandRow="1" bandCol="1"/>
              <a:tblGrid>
                <a:gridCol w="209550">
                  <a:extLst>
                    <a:ext uri="{9D8B030D-6E8A-4147-A177-3AD203B41FA5}">
                      <a16:colId xmlns:a16="http://schemas.microsoft.com/office/drawing/2014/main" val="20000"/>
                    </a:ext>
                  </a:extLst>
                </a:gridCol>
                <a:gridCol w="5343525">
                  <a:extLst>
                    <a:ext uri="{9D8B030D-6E8A-4147-A177-3AD203B41FA5}">
                      <a16:colId xmlns:a16="http://schemas.microsoft.com/office/drawing/2014/main" val="20001"/>
                    </a:ext>
                  </a:extLst>
                </a:gridCol>
              </a:tblGrid>
              <a:tr h="477732">
                <a:tc>
                  <a:txBody>
                    <a:bodyPr/>
                    <a:lstStyle/>
                    <a:p>
                      <a:pPr marL="26035" marR="26035" algn="ctr">
                        <a:lnSpc>
                          <a:spcPts val="1140"/>
                        </a:lnSpc>
                        <a:spcAft>
                          <a:spcPts val="0"/>
                        </a:spcAft>
                      </a:pPr>
                      <a:r>
                        <a:rPr lang="en-US" sz="1000" b="1" dirty="0">
                          <a:solidFill>
                            <a:srgbClr val="5C5C5C"/>
                          </a:solidFill>
                          <a:effectLst/>
                          <a:latin typeface="Times New Roman"/>
                          <a:ea typeface="Calibri"/>
                          <a:cs typeface="Calibri"/>
                        </a:rPr>
                        <a:t>1)</a:t>
                      </a:r>
                      <a:endParaRPr lang="en-IN" sz="1100" dirty="0">
                        <a:effectLst/>
                        <a:latin typeface="Calibri"/>
                        <a:ea typeface="Calibri"/>
                        <a:cs typeface="Times New Roman"/>
                      </a:endParaRPr>
                    </a:p>
                  </a:txBody>
                  <a:tcPr marL="0" marR="0" marT="0" marB="0">
                    <a:lnL w="19050" cap="flat" cmpd="sng" algn="ctr">
                      <a:solidFill>
                        <a:srgbClr val="6CE06C"/>
                      </a:solidFill>
                      <a:prstDash val="solid"/>
                      <a:round/>
                      <a:headEnd type="none" w="med" len="med"/>
                      <a:tailEnd type="none" w="med" len="med"/>
                    </a:lnL>
                    <a:lnR>
                      <a:noFill/>
                    </a:lnR>
                    <a:lnT>
                      <a:noFill/>
                    </a:lnT>
                    <a:lnB>
                      <a:noFill/>
                    </a:lnB>
                  </a:tcPr>
                </a:tc>
                <a:tc>
                  <a:txBody>
                    <a:bodyPr/>
                    <a:lstStyle/>
                    <a:p>
                      <a:pPr marL="64135">
                        <a:lnSpc>
                          <a:spcPts val="1140"/>
                        </a:lnSpc>
                        <a:spcAft>
                          <a:spcPts val="0"/>
                        </a:spcAft>
                      </a:pPr>
                      <a:r>
                        <a:rPr lang="en-US" sz="1000" b="1" dirty="0">
                          <a:effectLst/>
                          <a:latin typeface="Times New Roman"/>
                          <a:ea typeface="Calibri"/>
                          <a:cs typeface="Calibri"/>
                        </a:rPr>
                        <a:t>a=10</a:t>
                      </a:r>
                      <a:endParaRPr lang="en-IN" sz="1100" dirty="0">
                        <a:effectLst/>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r h="481910">
                <a:tc>
                  <a:txBody>
                    <a:bodyPr/>
                    <a:lstStyle/>
                    <a:p>
                      <a:pPr marL="26035" marR="26035" algn="ctr">
                        <a:lnSpc>
                          <a:spcPts val="1145"/>
                        </a:lnSpc>
                        <a:spcAft>
                          <a:spcPts val="0"/>
                        </a:spcAft>
                      </a:pPr>
                      <a:r>
                        <a:rPr lang="en-US" sz="1000" b="1">
                          <a:solidFill>
                            <a:srgbClr val="5C5C5C"/>
                          </a:solidFill>
                          <a:effectLst/>
                          <a:latin typeface="Times New Roman"/>
                          <a:ea typeface="Calibri"/>
                          <a:cs typeface="Calibri"/>
                        </a:rPr>
                        <a:t>2)</a:t>
                      </a:r>
                      <a:endParaRPr lang="en-IN" sz="1100">
                        <a:effectLst/>
                        <a:latin typeface="Calibri"/>
                        <a:ea typeface="Calibri"/>
                        <a:cs typeface="Times New Roman"/>
                      </a:endParaRPr>
                    </a:p>
                  </a:txBody>
                  <a:tcPr marL="0" marR="0" marT="0" marB="0">
                    <a:lnL w="19050" cap="flat" cmpd="sng" algn="ctr">
                      <a:solidFill>
                        <a:srgbClr val="6CE06C"/>
                      </a:solidFill>
                      <a:prstDash val="solid"/>
                      <a:round/>
                      <a:headEnd type="none" w="med" len="med"/>
                      <a:tailEnd type="none" w="med" len="med"/>
                    </a:lnL>
                    <a:lnR>
                      <a:noFill/>
                    </a:lnR>
                    <a:lnT>
                      <a:noFill/>
                    </a:lnT>
                    <a:lnB>
                      <a:noFill/>
                    </a:lnB>
                    <a:solidFill>
                      <a:srgbClr val="F8F8F8"/>
                    </a:solidFill>
                  </a:tcPr>
                </a:tc>
                <a:tc>
                  <a:txBody>
                    <a:bodyPr/>
                    <a:lstStyle/>
                    <a:p>
                      <a:pPr marL="64135">
                        <a:lnSpc>
                          <a:spcPts val="1145"/>
                        </a:lnSpc>
                        <a:spcAft>
                          <a:spcPts val="0"/>
                        </a:spcAft>
                      </a:pPr>
                      <a:r>
                        <a:rPr lang="en-US" sz="1000" b="1" dirty="0">
                          <a:effectLst/>
                          <a:latin typeface="Times New Roman"/>
                          <a:ea typeface="Calibri"/>
                          <a:cs typeface="Calibri"/>
                        </a:rPr>
                        <a:t>b=20</a:t>
                      </a:r>
                      <a:endParaRPr lang="en-IN" sz="1100" dirty="0">
                        <a:effectLst/>
                        <a:latin typeface="Calibri"/>
                        <a:ea typeface="Calibri"/>
                        <a:cs typeface="Times New Roman"/>
                      </a:endParaRPr>
                    </a:p>
                  </a:txBody>
                  <a:tcPr marL="0" marR="0" marT="0" marB="0">
                    <a:lnL>
                      <a:noFill/>
                    </a:lnL>
                    <a:lnR>
                      <a:noFill/>
                    </a:lnR>
                    <a:lnT>
                      <a:noFill/>
                    </a:lnT>
                    <a:lnB>
                      <a:noFill/>
                    </a:lnB>
                    <a:solidFill>
                      <a:srgbClr val="F8F8F8"/>
                    </a:solidFill>
                  </a:tcPr>
                </a:tc>
                <a:extLst>
                  <a:ext uri="{0D108BD9-81ED-4DB2-BD59-A6C34878D82A}">
                    <a16:rowId xmlns:a16="http://schemas.microsoft.com/office/drawing/2014/main" val="10001"/>
                  </a:ext>
                </a:extLst>
              </a:tr>
              <a:tr h="480518">
                <a:tc>
                  <a:txBody>
                    <a:bodyPr/>
                    <a:lstStyle/>
                    <a:p>
                      <a:pPr marL="26035" marR="26035" algn="ctr">
                        <a:lnSpc>
                          <a:spcPts val="1140"/>
                        </a:lnSpc>
                        <a:spcAft>
                          <a:spcPts val="0"/>
                        </a:spcAft>
                      </a:pPr>
                      <a:r>
                        <a:rPr lang="en-US" sz="1000" b="1">
                          <a:solidFill>
                            <a:srgbClr val="5C5C5C"/>
                          </a:solidFill>
                          <a:effectLst/>
                          <a:latin typeface="Times New Roman"/>
                          <a:ea typeface="Calibri"/>
                          <a:cs typeface="Calibri"/>
                        </a:rPr>
                        <a:t>3)</a:t>
                      </a:r>
                      <a:endParaRPr lang="en-IN" sz="1100">
                        <a:effectLst/>
                        <a:latin typeface="Calibri"/>
                        <a:ea typeface="Calibri"/>
                        <a:cs typeface="Times New Roman"/>
                      </a:endParaRPr>
                    </a:p>
                  </a:txBody>
                  <a:tcPr marL="0" marR="0" marT="0" marB="0">
                    <a:lnL w="19050" cap="flat" cmpd="sng" algn="ctr">
                      <a:solidFill>
                        <a:srgbClr val="6CE06C"/>
                      </a:solidFill>
                      <a:prstDash val="solid"/>
                      <a:round/>
                      <a:headEnd type="none" w="med" len="med"/>
                      <a:tailEnd type="none" w="med" len="med"/>
                    </a:lnL>
                    <a:lnR>
                      <a:noFill/>
                    </a:lnR>
                    <a:lnT>
                      <a:noFill/>
                    </a:lnT>
                    <a:lnB>
                      <a:noFill/>
                    </a:lnB>
                  </a:tcPr>
                </a:tc>
                <a:tc>
                  <a:txBody>
                    <a:bodyPr/>
                    <a:lstStyle/>
                    <a:p>
                      <a:pPr marL="64135">
                        <a:lnSpc>
                          <a:spcPts val="1140"/>
                        </a:lnSpc>
                        <a:spcAft>
                          <a:spcPts val="0"/>
                        </a:spcAft>
                      </a:pPr>
                      <a:r>
                        <a:rPr lang="en-US" sz="1000" b="1" dirty="0">
                          <a:solidFill>
                            <a:srgbClr val="006699"/>
                          </a:solidFill>
                          <a:effectLst/>
                          <a:latin typeface="Times New Roman"/>
                          <a:ea typeface="Calibri"/>
                          <a:cs typeface="Calibri"/>
                        </a:rPr>
                        <a:t>print</a:t>
                      </a:r>
                      <a:r>
                        <a:rPr lang="en-US" sz="1000" b="1" dirty="0">
                          <a:effectLst/>
                          <a:latin typeface="Times New Roman"/>
                          <a:ea typeface="Calibri"/>
                          <a:cs typeface="Calibri"/>
                        </a:rPr>
                        <a:t>(</a:t>
                      </a:r>
                      <a:r>
                        <a:rPr lang="en-US" sz="1000" b="1" dirty="0">
                          <a:solidFill>
                            <a:srgbClr val="0000FF"/>
                          </a:solidFill>
                          <a:effectLst/>
                          <a:latin typeface="Times New Roman"/>
                          <a:ea typeface="Calibri"/>
                          <a:cs typeface="Calibri"/>
                        </a:rPr>
                        <a:t>"The Sum:"</a:t>
                      </a:r>
                      <a:r>
                        <a:rPr lang="en-US" sz="1000" b="1" dirty="0">
                          <a:effectLst/>
                          <a:latin typeface="Times New Roman"/>
                          <a:ea typeface="Calibri"/>
                          <a:cs typeface="Calibri"/>
                        </a:rPr>
                        <a:t>,(</a:t>
                      </a:r>
                      <a:r>
                        <a:rPr lang="en-US" sz="1000" b="1" dirty="0" err="1">
                          <a:effectLst/>
                          <a:latin typeface="Times New Roman"/>
                          <a:ea typeface="Calibri"/>
                          <a:cs typeface="Calibri"/>
                        </a:rPr>
                        <a:t>a+b</a:t>
                      </a:r>
                      <a:r>
                        <a:rPr lang="en-US" sz="1000" b="1" dirty="0">
                          <a:effectLst/>
                          <a:latin typeface="Times New Roman"/>
                          <a:ea typeface="Calibri"/>
                          <a:cs typeface="Calibri"/>
                        </a:rPr>
                        <a:t>))</a:t>
                      </a:r>
                      <a:endParaRPr lang="en-IN" sz="1100" dirty="0">
                        <a:effectLst/>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92806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260648"/>
            <a:ext cx="2056525" cy="369332"/>
          </a:xfrm>
          <a:prstGeom prst="rect">
            <a:avLst/>
          </a:prstGeom>
        </p:spPr>
        <p:txBody>
          <a:bodyPr wrap="none">
            <a:spAutoFit/>
          </a:bodyPr>
          <a:lstStyle/>
          <a:p>
            <a:r>
              <a:rPr lang="en-US" b="1" u="heavy" dirty="0"/>
              <a:t>Features of Python:</a:t>
            </a:r>
            <a:endParaRPr lang="en-IN" dirty="0"/>
          </a:p>
        </p:txBody>
      </p:sp>
      <p:sp>
        <p:nvSpPr>
          <p:cNvPr id="3" name="Rectangle 2"/>
          <p:cNvSpPr/>
          <p:nvPr/>
        </p:nvSpPr>
        <p:spPr>
          <a:xfrm>
            <a:off x="1259047" y="836712"/>
            <a:ext cx="4914294" cy="3416320"/>
          </a:xfrm>
          <a:prstGeom prst="rect">
            <a:avLst/>
          </a:prstGeom>
        </p:spPr>
        <p:txBody>
          <a:bodyPr wrap="none">
            <a:spAutoFit/>
          </a:bodyPr>
          <a:lstStyle/>
          <a:p>
            <a:pPr marL="342900" lvl="0" indent="-342900">
              <a:buAutoNum type="arabicPeriod"/>
            </a:pPr>
            <a:r>
              <a:rPr lang="en-US" dirty="0"/>
              <a:t>Simple and easy to learn</a:t>
            </a:r>
          </a:p>
          <a:p>
            <a:pPr marL="342900" lvl="0" indent="-342900">
              <a:buAutoNum type="arabicPeriod"/>
            </a:pPr>
            <a:r>
              <a:rPr lang="en-US" dirty="0"/>
              <a:t>Freeware and Open Source</a:t>
            </a:r>
          </a:p>
          <a:p>
            <a:pPr marL="342900" lvl="0" indent="-342900">
              <a:buAutoNum type="arabicPeriod"/>
            </a:pPr>
            <a:r>
              <a:rPr lang="en-US" dirty="0"/>
              <a:t>high level programming  </a:t>
            </a:r>
          </a:p>
          <a:p>
            <a:pPr marL="342900" lvl="0" indent="-342900">
              <a:buAutoNum type="arabicPeriod"/>
            </a:pPr>
            <a:r>
              <a:rPr lang="en-US" dirty="0"/>
              <a:t>Platform Independent</a:t>
            </a:r>
          </a:p>
          <a:p>
            <a:pPr marL="342900" lvl="0" indent="-342900">
              <a:buAutoNum type="arabicPeriod"/>
            </a:pPr>
            <a:r>
              <a:rPr lang="en-US" dirty="0"/>
              <a:t>Portability</a:t>
            </a:r>
          </a:p>
          <a:p>
            <a:pPr marL="342900" indent="-342900">
              <a:buFontTx/>
              <a:buAutoNum type="arabicPeriod"/>
            </a:pPr>
            <a:r>
              <a:rPr lang="en-US" dirty="0"/>
              <a:t>Dynamically Typed</a:t>
            </a:r>
          </a:p>
          <a:p>
            <a:pPr marL="342900" indent="-342900">
              <a:buFontTx/>
              <a:buAutoNum type="arabicPeriod"/>
            </a:pPr>
            <a:r>
              <a:rPr lang="en-US" dirty="0"/>
              <a:t>Both Procedure Oriented and Object Oriented</a:t>
            </a:r>
          </a:p>
          <a:p>
            <a:pPr marL="342900" lvl="0" indent="-342900">
              <a:buFontTx/>
              <a:buAutoNum type="arabicPeriod"/>
            </a:pPr>
            <a:r>
              <a:rPr lang="en-US" dirty="0"/>
              <a:t>Interpreted:</a:t>
            </a:r>
            <a:endParaRPr lang="en-IN" dirty="0"/>
          </a:p>
          <a:p>
            <a:pPr marL="342900" indent="-342900">
              <a:buFontTx/>
              <a:buAutoNum type="arabicPeriod"/>
            </a:pPr>
            <a:r>
              <a:rPr lang="en-US" dirty="0"/>
              <a:t>Extensible</a:t>
            </a:r>
          </a:p>
          <a:p>
            <a:pPr marL="342900" indent="-342900">
              <a:buFontTx/>
              <a:buAutoNum type="arabicPeriod"/>
            </a:pPr>
            <a:r>
              <a:rPr lang="en-US" dirty="0"/>
              <a:t>Embedded</a:t>
            </a:r>
          </a:p>
          <a:p>
            <a:pPr marL="342900" indent="-342900">
              <a:buFontTx/>
              <a:buAutoNum type="arabicPeriod"/>
            </a:pPr>
            <a:r>
              <a:rPr lang="en-US" dirty="0"/>
              <a:t>Extensive Library</a:t>
            </a:r>
            <a:endParaRPr lang="en-IN" dirty="0"/>
          </a:p>
          <a:p>
            <a:pPr marL="342900" lvl="0" indent="-342900">
              <a:buAutoNum type="arabicPeriod"/>
            </a:pPr>
            <a:endParaRPr lang="en-IN" dirty="0"/>
          </a:p>
        </p:txBody>
      </p:sp>
      <p:sp>
        <p:nvSpPr>
          <p:cNvPr id="4" name="Rectangle 3"/>
          <p:cNvSpPr/>
          <p:nvPr/>
        </p:nvSpPr>
        <p:spPr>
          <a:xfrm>
            <a:off x="971600" y="4653136"/>
            <a:ext cx="7632848" cy="1200329"/>
          </a:xfrm>
          <a:prstGeom prst="rect">
            <a:avLst/>
          </a:prstGeom>
        </p:spPr>
        <p:txBody>
          <a:bodyPr wrap="square">
            <a:spAutoFit/>
          </a:bodyPr>
          <a:lstStyle/>
          <a:p>
            <a:r>
              <a:rPr lang="en-US" b="1" u="heavy" dirty="0"/>
              <a:t>Limitations of Python:</a:t>
            </a:r>
          </a:p>
          <a:p>
            <a:endParaRPr lang="en-IN" dirty="0"/>
          </a:p>
          <a:p>
            <a:pPr lvl="0"/>
            <a:r>
              <a:rPr lang="en-US" b="1" dirty="0"/>
              <a:t>Performance wise not up to the mark </a:t>
            </a:r>
            <a:r>
              <a:rPr lang="en-US" b="1" dirty="0" err="1"/>
              <a:t>b'z</a:t>
            </a:r>
            <a:r>
              <a:rPr lang="en-US" b="1" dirty="0"/>
              <a:t> it is interpreted language.</a:t>
            </a:r>
            <a:endParaRPr lang="en-IN" dirty="0"/>
          </a:p>
          <a:p>
            <a:pPr lvl="0"/>
            <a:r>
              <a:rPr lang="en-US" b="1" dirty="0"/>
              <a:t>Not using for mobile Applications</a:t>
            </a:r>
            <a:endParaRPr lang="en-IN" dirty="0"/>
          </a:p>
        </p:txBody>
      </p:sp>
    </p:spTree>
    <p:extLst>
      <p:ext uri="{BB962C8B-B14F-4D97-AF65-F5344CB8AC3E}">
        <p14:creationId xmlns:p14="http://schemas.microsoft.com/office/powerpoint/2010/main" val="3037854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1028343"/>
            <a:ext cx="7416824" cy="4247317"/>
          </a:xfrm>
          <a:prstGeom prst="rect">
            <a:avLst/>
          </a:prstGeom>
        </p:spPr>
        <p:txBody>
          <a:bodyPr wrap="square">
            <a:spAutoFit/>
          </a:bodyPr>
          <a:lstStyle/>
          <a:p>
            <a:r>
              <a:rPr lang="en-US" b="1" u="heavy" dirty="0"/>
              <a:t>Flavors of Python:</a:t>
            </a:r>
            <a:endParaRPr lang="en-IN" dirty="0"/>
          </a:p>
          <a:p>
            <a:pPr lvl="0"/>
            <a:r>
              <a:rPr lang="en-US" b="1" u="heavy" dirty="0" err="1"/>
              <a:t>CPython</a:t>
            </a:r>
            <a:r>
              <a:rPr lang="en-US" b="1" u="heavy" dirty="0"/>
              <a:t>:</a:t>
            </a:r>
            <a:endParaRPr lang="en-IN" u="heavy" dirty="0"/>
          </a:p>
          <a:p>
            <a:r>
              <a:rPr lang="en-US" b="1" dirty="0"/>
              <a:t>It is the standard flavor of Python. It can be used to work with C </a:t>
            </a:r>
            <a:r>
              <a:rPr lang="en-US" b="1" dirty="0" err="1"/>
              <a:t>lanugage</a:t>
            </a:r>
            <a:r>
              <a:rPr lang="en-US" b="1" dirty="0"/>
              <a:t> Applications</a:t>
            </a:r>
            <a:endParaRPr lang="en-IN" dirty="0"/>
          </a:p>
          <a:p>
            <a:pPr lvl="0"/>
            <a:r>
              <a:rPr lang="en-US" b="1" u="heavy" dirty="0" err="1"/>
              <a:t>Jython</a:t>
            </a:r>
            <a:r>
              <a:rPr lang="en-US" b="1" u="heavy" dirty="0"/>
              <a:t> or </a:t>
            </a:r>
            <a:r>
              <a:rPr lang="en-US" b="1" u="heavy" dirty="0" err="1"/>
              <a:t>JPython</a:t>
            </a:r>
            <a:r>
              <a:rPr lang="en-US" b="1" u="heavy" dirty="0"/>
              <a:t>:</a:t>
            </a:r>
            <a:endParaRPr lang="en-IN" u="heavy" dirty="0"/>
          </a:p>
          <a:p>
            <a:r>
              <a:rPr lang="en-US" b="1" dirty="0"/>
              <a:t>It is for Java Applications. It can run on JVM</a:t>
            </a:r>
            <a:endParaRPr lang="en-IN" dirty="0"/>
          </a:p>
          <a:p>
            <a:pPr lvl="0"/>
            <a:r>
              <a:rPr lang="en-US" b="1" u="heavy" dirty="0" err="1"/>
              <a:t>IronPython</a:t>
            </a:r>
            <a:r>
              <a:rPr lang="en-US" b="1" u="heavy" dirty="0"/>
              <a:t>:</a:t>
            </a:r>
            <a:endParaRPr lang="en-IN" u="heavy" dirty="0"/>
          </a:p>
          <a:p>
            <a:r>
              <a:rPr lang="en-US" b="1" dirty="0"/>
              <a:t>It is for </a:t>
            </a:r>
            <a:r>
              <a:rPr lang="en-US" b="1" dirty="0" err="1"/>
              <a:t>C#.Net</a:t>
            </a:r>
            <a:r>
              <a:rPr lang="en-US" b="1" dirty="0"/>
              <a:t> platform</a:t>
            </a:r>
            <a:endParaRPr lang="en-IN" dirty="0"/>
          </a:p>
          <a:p>
            <a:pPr lvl="0"/>
            <a:r>
              <a:rPr lang="en-US" b="1" u="heavy" dirty="0" err="1"/>
              <a:t>PyPy</a:t>
            </a:r>
            <a:r>
              <a:rPr lang="en-US" b="1" u="heavy" dirty="0"/>
              <a:t>:</a:t>
            </a:r>
            <a:endParaRPr lang="en-IN" u="heavy" dirty="0"/>
          </a:p>
          <a:p>
            <a:r>
              <a:rPr lang="en-US" b="1" dirty="0"/>
              <a:t>The main advantage of </a:t>
            </a:r>
            <a:r>
              <a:rPr lang="en-US" b="1" dirty="0" err="1"/>
              <a:t>PyPy</a:t>
            </a:r>
            <a:r>
              <a:rPr lang="en-US" b="1" dirty="0"/>
              <a:t> is performance will be improved because JIT compiler is available inside PVM.</a:t>
            </a:r>
            <a:endParaRPr lang="en-IN" dirty="0"/>
          </a:p>
          <a:p>
            <a:pPr lvl="0"/>
            <a:r>
              <a:rPr lang="en-US" b="1" u="heavy" dirty="0" err="1"/>
              <a:t>RubyPython</a:t>
            </a:r>
            <a:endParaRPr lang="en-IN" u="heavy" dirty="0"/>
          </a:p>
          <a:p>
            <a:r>
              <a:rPr lang="en-US" b="1" dirty="0"/>
              <a:t>For Ruby Platforms</a:t>
            </a:r>
            <a:endParaRPr lang="en-IN" dirty="0"/>
          </a:p>
          <a:p>
            <a:pPr lvl="0"/>
            <a:r>
              <a:rPr lang="en-US" b="1" u="heavy" dirty="0"/>
              <a:t>Anaconda Python</a:t>
            </a:r>
            <a:endParaRPr lang="en-IN" u="heavy" dirty="0"/>
          </a:p>
          <a:p>
            <a:r>
              <a:rPr lang="en-US" b="1" dirty="0"/>
              <a:t>It is specially designed for handling large volume of data processing.</a:t>
            </a:r>
            <a:endParaRPr lang="en-IN" dirty="0"/>
          </a:p>
        </p:txBody>
      </p:sp>
    </p:spTree>
    <p:extLst>
      <p:ext uri="{BB962C8B-B14F-4D97-AF65-F5344CB8AC3E}">
        <p14:creationId xmlns:p14="http://schemas.microsoft.com/office/powerpoint/2010/main" val="1103485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640" y="1412776"/>
            <a:ext cx="6696744" cy="2308324"/>
          </a:xfrm>
          <a:prstGeom prst="rect">
            <a:avLst/>
          </a:prstGeom>
        </p:spPr>
        <p:txBody>
          <a:bodyPr wrap="square">
            <a:spAutoFit/>
          </a:bodyPr>
          <a:lstStyle/>
          <a:p>
            <a:r>
              <a:rPr lang="en-US" b="1" u="heavy" dirty="0"/>
              <a:t>Python Versions:</a:t>
            </a:r>
            <a:endParaRPr lang="en-IN" dirty="0"/>
          </a:p>
          <a:p>
            <a:r>
              <a:rPr lang="en-US" b="1" dirty="0"/>
              <a:t>Python 1.0V introduced in Jan 1994 Python 2.0V introduced in October 2000 Python 3.0V introduced in December 2008</a:t>
            </a:r>
            <a:endParaRPr lang="en-IN" dirty="0"/>
          </a:p>
          <a:p>
            <a:r>
              <a:rPr lang="en-US" b="1" dirty="0"/>
              <a:t> </a:t>
            </a:r>
            <a:endParaRPr lang="en-IN" b="1" dirty="0"/>
          </a:p>
          <a:p>
            <a:r>
              <a:rPr lang="en-US" b="1" u="heavy" dirty="0"/>
              <a:t>Note:</a:t>
            </a:r>
            <a:r>
              <a:rPr lang="en-US" b="1" dirty="0"/>
              <a:t> Python 3 won't provide backward compatibility to Python2</a:t>
            </a:r>
            <a:endParaRPr lang="en-IN" dirty="0"/>
          </a:p>
          <a:p>
            <a:r>
              <a:rPr lang="en-US" b="1" dirty="0" err="1"/>
              <a:t>i.e</a:t>
            </a:r>
            <a:r>
              <a:rPr lang="en-US" b="1" dirty="0"/>
              <a:t> there is no guarantee that Python2 programs will run in Python3. Current versions</a:t>
            </a:r>
            <a:endParaRPr lang="en-IN" dirty="0"/>
          </a:p>
          <a:p>
            <a:r>
              <a:rPr lang="en-US" b="1" dirty="0"/>
              <a:t>Python 3.14.3	Python 2.7.13</a:t>
            </a:r>
            <a:endParaRPr lang="en-IN" dirty="0"/>
          </a:p>
        </p:txBody>
      </p:sp>
    </p:spTree>
    <p:extLst>
      <p:ext uri="{BB962C8B-B14F-4D97-AF65-F5344CB8AC3E}">
        <p14:creationId xmlns:p14="http://schemas.microsoft.com/office/powerpoint/2010/main" val="2665483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6633"/>
            <a:ext cx="8784976" cy="652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0094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575" y="488950"/>
            <a:ext cx="7307263" cy="587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0539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42844" y="119063"/>
            <a:ext cx="8643998" cy="661987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198822-6AAE-D018-1B5D-88CCF9CBE2A3}"/>
              </a:ext>
            </a:extLst>
          </p:cNvPr>
          <p:cNvPicPr>
            <a:picLocks noChangeAspect="1"/>
          </p:cNvPicPr>
          <p:nvPr/>
        </p:nvPicPr>
        <p:blipFill>
          <a:blip r:embed="rId2"/>
          <a:stretch>
            <a:fillRect/>
          </a:stretch>
        </p:blipFill>
        <p:spPr>
          <a:xfrm>
            <a:off x="0" y="297632"/>
            <a:ext cx="9144000" cy="6552728"/>
          </a:xfrm>
          <a:prstGeom prst="rect">
            <a:avLst/>
          </a:prstGeom>
        </p:spPr>
      </p:pic>
    </p:spTree>
    <p:extLst>
      <p:ext uri="{BB962C8B-B14F-4D97-AF65-F5344CB8AC3E}">
        <p14:creationId xmlns:p14="http://schemas.microsoft.com/office/powerpoint/2010/main" val="2809957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6FDAE0-C5F7-BDE1-E299-F15A780A0E7A}"/>
              </a:ext>
            </a:extLst>
          </p:cNvPr>
          <p:cNvPicPr>
            <a:picLocks noChangeAspect="1"/>
          </p:cNvPicPr>
          <p:nvPr/>
        </p:nvPicPr>
        <p:blipFill>
          <a:blip r:embed="rId2"/>
          <a:stretch>
            <a:fillRect/>
          </a:stretch>
        </p:blipFill>
        <p:spPr>
          <a:xfrm>
            <a:off x="387806" y="620688"/>
            <a:ext cx="8797538" cy="5904655"/>
          </a:xfrm>
          <a:prstGeom prst="rect">
            <a:avLst/>
          </a:prstGeom>
        </p:spPr>
      </p:pic>
    </p:spTree>
    <p:extLst>
      <p:ext uri="{BB962C8B-B14F-4D97-AF65-F5344CB8AC3E}">
        <p14:creationId xmlns:p14="http://schemas.microsoft.com/office/powerpoint/2010/main" val="2223875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2F8D7F-9F27-3FBE-DECD-A3A22BF701E9}"/>
              </a:ext>
            </a:extLst>
          </p:cNvPr>
          <p:cNvPicPr>
            <a:picLocks noChangeAspect="1"/>
          </p:cNvPicPr>
          <p:nvPr/>
        </p:nvPicPr>
        <p:blipFill>
          <a:blip r:embed="rId2"/>
          <a:stretch>
            <a:fillRect/>
          </a:stretch>
        </p:blipFill>
        <p:spPr>
          <a:xfrm>
            <a:off x="179512" y="548680"/>
            <a:ext cx="8094212" cy="4952752"/>
          </a:xfrm>
          <a:prstGeom prst="rect">
            <a:avLst/>
          </a:prstGeom>
        </p:spPr>
      </p:pic>
      <p:sp>
        <p:nvSpPr>
          <p:cNvPr id="4" name="TextBox 3">
            <a:extLst>
              <a:ext uri="{FF2B5EF4-FFF2-40B4-BE49-F238E27FC236}">
                <a16:creationId xmlns:a16="http://schemas.microsoft.com/office/drawing/2014/main" id="{DA2838B6-07E4-6D76-D565-9A7A0614DEBF}"/>
              </a:ext>
            </a:extLst>
          </p:cNvPr>
          <p:cNvSpPr txBox="1"/>
          <p:nvPr/>
        </p:nvSpPr>
        <p:spPr>
          <a:xfrm>
            <a:off x="899592" y="5623105"/>
            <a:ext cx="4572000" cy="1200329"/>
          </a:xfrm>
          <a:prstGeom prst="rect">
            <a:avLst/>
          </a:prstGeom>
          <a:noFill/>
        </p:spPr>
        <p:txBody>
          <a:bodyPr wrap="square">
            <a:spAutoFit/>
          </a:bodyPr>
          <a:lstStyle/>
          <a:p>
            <a:r>
              <a:rPr lang="en-IN" dirty="0"/>
              <a:t>a=10+1.5j</a:t>
            </a:r>
          </a:p>
          <a:p>
            <a:r>
              <a:rPr lang="en-IN" dirty="0"/>
              <a:t>b=20+2.5j</a:t>
            </a:r>
          </a:p>
          <a:p>
            <a:r>
              <a:rPr lang="en-IN" dirty="0"/>
              <a:t>c=</a:t>
            </a:r>
            <a:r>
              <a:rPr lang="en-IN" dirty="0" err="1"/>
              <a:t>a+b</a:t>
            </a:r>
            <a:endParaRPr lang="en-IN" dirty="0"/>
          </a:p>
          <a:p>
            <a:r>
              <a:rPr lang="en-IN" dirty="0"/>
              <a:t>print(c)</a:t>
            </a:r>
          </a:p>
        </p:txBody>
      </p:sp>
    </p:spTree>
    <p:extLst>
      <p:ext uri="{BB962C8B-B14F-4D97-AF65-F5344CB8AC3E}">
        <p14:creationId xmlns:p14="http://schemas.microsoft.com/office/powerpoint/2010/main" val="4285120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D2CA12-9556-F5A2-E70A-EB0B6921F1D3}"/>
              </a:ext>
            </a:extLst>
          </p:cNvPr>
          <p:cNvSpPr txBox="1"/>
          <p:nvPr/>
        </p:nvSpPr>
        <p:spPr>
          <a:xfrm>
            <a:off x="143508" y="764704"/>
            <a:ext cx="8856984" cy="5632311"/>
          </a:xfrm>
          <a:prstGeom prst="rect">
            <a:avLst/>
          </a:prstGeom>
          <a:noFill/>
        </p:spPr>
        <p:txBody>
          <a:bodyPr wrap="square">
            <a:spAutoFit/>
          </a:bodyPr>
          <a:lstStyle/>
          <a:p>
            <a:r>
              <a:rPr lang="en-US" b="0" i="0" dirty="0">
                <a:solidFill>
                  <a:srgbClr val="374151"/>
                </a:solidFill>
                <a:effectLst/>
                <a:latin typeface="Verdana" panose="020B0604030504040204" pitchFamily="34" charset="0"/>
              </a:rPr>
              <a:t>The </a:t>
            </a:r>
            <a:r>
              <a:rPr lang="en-US" b="1" i="0" dirty="0">
                <a:solidFill>
                  <a:srgbClr val="374151"/>
                </a:solidFill>
                <a:effectLst/>
                <a:latin typeface="Verdana" panose="020B0604030504040204" pitchFamily="34" charset="0"/>
              </a:rPr>
              <a:t>Python input() function</a:t>
            </a:r>
            <a:r>
              <a:rPr lang="en-US" b="0" i="0" dirty="0">
                <a:solidFill>
                  <a:srgbClr val="374151"/>
                </a:solidFill>
                <a:effectLst/>
                <a:latin typeface="Verdana" panose="020B0604030504040204" pitchFamily="34" charset="0"/>
              </a:rPr>
              <a:t> provides a way to accept input from the user. It holds the program's execution and waits for the user to provide the required input. You can also use the prompt parameter to display a custom message to the user before the input.</a:t>
            </a:r>
          </a:p>
          <a:p>
            <a:endParaRPr lang="en-US" dirty="0">
              <a:solidFill>
                <a:srgbClr val="374151"/>
              </a:solidFill>
              <a:latin typeface="Verdana" panose="020B0604030504040204" pitchFamily="34" charset="0"/>
            </a:endParaRPr>
          </a:p>
          <a:p>
            <a:r>
              <a:rPr lang="en-US" dirty="0"/>
              <a:t>The </a:t>
            </a:r>
            <a:r>
              <a:rPr lang="en-US" b="1" dirty="0"/>
              <a:t>input()</a:t>
            </a:r>
            <a:r>
              <a:rPr lang="en-US" dirty="0"/>
              <a:t> function is one of the commonly used </a:t>
            </a:r>
            <a:r>
              <a:rPr lang="en-US" b="1" dirty="0">
                <a:hlinkClick r:id="rId2"/>
              </a:rPr>
              <a:t>built-in functions</a:t>
            </a:r>
            <a:r>
              <a:rPr lang="en-US" dirty="0"/>
              <a:t>, and you can use this method directly without importing any </a:t>
            </a:r>
            <a:r>
              <a:rPr lang="en-US" b="1" dirty="0">
                <a:hlinkClick r:id="rId3"/>
              </a:rPr>
              <a:t>module</a:t>
            </a:r>
            <a:r>
              <a:rPr lang="en-US" dirty="0"/>
              <a:t>. It accepts any type of data but returns the given data in the string format.</a:t>
            </a:r>
          </a:p>
          <a:p>
            <a:endParaRPr lang="en-US" dirty="0"/>
          </a:p>
          <a:p>
            <a:r>
              <a:rPr lang="en-US" dirty="0"/>
              <a:t>There are some functions that are used with </a:t>
            </a:r>
            <a:r>
              <a:rPr lang="en-US" b="1" dirty="0"/>
              <a:t>input()</a:t>
            </a:r>
            <a:r>
              <a:rPr lang="en-US" dirty="0"/>
              <a:t> (such as </a:t>
            </a:r>
            <a:r>
              <a:rPr lang="en-US" b="1" dirty="0">
                <a:hlinkClick r:id="rId4"/>
              </a:rPr>
              <a:t>int()</a:t>
            </a:r>
            <a:r>
              <a:rPr lang="en-US" dirty="0"/>
              <a:t>, </a:t>
            </a:r>
            <a:r>
              <a:rPr lang="en-US" b="1" dirty="0">
                <a:hlinkClick r:id="rId5"/>
              </a:rPr>
              <a:t>float()</a:t>
            </a:r>
            <a:r>
              <a:rPr lang="en-US" dirty="0"/>
              <a:t>, etc.) to convert the given input in a specific type of format.</a:t>
            </a:r>
          </a:p>
          <a:p>
            <a:endParaRPr lang="en-US" dirty="0"/>
          </a:p>
          <a:p>
            <a:r>
              <a:rPr lang="en-US" dirty="0"/>
              <a:t>Syntax</a:t>
            </a:r>
          </a:p>
          <a:p>
            <a:r>
              <a:rPr lang="en-US" dirty="0"/>
              <a:t>Following is the syntax of the Python </a:t>
            </a:r>
            <a:r>
              <a:rPr lang="en-US" b="1" dirty="0"/>
              <a:t>input()</a:t>
            </a:r>
            <a:r>
              <a:rPr lang="en-US" dirty="0"/>
              <a:t> function −</a:t>
            </a:r>
          </a:p>
          <a:p>
            <a:br>
              <a:rPr lang="en-US" dirty="0"/>
            </a:br>
            <a:r>
              <a:rPr lang="en-IN" dirty="0"/>
              <a:t>input(message)</a:t>
            </a:r>
          </a:p>
          <a:p>
            <a:endParaRPr lang="en-IN" dirty="0"/>
          </a:p>
          <a:p>
            <a:r>
              <a:rPr lang="en-US" dirty="0"/>
              <a:t>Return Value</a:t>
            </a:r>
          </a:p>
          <a:p>
            <a:r>
              <a:rPr lang="en-US" dirty="0"/>
              <a:t>The Python </a:t>
            </a:r>
            <a:r>
              <a:rPr lang="en-US" b="1" dirty="0"/>
              <a:t>input()</a:t>
            </a:r>
            <a:r>
              <a:rPr lang="en-US" dirty="0"/>
              <a:t> function returns a String containing the user input.</a:t>
            </a:r>
          </a:p>
          <a:p>
            <a:endParaRPr lang="en-IN" dirty="0"/>
          </a:p>
        </p:txBody>
      </p:sp>
    </p:spTree>
    <p:extLst>
      <p:ext uri="{BB962C8B-B14F-4D97-AF65-F5344CB8AC3E}">
        <p14:creationId xmlns:p14="http://schemas.microsoft.com/office/powerpoint/2010/main" val="3098042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D3AD4C-D2F9-E657-9A4A-677B00BF5312}"/>
              </a:ext>
            </a:extLst>
          </p:cNvPr>
          <p:cNvSpPr txBox="1"/>
          <p:nvPr/>
        </p:nvSpPr>
        <p:spPr>
          <a:xfrm>
            <a:off x="611560" y="404664"/>
            <a:ext cx="6480720" cy="2308324"/>
          </a:xfrm>
          <a:prstGeom prst="rect">
            <a:avLst/>
          </a:prstGeom>
          <a:noFill/>
        </p:spPr>
        <p:txBody>
          <a:bodyPr wrap="square">
            <a:spAutoFit/>
          </a:bodyPr>
          <a:lstStyle/>
          <a:p>
            <a:r>
              <a:rPr lang="en-IN" dirty="0"/>
              <a:t>EX1: Source code</a:t>
            </a:r>
          </a:p>
          <a:p>
            <a:endParaRPr lang="en-IN" dirty="0"/>
          </a:p>
          <a:p>
            <a:r>
              <a:rPr lang="en-IN" dirty="0" err="1"/>
              <a:t>EnterOrgName</a:t>
            </a:r>
            <a:r>
              <a:rPr lang="en-IN" dirty="0"/>
              <a:t> = input("Enter your organisation name: ")</a:t>
            </a:r>
          </a:p>
          <a:p>
            <a:r>
              <a:rPr lang="en-IN" dirty="0"/>
              <a:t>print(</a:t>
            </a:r>
            <a:r>
              <a:rPr lang="en-IN" dirty="0" err="1"/>
              <a:t>f"Welcome</a:t>
            </a:r>
            <a:r>
              <a:rPr lang="en-IN" dirty="0"/>
              <a:t> to, {</a:t>
            </a:r>
            <a:r>
              <a:rPr lang="en-IN" dirty="0" err="1"/>
              <a:t>EnterOrgName</a:t>
            </a:r>
            <a:r>
              <a:rPr lang="en-IN" dirty="0"/>
              <a:t>}") </a:t>
            </a:r>
          </a:p>
          <a:p>
            <a:endParaRPr lang="en-IN" dirty="0"/>
          </a:p>
          <a:p>
            <a:r>
              <a:rPr lang="en-IN" dirty="0"/>
              <a:t>Output:</a:t>
            </a:r>
          </a:p>
          <a:p>
            <a:r>
              <a:rPr lang="en-US" dirty="0"/>
              <a:t>Enter your </a:t>
            </a:r>
            <a:r>
              <a:rPr lang="en-US" dirty="0" err="1"/>
              <a:t>organisation</a:t>
            </a:r>
            <a:r>
              <a:rPr lang="en-US" dirty="0"/>
              <a:t> name: </a:t>
            </a:r>
            <a:r>
              <a:rPr lang="en-US" dirty="0" err="1"/>
              <a:t>srisri</a:t>
            </a:r>
            <a:endParaRPr lang="en-US" dirty="0"/>
          </a:p>
          <a:p>
            <a:r>
              <a:rPr lang="en-US" dirty="0"/>
              <a:t>Welcome to, </a:t>
            </a:r>
            <a:r>
              <a:rPr lang="en-US" dirty="0" err="1"/>
              <a:t>srisri</a:t>
            </a:r>
            <a:endParaRPr lang="en-IN" dirty="0"/>
          </a:p>
        </p:txBody>
      </p:sp>
      <p:sp>
        <p:nvSpPr>
          <p:cNvPr id="5" name="TextBox 4">
            <a:extLst>
              <a:ext uri="{FF2B5EF4-FFF2-40B4-BE49-F238E27FC236}">
                <a16:creationId xmlns:a16="http://schemas.microsoft.com/office/drawing/2014/main" id="{BCB9B612-C9B9-62BE-B06D-0C3C68744F6C}"/>
              </a:ext>
            </a:extLst>
          </p:cNvPr>
          <p:cNvSpPr txBox="1"/>
          <p:nvPr/>
        </p:nvSpPr>
        <p:spPr>
          <a:xfrm>
            <a:off x="755576" y="3267850"/>
            <a:ext cx="5328592" cy="3416320"/>
          </a:xfrm>
          <a:prstGeom prst="rect">
            <a:avLst/>
          </a:prstGeom>
          <a:noFill/>
        </p:spPr>
        <p:txBody>
          <a:bodyPr wrap="square">
            <a:spAutoFit/>
          </a:bodyPr>
          <a:lstStyle/>
          <a:p>
            <a:r>
              <a:rPr lang="en-IN" dirty="0"/>
              <a:t>EX2: Source code</a:t>
            </a:r>
          </a:p>
          <a:p>
            <a:endParaRPr lang="en-IN" dirty="0"/>
          </a:p>
          <a:p>
            <a:r>
              <a:rPr lang="en-IN" dirty="0" err="1"/>
              <a:t>numOne</a:t>
            </a:r>
            <a:r>
              <a:rPr lang="en-IN" dirty="0"/>
              <a:t> = float(input("Enter first </a:t>
            </a:r>
            <a:r>
              <a:rPr lang="en-IN" dirty="0" err="1"/>
              <a:t>num</a:t>
            </a:r>
            <a:r>
              <a:rPr lang="en-IN" dirty="0"/>
              <a:t>: "))</a:t>
            </a:r>
          </a:p>
          <a:p>
            <a:r>
              <a:rPr lang="en-IN" dirty="0" err="1"/>
              <a:t>numTwo</a:t>
            </a:r>
            <a:r>
              <a:rPr lang="en-IN" dirty="0"/>
              <a:t> = int(input("Enter second </a:t>
            </a:r>
            <a:r>
              <a:rPr lang="en-IN" dirty="0" err="1"/>
              <a:t>num</a:t>
            </a:r>
            <a:r>
              <a:rPr lang="en-IN" dirty="0"/>
              <a:t>: "))</a:t>
            </a:r>
          </a:p>
          <a:p>
            <a:endParaRPr lang="en-IN" dirty="0"/>
          </a:p>
          <a:p>
            <a:r>
              <a:rPr lang="en-IN" dirty="0"/>
              <a:t>addition = </a:t>
            </a:r>
            <a:r>
              <a:rPr lang="en-IN" dirty="0" err="1"/>
              <a:t>numOne</a:t>
            </a:r>
            <a:r>
              <a:rPr lang="en-IN" dirty="0"/>
              <a:t> + </a:t>
            </a:r>
            <a:r>
              <a:rPr lang="en-IN" dirty="0" err="1"/>
              <a:t>numTwo</a:t>
            </a:r>
            <a:endParaRPr lang="en-IN" dirty="0"/>
          </a:p>
          <a:p>
            <a:r>
              <a:rPr lang="en-IN" dirty="0"/>
              <a:t>print(</a:t>
            </a:r>
            <a:r>
              <a:rPr lang="en-IN" dirty="0" err="1"/>
              <a:t>f"The</a:t>
            </a:r>
            <a:r>
              <a:rPr lang="en-IN" dirty="0"/>
              <a:t> sum of {</a:t>
            </a:r>
            <a:r>
              <a:rPr lang="en-IN" dirty="0" err="1"/>
              <a:t>numOne</a:t>
            </a:r>
            <a:r>
              <a:rPr lang="en-IN" dirty="0"/>
              <a:t>} and {</a:t>
            </a:r>
            <a:r>
              <a:rPr lang="en-IN" dirty="0" err="1"/>
              <a:t>numTwo</a:t>
            </a:r>
            <a:r>
              <a:rPr lang="en-IN" dirty="0"/>
              <a:t>} is {addition}")  </a:t>
            </a:r>
          </a:p>
          <a:p>
            <a:endParaRPr lang="en-IN" dirty="0"/>
          </a:p>
          <a:p>
            <a:r>
              <a:rPr lang="en-IN" dirty="0"/>
              <a:t>Output: </a:t>
            </a:r>
            <a:r>
              <a:rPr lang="en-US" dirty="0"/>
              <a:t>Enter first num: 5</a:t>
            </a:r>
          </a:p>
          <a:p>
            <a:r>
              <a:rPr lang="en-US" dirty="0"/>
              <a:t>Enter second num: 8</a:t>
            </a:r>
          </a:p>
          <a:p>
            <a:r>
              <a:rPr lang="en-US" dirty="0"/>
              <a:t>The sum of 5.0 and 8 is 13.0</a:t>
            </a:r>
            <a:endParaRPr lang="en-IN" dirty="0"/>
          </a:p>
        </p:txBody>
      </p:sp>
    </p:spTree>
    <p:extLst>
      <p:ext uri="{BB962C8B-B14F-4D97-AF65-F5344CB8AC3E}">
        <p14:creationId xmlns:p14="http://schemas.microsoft.com/office/powerpoint/2010/main" val="2122252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736</Words>
  <Application>Microsoft Office PowerPoint</Application>
  <PresentationFormat>On-screen Show (4:3)</PresentationFormat>
  <Paragraphs>121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srikanth kama</cp:lastModifiedBy>
  <cp:revision>13</cp:revision>
  <dcterms:created xsi:type="dcterms:W3CDTF">2026-03-17T05:43:45Z</dcterms:created>
  <dcterms:modified xsi:type="dcterms:W3CDTF">2026-03-24T12:54:37Z</dcterms:modified>
</cp:coreProperties>
</file>