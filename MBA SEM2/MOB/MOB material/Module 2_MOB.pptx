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995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-822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F1C1-5B88-4049-B50A-B9C7C98FEB2F}" type="datetimeFigureOut">
              <a:rPr lang="en-IN" smtClean="0"/>
              <a:pPr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59B4054-A1A6-4395-8562-AE291CB05373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506222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F1C1-5B88-4049-B50A-B9C7C98FEB2F}" type="datetimeFigureOut">
              <a:rPr lang="en-IN" smtClean="0"/>
              <a:pPr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4054-A1A6-4395-8562-AE291CB05373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777157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F1C1-5B88-4049-B50A-B9C7C98FEB2F}" type="datetimeFigureOut">
              <a:rPr lang="en-IN" smtClean="0"/>
              <a:pPr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4054-A1A6-4395-8562-AE291CB05373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641207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F1C1-5B88-4049-B50A-B9C7C98FEB2F}" type="datetimeFigureOut">
              <a:rPr lang="en-IN" smtClean="0"/>
              <a:pPr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4054-A1A6-4395-8562-AE291CB05373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80651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F1C1-5B88-4049-B50A-B9C7C98FEB2F}" type="datetimeFigureOut">
              <a:rPr lang="en-IN" smtClean="0"/>
              <a:pPr/>
              <a:t>16-03-2026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4054-A1A6-4395-8562-AE291CB05373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16132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F1C1-5B88-4049-B50A-B9C7C98FEB2F}" type="datetimeFigureOut">
              <a:rPr lang="en-IN" smtClean="0"/>
              <a:pPr/>
              <a:t>16-03-2026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4054-A1A6-4395-8562-AE291CB05373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284078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F1C1-5B88-4049-B50A-B9C7C98FEB2F}" type="datetimeFigureOut">
              <a:rPr lang="en-IN" smtClean="0"/>
              <a:pPr/>
              <a:t>16-03-2026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4054-A1A6-4395-8562-AE291CB0537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96648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F1C1-5B88-4049-B50A-B9C7C98FEB2F}" type="datetimeFigureOut">
              <a:rPr lang="en-IN" smtClean="0"/>
              <a:pPr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4054-A1A6-4395-8562-AE291CB05373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621879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FF4F1C1-5B88-4049-B50A-B9C7C98FEB2F}" type="datetimeFigureOut">
              <a:rPr lang="en-IN" smtClean="0"/>
              <a:pPr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4054-A1A6-4395-8562-AE291CB05373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994312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F1C1-5B88-4049-B50A-B9C7C98FEB2F}" type="datetimeFigureOut">
              <a:rPr lang="en-IN" smtClean="0"/>
              <a:pPr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4054-A1A6-4395-8562-AE291CB05373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229200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F1C1-5B88-4049-B50A-B9C7C98FEB2F}" type="datetimeFigureOut">
              <a:rPr lang="en-IN" smtClean="0"/>
              <a:pPr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4054-A1A6-4395-8562-AE291CB05373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624900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4F1C1-5B88-4049-B50A-B9C7C98FEB2F}" type="datetimeFigureOut">
              <a:rPr lang="en-IN" smtClean="0"/>
              <a:pPr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59B4054-A1A6-4395-8562-AE291CB05373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291067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3FB74A-E16E-62E1-7362-A33DFB1309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Introduction to </a:t>
            </a:r>
            <a:r>
              <a:rPr lang="en-US" b="1" dirty="0" err="1"/>
              <a:t>OrganiZational</a:t>
            </a:r>
            <a:r>
              <a:rPr lang="en-US" b="1" dirty="0"/>
              <a:t> Behavior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6175837-2AEC-0C76-220E-A7037A2ADA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/>
              <a:t>MODULE 2</a:t>
            </a:r>
            <a:endParaRPr lang="en-IN" sz="3000" b="1" dirty="0"/>
          </a:p>
        </p:txBody>
      </p:sp>
    </p:spTree>
    <p:extLst>
      <p:ext uri="{BB962C8B-B14F-4D97-AF65-F5344CB8AC3E}">
        <p14:creationId xmlns:p14="http://schemas.microsoft.com/office/powerpoint/2010/main" xmlns="" val="607685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1D2A16-8F9A-5476-EFDF-ACB8E92F6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behavior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D2ADF15-B74E-4885-72C4-AC8275567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584" y="1945394"/>
            <a:ext cx="10740422" cy="3450613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Behavior (OB) is 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systematic study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how individuals and groups act within organizations.</a:t>
            </a: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is: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Interdisciplinary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OB draws upon knowledge from behavioral sciences, including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psychology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(individual behavior),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sociology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(group dynamics),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anthropology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(organizational culture).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centric and Technical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It balances human needs (satisfaction, growth) with technical requirements (productivity, efficiency).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Approach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It applies a systematic, research-oriented approach to manage human resources rather than relying on common sense.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Action-oriented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The goal is to apply knowledge for better performance, leadership, and managing change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71220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FD307A-DA80-9113-B382-C110AF656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98BFB8-C358-72AE-29A0-C33DE8907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 Prasad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defined organizational behavior “it is the study of human knowledge related to elements of an organization such as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and external environment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social system, superior in technology and their flexibility to fit in the organization”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According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Stephen P Robins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“it is a systematic study within organization which is used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exhibit people attitude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their actions towards the work.”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Robbins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further elaborated his definition by saying “it studies the impact on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 of an individual or groups of individuals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the organization for the purpose to use the knowledge for the improvement of an organizational effectiveness.”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32403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99B789-1E87-352A-5940-C2F49E766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C0F4F9-D9CD-9790-1BAD-1C4B177C2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According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Clark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“Organizational behavior study means how an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or a group of individual act in the organization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Davis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defined organizational behavior as the overall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human behavior, structure of organization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their key elements i.e. technology, environment and shape.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Luthans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defines “OB is the combination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interaction and their interdependency between both of them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concluding all the definitions, it can be said that that OB covers all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areas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behavior in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individuals, group of individuals and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as a whole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52113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78C7E0-33E7-D6DD-CC74-D32AFC5D1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Nature of </a:t>
            </a:r>
            <a:r>
              <a:rPr lang="en-US" dirty="0" err="1"/>
              <a:t>ob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C1590F-37CC-D333-1945-702A22A3B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Separate Field of Study and Not a Discipline Only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Interdisciplinary Approach 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Applied Science -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theories, concepts, and principles from different disciplines to solve practical problems in organizations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Normative Science –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employees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how organization must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ought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Humanistic and Optimistic Approach 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deals with the thinking and feeling of human beings.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 System Approach -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approach is one that integrates all the variables, affecting organizational functioning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55334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B9C1AD-1F94-D38E-BDC0-676E9CC80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of </a:t>
            </a:r>
            <a:r>
              <a:rPr lang="en-US" dirty="0" err="1"/>
              <a:t>ob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0B7229-1F05-20FA-7120-6D41F76ED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personality on performance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motivation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Leadership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create effective teams and groups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different organizational structures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behaviours, attitude and learning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Perception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effective organization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design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B124D7D-923B-015E-E978-434C8B2AE92C}"/>
              </a:ext>
            </a:extLst>
          </p:cNvPr>
          <p:cNvSpPr txBox="1"/>
          <p:nvPr/>
        </p:nvSpPr>
        <p:spPr>
          <a:xfrm>
            <a:off x="6403260" y="1863705"/>
            <a:ext cx="6100916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culture on organizational behavior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of change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of conflict and stress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development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culture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Transactional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power and politics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design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emotions</a:t>
            </a:r>
          </a:p>
        </p:txBody>
      </p:sp>
    </p:spTree>
    <p:extLst>
      <p:ext uri="{BB962C8B-B14F-4D97-AF65-F5344CB8AC3E}">
        <p14:creationId xmlns:p14="http://schemas.microsoft.com/office/powerpoint/2010/main" xmlns="" val="2845826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4FF059-265B-4337-82A8-A00AA34A1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</a:t>
            </a:r>
            <a:r>
              <a:rPr lang="en-US" dirty="0" err="1"/>
              <a:t>ob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79BDF12-CD7E-B821-7D91-8F190E3D5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analyse different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 and potentialities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and develop the ethical values in an organisation,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analyse the potentialities towards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ways and means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conduct and organise the systems, methods and approaches for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 development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organisation,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(iii)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analyse the potentialities to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process, methods and approaches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formal and informal patterns of organisation and society,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(iv)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analyse how to make perspective methods and process of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communication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formulate ethical norms in an organisation,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analyse various aspects and factors affecting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cohesiveness</a:t>
            </a:r>
          </a:p>
        </p:txBody>
      </p:sp>
    </p:spTree>
    <p:extLst>
      <p:ext uri="{BB962C8B-B14F-4D97-AF65-F5344CB8AC3E}">
        <p14:creationId xmlns:p14="http://schemas.microsoft.com/office/powerpoint/2010/main" xmlns="" val="4280389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973CBD-4123-F1D6-A207-602C1C455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</a:t>
            </a:r>
            <a:r>
              <a:rPr lang="en-US" dirty="0" err="1"/>
              <a:t>ob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91799A-7326-EF5E-F5C4-EAAC8DBFF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(vi)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analyse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ways and means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different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aspects for group dynamism,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(vii)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analyse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interest of individual and group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Mutual interest is represented by the statement ‘Organisation needs people, and people also need organisation’,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(viii)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analyse and evaluate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different key elements like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people, structure, technology interactive behaviour and environment etc.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(ix)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analyse and evaluate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behavioural approaches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organisation. In context of that all of them are based on ‘Art’ and ‘Science’,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57853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E9879B-4228-2BD1-DD0B-0AB9A2977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</a:t>
            </a:r>
            <a:r>
              <a:rPr lang="en-US" dirty="0" err="1"/>
              <a:t>ob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6772D1A-9DA5-91D3-58CA-1FDBE0D23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Sustainable Competitive Advantage –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Ex. Lata Mangeshkar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Component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Introvert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person (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psychometric test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Group/Team Component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Two groups with varied performance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Organisational Component -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Hartals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Leadership Component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Forces Component</a:t>
            </a: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72532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687A07-583D-F97D-450B-552229AA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Basic Units of Analysis of OB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0C341DC-9443-0ED3-8BBD-B05559FB4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Organizational </a:t>
            </a:r>
            <a:r>
              <a:rPr lang="en-US" dirty="0"/>
              <a:t>Behavior studies behavior in organizations at </a:t>
            </a:r>
            <a:r>
              <a:rPr lang="en-US" b="1" dirty="0"/>
              <a:t>three main levels or units of analysis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These </a:t>
            </a:r>
            <a:r>
              <a:rPr lang="en-US" dirty="0"/>
              <a:t>levels help managers understand how individuals and groups behave within an organization.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921634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8A545B-E073-9EBC-B994-B8F26B101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Basic Units of Analysis of OB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FD1525-0FBB-86D8-BE93-D3544DDBE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Individual Level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level focuses on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 of individual employees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organization. It studies how personal factors influence performance and behavior.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aspects include: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Personality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Attitudes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Perception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individual behavior helps managers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job satisfaction, productivity, and employee development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85500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06F7C2-89CC-C8A8-3869-61DC101D3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Basic Units of Analysis of OB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BF764CC-9433-3280-35AE-F7FC8828F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Group Level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level studies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 of people working in groups or teams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Since most organizational tasks are performed collectively, understanding group dynamics is important.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aspects include: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Teamwork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Leadership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norms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 management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Studying group behavior helps organizations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effective teams and improve coordination among employees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39595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8396AE-5668-8087-394E-02CB09050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Basic Units of Analysis of OB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9EE495-DADA-E3D0-1044-34706039A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Organizational Level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level examines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as a whole system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focuses on how structure, culture, and policies influence employee behavior and organizational performance.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aspects include: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culture</a:t>
            </a:r>
          </a:p>
          <a:p>
            <a:pPr lvl="1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structure</a:t>
            </a:r>
          </a:p>
          <a:p>
            <a:pPr lvl="1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management</a:t>
            </a:r>
          </a:p>
          <a:p>
            <a:pPr lvl="1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policies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this level helps organizations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efficiency, adaptability, and overall performance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83318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5779B3-59CA-F796-315E-0B660BB7C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Elements of Organizational Behavior</a:t>
            </a:r>
            <a:endParaRPr lang="en-IN" dirty="0"/>
          </a:p>
        </p:txBody>
      </p:sp>
      <p:pic>
        <p:nvPicPr>
          <p:cNvPr id="1026" name="Picture 2" descr="Key Elements of Organisational Behaviour">
            <a:extLst>
              <a:ext uri="{FF2B5EF4-FFF2-40B4-BE49-F238E27FC236}">
                <a16:creationId xmlns:a16="http://schemas.microsoft.com/office/drawing/2014/main" xmlns="" id="{E2164E71-78B4-6E73-FE2B-BADD1129E4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95171" y="2016125"/>
            <a:ext cx="6515982" cy="344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212423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CC3822-325B-0920-7480-3FCB1FCE5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Elements of Organizational Behavior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5C2707C-0FD2-FE03-F75B-954D7A785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13120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AutoNum type="arabicParenR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serve as the backbone of any organization, and understanding human behavior is crucial for effective leadership and Business Management.</a:t>
            </a:r>
          </a:p>
          <a:p>
            <a:pPr marL="342900" indent="-342900" algn="just">
              <a:buAutoNum type="arabicParenR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structure of an organization establishes its formal structure and defines the roles, responsibilities, and relationships among its members. </a:t>
            </a:r>
          </a:p>
          <a:p>
            <a:pPr lvl="2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Departmentalization</a:t>
            </a:r>
          </a:p>
          <a:p>
            <a:pPr lvl="2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authority delegation</a:t>
            </a:r>
          </a:p>
          <a:p>
            <a:pPr lvl="2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of control, and </a:t>
            </a:r>
          </a:p>
          <a:p>
            <a:pPr lvl="2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centralization of decision-making are all included in this structure.  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arenR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take advantage of technological advancements to gain a competitive edge by understanding how they affect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making suitable changes.</a:t>
            </a:r>
          </a:p>
          <a:p>
            <a:pPr marL="342900" indent="-342900" algn="just">
              <a:buAutoNum type="arabicParenR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organisational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 encompasses internal and external factors impacting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decision-making. </a:t>
            </a:r>
          </a:p>
          <a:p>
            <a:pPr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Internally, it includes culture, values, and policies, while </a:t>
            </a:r>
          </a:p>
          <a:p>
            <a:pPr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externally, it involves economic, social, and technical changes. Managers can navigate these dynamics by thoroughly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organisation's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environment.</a:t>
            </a:r>
          </a:p>
        </p:txBody>
      </p:sp>
    </p:spTree>
    <p:extLst>
      <p:ext uri="{BB962C8B-B14F-4D97-AF65-F5344CB8AC3E}">
        <p14:creationId xmlns:p14="http://schemas.microsoft.com/office/powerpoint/2010/main" xmlns="" val="22944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6A052D-BFEF-8BE5-CCF1-74DDDF868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 and Systematic Study in OB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C8AB011A-5891-BC90-4525-F53DA8D88E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1516" y="1853754"/>
            <a:ext cx="7504792" cy="419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9030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240877-B677-3C23-DB57-C625D30F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 and Systematic Study in OB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1AD181C0-56C4-BCB6-CF96-DF7B390E9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0009" y="1944322"/>
            <a:ext cx="7819229" cy="411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21509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567FBE-4614-3BF6-5382-8BD9B2CAD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Difference Between Intuition and Systematic Study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2FBB77B1-A765-A92D-04B0-0A8476712A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658480272"/>
              </p:ext>
            </p:extLst>
          </p:nvPr>
        </p:nvGraphicFramePr>
        <p:xfrm>
          <a:off x="1450975" y="2180492"/>
          <a:ext cx="9604374" cy="29542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01458">
                  <a:extLst>
                    <a:ext uri="{9D8B030D-6E8A-4147-A177-3AD203B41FA5}">
                      <a16:colId xmlns:a16="http://schemas.microsoft.com/office/drawing/2014/main" xmlns="" val="1943586232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xmlns="" val="3727330111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xmlns="" val="1916452219"/>
                    </a:ext>
                  </a:extLst>
                </a:gridCol>
              </a:tblGrid>
              <a:tr h="7385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Intuition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Study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696159351"/>
                  </a:ext>
                </a:extLst>
              </a:tr>
              <a:tr h="7385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 on personal feelings and experience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 on research and scientific methods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603016811"/>
                  </a:ext>
                </a:extLst>
              </a:tr>
              <a:tr h="7385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be subjective and less reliable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objective and reliable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623196904"/>
                  </a:ext>
                </a:extLst>
              </a:tr>
              <a:tr h="7385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Decision-making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Quick and instinctive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Logical and data-based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197524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717240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B34BF0-C5AF-3E12-B0D7-B2DFD0CDB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Challenges for Organisational Behaviour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C6A502-26BD-4518-47E1-B714E713D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Lack of Clear Direction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Integrating Multiple Personalities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Development of Key Capabilities and Behaviours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Poor Communication and Feedback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Absence of Perception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Turnover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Productivity Issues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Limited Innovation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Dealing with Workplace Conflicts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Clarifying Roles and Responsibilities</a:t>
            </a:r>
          </a:p>
        </p:txBody>
      </p:sp>
    </p:spTree>
    <p:extLst>
      <p:ext uri="{BB962C8B-B14F-4D97-AF65-F5344CB8AC3E}">
        <p14:creationId xmlns:p14="http://schemas.microsoft.com/office/powerpoint/2010/main" xmlns="" val="14801129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152</TotalTime>
  <Words>744</Words>
  <Application>Microsoft Office PowerPoint</Application>
  <PresentationFormat>Custom</PresentationFormat>
  <Paragraphs>137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Gallery</vt:lpstr>
      <vt:lpstr>Introduction to OrganiZational Behavior</vt:lpstr>
      <vt:lpstr>Organizational behavior</vt:lpstr>
      <vt:lpstr>Definitions</vt:lpstr>
      <vt:lpstr>definitions</vt:lpstr>
      <vt:lpstr>Nature of ob</vt:lpstr>
      <vt:lpstr>Scope of ob</vt:lpstr>
      <vt:lpstr>Objectives of ob</vt:lpstr>
      <vt:lpstr>Objectives of ob</vt:lpstr>
      <vt:lpstr>Importance of ob</vt:lpstr>
      <vt:lpstr>Three Basic Units of Analysis of OB</vt:lpstr>
      <vt:lpstr>Three Basic Units of Analysis of OB</vt:lpstr>
      <vt:lpstr>Three Basic Units of Analysis of OB</vt:lpstr>
      <vt:lpstr>Three Basic Units of Analysis of OB</vt:lpstr>
      <vt:lpstr>Key Elements of Organizational Behavior</vt:lpstr>
      <vt:lpstr>Key Elements of Organizational Behavior</vt:lpstr>
      <vt:lpstr>Intuition and Systematic Study in OB </vt:lpstr>
      <vt:lpstr>Intuition and Systematic Study in OB </vt:lpstr>
      <vt:lpstr>Difference Between Intuition and Systematic Study </vt:lpstr>
      <vt:lpstr>Challenges for Organisational Behaviour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OrganiZational Behavior</dc:title>
  <dc:creator>Haribabu Pengonda</dc:creator>
  <cp:lastModifiedBy>Windows User</cp:lastModifiedBy>
  <cp:revision>24</cp:revision>
  <dcterms:created xsi:type="dcterms:W3CDTF">2026-03-15T02:17:44Z</dcterms:created>
  <dcterms:modified xsi:type="dcterms:W3CDTF">2026-03-17T04:33:17Z</dcterms:modified>
</cp:coreProperties>
</file>